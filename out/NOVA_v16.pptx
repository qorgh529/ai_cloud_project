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nLykazkgeXsdVDugt3p7thaEs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1A8ECE-928E-4BAF-9848-481C2562FF93}">
  <a:tblStyle styleId="{7D1A8ECE-928E-4BAF-9848-481C2562FF9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>
  <p:cSld name="콘텐츠 2개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  <a:defRPr sz="16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2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2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2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Arch" Type="http://schemas.openxmlformats.org/officeDocument/2006/relationships/image" Target="../media/nova_arch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/>
          <p:nvPr/>
        </p:nvSpPr>
        <p:spPr>
          <a:xfrm>
            <a:off x="4318623" y="3028440"/>
            <a:ext cx="303906" cy="2487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3042875" y="2848723"/>
            <a:ext cx="285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GCP 3-</a:t>
            </a:r>
            <a:r>
              <a:rPr lang="ko-KR" sz="18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Tier 구축</a:t>
            </a:r>
            <a:r>
              <a:rPr b="0" i="0" lang="ko-KR" sz="1800" u="none" cap="none" strike="noStrike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 프로젝트</a:t>
            </a:r>
            <a:endParaRPr b="0" i="0" sz="1400" u="none" cap="none" strike="noStrike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1"/>
          <p:cNvCxnSpPr/>
          <p:nvPr/>
        </p:nvCxnSpPr>
        <p:spPr>
          <a:xfrm>
            <a:off x="5999940" y="2890712"/>
            <a:ext cx="0" cy="318629"/>
          </a:xfrm>
          <a:prstGeom prst="straightConnector1">
            <a:avLst/>
          </a:prstGeom>
          <a:noFill/>
          <a:ln cap="flat" cmpd="sng" w="31750">
            <a:solidFill>
              <a:srgbClr val="4084F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2" name="Google Shape;82;p1"/>
          <p:cNvSpPr/>
          <p:nvPr/>
        </p:nvSpPr>
        <p:spPr>
          <a:xfrm>
            <a:off x="3144296" y="4244543"/>
            <a:ext cx="28554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2026년 </a:t>
            </a:r>
            <a:r>
              <a:rPr lang="ko-KR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ko-KR" sz="1400" u="none" cap="none" strike="noStrike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월 </a:t>
            </a:r>
            <a:r>
              <a:rPr lang="ko-KR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r>
              <a:rPr b="0" i="0" lang="ko-KR" sz="1400" u="none" cap="none" strike="noStrike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일</a:t>
            </a:r>
            <a:endParaRPr b="0" i="0" sz="1400" u="none" cap="none" strike="noStrike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TEAM </a:t>
            </a:r>
            <a:r>
              <a:rPr b="1" i="0" lang="ko-KR" sz="1100" u="none" cap="none" strike="noStrike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NOVA</a:t>
            </a:r>
            <a:endParaRPr/>
          </a:p>
        </p:txBody>
      </p:sp>
      <p:sp>
        <p:nvSpPr>
          <p:cNvPr id="83" name="Google Shape;83;p1"/>
          <p:cNvSpPr/>
          <p:nvPr/>
        </p:nvSpPr>
        <p:spPr>
          <a:xfrm>
            <a:off x="3161700" y="3448500"/>
            <a:ext cx="2820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PROFIT 동물병원 온프레미스 Lift &amp; Shift 프로젝트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3180" y="3557413"/>
            <a:ext cx="3065040" cy="2987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/>
          <p:nvPr/>
        </p:nvSpPr>
        <p:spPr>
          <a:xfrm>
            <a:off x="2644881" y="3434370"/>
            <a:ext cx="3854238" cy="1919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318623" y="3028440"/>
            <a:ext cx="303906" cy="2487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085658" y="2758043"/>
            <a:ext cx="2855410" cy="585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발표</a:t>
            </a:r>
            <a:r>
              <a:rPr lang="ko-KR" sz="28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 목차</a:t>
            </a:r>
            <a:endParaRPr sz="13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2"/>
          <p:cNvCxnSpPr/>
          <p:nvPr/>
        </p:nvCxnSpPr>
        <p:spPr>
          <a:xfrm>
            <a:off x="5999940" y="2890712"/>
            <a:ext cx="0" cy="318629"/>
          </a:xfrm>
          <a:prstGeom prst="straightConnector1">
            <a:avLst/>
          </a:prstGeom>
          <a:noFill/>
          <a:ln cap="flat" cmpd="sng" w="31750">
            <a:solidFill>
              <a:srgbClr val="4084F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3" name="Google Shape;93;p2"/>
          <p:cNvSpPr/>
          <p:nvPr/>
        </p:nvSpPr>
        <p:spPr>
          <a:xfrm>
            <a:off x="2988424" y="3534069"/>
            <a:ext cx="2145312" cy="33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팀 소개 및 프로젝트</a:t>
            </a: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ko-KR" sz="1300">
                <a:solidFill>
                  <a:srgbClr val="4084F4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2988424" y="3876505"/>
            <a:ext cx="2145312" cy="33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2. 구축 과정 </a:t>
            </a:r>
            <a:r>
              <a:rPr b="1" lang="ko-KR" sz="1300">
                <a:solidFill>
                  <a:srgbClr val="4084F4"/>
                </a:solidFill>
                <a:latin typeface="Calibri"/>
                <a:ea typeface="Calibri"/>
                <a:cs typeface="Calibri"/>
                <a:sym typeface="Calibri"/>
              </a:rPr>
              <a:t>(계층별)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2988424" y="4218941"/>
            <a:ext cx="2145312" cy="33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3. 검증 </a:t>
            </a:r>
            <a:r>
              <a:rPr b="1" lang="ko-KR" sz="1300">
                <a:solidFill>
                  <a:srgbClr val="4084F4"/>
                </a:solidFill>
                <a:latin typeface="Calibri"/>
                <a:ea typeface="Calibri"/>
                <a:cs typeface="Calibri"/>
                <a:sym typeface="Calibri"/>
              </a:rPr>
              <a:t>결과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2988424" y="4561377"/>
            <a:ext cx="2145312" cy="33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4. 시연 </a:t>
            </a:r>
            <a:r>
              <a:rPr b="1" lang="ko-KR" sz="1300">
                <a:solidFill>
                  <a:srgbClr val="4084F4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2988424" y="4903813"/>
            <a:ext cx="2145312" cy="33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5. 향후 </a:t>
            </a:r>
            <a:r>
              <a:rPr b="1" lang="ko-KR" sz="1300">
                <a:solidFill>
                  <a:srgbClr val="4084F4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07172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9" name="Google Shape;109;p3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0" name="Google Shape;110;p3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1" name="Google Shape;111;p3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팀 구성 및 역할 분담</a:t>
            </a:r>
            <a:endParaRPr/>
          </a:p>
        </p:txBody>
      </p:sp>
      <p:sp>
        <p:nvSpPr>
          <p:cNvPr id="113" name="Google Shape;113;p3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NOVA 팀 소개</a:t>
            </a:r>
            <a:endParaRPr sz="900"/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000" y="2400000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750000" y="4300000"/>
            <a:ext cx="18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네트워크·보안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750000" y="473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VPC · 방화벽 · LB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Cloud Armor WAF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750000" y="555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담당: </a:t>
            </a: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송인아</a:t>
            </a:r>
            <a:endParaRPr/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0000" y="2400000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2700000" y="4300000"/>
            <a:ext cx="18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2700000" y="473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Apache MIG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CDN · 오토스케일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2700000" y="555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담당: </a:t>
            </a: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채정훈</a:t>
            </a:r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0000" y="2400000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4650000" y="4300000"/>
            <a:ext cx="18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rgbClr val="B06000"/>
                </a:solidFill>
                <a:latin typeface="Calibri"/>
                <a:ea typeface="Calibri"/>
                <a:cs typeface="Calibri"/>
                <a:sym typeface="Calibri"/>
              </a:rPr>
              <a:t>WAS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4650000" y="473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Tomcat MIG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골든 이미지 · 배포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4650000" y="555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담당: </a:t>
            </a: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김성현</a:t>
            </a:r>
            <a:endParaRPr/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000" y="2400000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6600000" y="4300000"/>
            <a:ext cx="18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6600000" y="4730000"/>
            <a:ext cx="18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Cloud SQL HA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백업 · 장애조치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600000" y="555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담당: </a:t>
            </a: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김민성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1079931" y="353063"/>
            <a:ext cx="3320531" cy="304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배경과 목적</a:t>
            </a:r>
            <a:endParaRPr sz="9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왜 전환했는가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807172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3" name="Google Shape;143;p4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4" name="Google Shape;144;p4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5" name="Google Shape;145;p4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6" name="Google Shape;146;p4"/>
          <p:cNvSpPr/>
          <p:nvPr/>
        </p:nvSpPr>
        <p:spPr>
          <a:xfrm>
            <a:off x="962889" y="4394229"/>
            <a:ext cx="3298604" cy="40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endParaRPr b="1" sz="16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5149" y="2020000"/>
            <a:ext cx="3971000" cy="22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301" y="2020000"/>
            <a:ext cx="3971000" cy="22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1048260" y="4844404"/>
            <a:ext cx="3127862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노후 온프레미</a:t>
            </a: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스</a:t>
            </a:r>
            <a:b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단일 장애점</a:t>
            </a:r>
            <a:endParaRPr b="1" sz="13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공격 대응 부재</a:t>
            </a:r>
            <a:endParaRPr b="1" sz="13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886707" y="4394229"/>
            <a:ext cx="3298604" cy="40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b="1" sz="16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972078" y="4844404"/>
            <a:ext cx="3127862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자동 확장 · 자동 복구</a:t>
            </a:r>
            <a:endParaRPr b="1" sz="13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다계층 보안 · 사전 감지</a:t>
            </a:r>
            <a:endParaRPr b="1" sz="13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1252959" y="4815068"/>
            <a:ext cx="2737413" cy="0"/>
          </a:xfrm>
          <a:prstGeom prst="straightConnector1">
            <a:avLst/>
          </a:prstGeom>
          <a:noFill/>
          <a:ln cap="flat" cmpd="sng" w="19050">
            <a:solidFill>
              <a:srgbClr val="757993">
                <a:alpha val="63922"/>
              </a:srgbClr>
            </a:solidFill>
            <a:prstDash val="dot"/>
            <a:miter lim="8000"/>
            <a:headEnd len="sm" w="sm" type="none"/>
            <a:tailEnd len="sm" w="sm" type="none"/>
          </a:ln>
        </p:spPr>
      </p:cxnSp>
      <p:cxnSp>
        <p:nvCxnSpPr>
          <p:cNvPr id="153" name="Google Shape;153;p4"/>
          <p:cNvCxnSpPr/>
          <p:nvPr/>
        </p:nvCxnSpPr>
        <p:spPr>
          <a:xfrm>
            <a:off x="5142053" y="4815068"/>
            <a:ext cx="2737413" cy="0"/>
          </a:xfrm>
          <a:prstGeom prst="straightConnector1">
            <a:avLst/>
          </a:prstGeom>
          <a:noFill/>
          <a:ln cap="flat" cmpd="sng" w="19050">
            <a:solidFill>
              <a:srgbClr val="757993">
                <a:alpha val="63922"/>
              </a:srgbClr>
            </a:solidFill>
            <a:prstDash val="dot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계층 구성도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7" name="Google Shape;167;p5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8" name="Google Shape;168;p5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9" name="Google Shape;169;p5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0" name="Google Shape;170;p5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전체 아키텍처</a:t>
            </a:r>
            <a:endParaRPr sz="900"/>
          </a:p>
        </p:txBody>
      </p:sp>
      <p:pic>
        <p:nvPicPr>
          <p:cNvPr id="900" name="NOVA 계층 구성도" descr="GCP 3-Tier 계층 구성도: 사용자 → Cloud Armor/External HTTPS LB → WEB MIG → Internal LB → WAS MIG → PSC → Cloud SQL HA"/>
          <p:cNvPicPr>
            <a:picLocks noChangeAspect="1"/>
          </p:cNvPicPr>
          <p:nvPr/>
        </p:nvPicPr>
        <p:blipFill>
          <a:blip r:embed="rIdArch"/>
          <a:stretch>
            <a:fillRect/>
          </a:stretch>
        </p:blipFill>
        <p:spPr>
          <a:xfrm>
            <a:off x="548640" y="1995550"/>
            <a:ext cx="8046720" cy="42476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npc-vpc · asia-northeast3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6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4" name="Google Shape;184;p6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5" name="Google Shape;185;p6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6" name="Google Shape;186;p6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7" name="Google Shape;187;p6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구축 ① VPC · 서브넷</a:t>
            </a:r>
            <a:endParaRPr sz="900"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" y="2060000"/>
            <a:ext cx="7200000" cy="4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태그 + CIDR 이중 조건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7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2" name="Google Shape;202;p7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3" name="Google Shape;203;p7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4" name="Google Shape;204;p7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5" name="Google Shape;205;p7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구축 ② 방화벽</a:t>
            </a:r>
            <a:endParaRPr sz="900"/>
          </a:p>
        </p:txBody>
      </p:sp>
      <p:graphicFrame>
        <p:nvGraphicFramePr>
          <p:cNvPr id="206" name="Google Shape;206;p7"/>
          <p:cNvGraphicFramePr/>
          <p:nvPr/>
        </p:nvGraphicFramePr>
        <p:xfrm>
          <a:off x="650000" y="20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{7D1A8ECE-928E-4BAF-9848-481C2562FF93}</a:tableStyleId>
              </a:tblPr>
              <a:tblGrid>
                <a:gridCol w="2250000"/>
                <a:gridCol w="2000000"/>
                <a:gridCol w="1150000"/>
                <a:gridCol w="1000000"/>
                <a:gridCol w="1400000"/>
              </a:tblGrid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규칙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출발지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대상 태그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포트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하는 일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npc-fw-allow-lb-to-web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인터넷 전체 (LB 경유)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80, 443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사용자 → WEB 접속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npc-fw-web-to-was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서브넷 10.0.10.0/24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8080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→ WAS만 허용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npc-fw-allow-healthcheck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GCP 헬스체크 대역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web, was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80, 443, 8080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LB 상태 확인 허용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npc-fw-allow-iap-ssh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IAP 대역 35.235.240.0/20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web, was, mgmt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외부 IP 없이 SSH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그 외 모든 접근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5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EA43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기본 차단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7"/>
          <p:cNvSpPr txBox="1"/>
          <p:nvPr/>
        </p:nvSpPr>
        <p:spPr>
          <a:xfrm>
            <a:off x="650000" y="545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출발지 서브넷 + 대상 태그를 함께 걸어 이중으로 제한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같은 태그끼리(WAS → WAS) 호출도 차단되는 것을 실험으로 확인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OWASP CRS 4.22 기반 WAF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8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21" name="Google Shape;221;p8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22" name="Google Shape;222;p8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23" name="Google Shape;223;p8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4" name="Google Shape;224;p8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구축 ③ Cloud Armor</a:t>
            </a:r>
            <a:endParaRPr sz="900"/>
          </a:p>
        </p:txBody>
      </p:sp>
      <p:pic>
        <p:nvPicPr>
          <p:cNvPr id="225" name="Google Shape;2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" y="2060000"/>
            <a:ext cx="7200000" cy="4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Global HTTPS · CDN · SSL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9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9" name="Google Shape;239;p9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0" name="Google Shape;240;p9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1" name="Google Shape;241;p9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2" name="Google Shape;242;p9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구축 ④ External LB</a:t>
            </a:r>
            <a:endParaRPr sz="900"/>
          </a:p>
        </p:txBody>
      </p:sp>
      <p:pic>
        <p:nvPicPr>
          <p:cNvPr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" y="2060000"/>
            <a:ext cx="7200000" cy="4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Regional Passthrough NLB</a:t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0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7" name="Google Shape;257;p10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8" name="Google Shape;258;p10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9" name="Google Shape;259;p10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0" name="Google Shape;260;p10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구축 ⑤ Internal LB</a:t>
            </a:r>
            <a:endParaRPr sz="900"/>
          </a:p>
        </p:txBody>
      </p:sp>
      <p:pic>
        <p:nvPicPr>
          <p:cNvPr id="261" name="Google Shape;2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" y="2060000"/>
            <a:ext cx="7200000" cy="4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Apache · 오토스케일 · 오토힐링</a:t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1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5" name="Google Shape;275;p11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6" name="Google Shape;276;p11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7" name="Google Shape;277;p11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8" name="Google Shape;278;p11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구축 ⑥ WEB MIG</a:t>
            </a:r>
            <a:endParaRPr sz="900"/>
          </a:p>
        </p:txBody>
      </p:sp>
      <p:pic>
        <p:nvPicPr>
          <p:cNvPr id="279" name="Google Shape;2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" y="2060000"/>
            <a:ext cx="7200000" cy="4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Tomcat · 골든 이미지</a:t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12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3" name="Google Shape;293;p12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4" name="Google Shape;294;p12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5" name="Google Shape;295;p12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6" name="Google Shape;296;p12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구축 ⑦ WAS MIG</a:t>
            </a:r>
            <a:endParaRPr sz="900"/>
          </a:p>
        </p:txBody>
      </p:sp>
      <p:pic>
        <p:nvPicPr>
          <p:cNvPr id="297" name="Google Shape;2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" y="2060000"/>
            <a:ext cx="7200000" cy="4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Cloud SQL HA · PSC</a:t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3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1" name="Google Shape;311;p13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2" name="Google Shape;312;p13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3" name="Google Shape;313;p13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4" name="Google Shape;314;p13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구축 ⑧ DB</a:t>
            </a:r>
            <a:endParaRPr sz="900"/>
          </a:p>
        </p:txBody>
      </p:sp>
      <p:pic>
        <p:nvPicPr>
          <p:cNvPr id="315" name="Google Shape;3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" y="2060000"/>
            <a:ext cx="7200000" cy="4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Logging · Uptime · Discord 알림</a:t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2111509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4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9" name="Google Shape;329;p14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0" name="Google Shape;330;p14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1" name="Google Shape;331;p14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2" name="Google Shape;332;p14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구축 ⑨ 모니터링 · 알림</a:t>
            </a:r>
            <a:endParaRPr sz="900"/>
          </a:p>
        </p:txBody>
      </p:sp>
      <p:pic>
        <p:nvPicPr>
          <p:cNvPr id="333" name="Google Shape;3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00" y="2060000"/>
            <a:ext cx="7200000" cy="4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Discord cover"/>
          <p:cNvSpPr/>
          <p:nvPr/>
        </p:nvSpPr>
        <p:spPr>
          <a:xfrm>
            <a:off x="7164324" y="3291840"/>
            <a:ext cx="1046988" cy="1956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ko-KR"/>
          </a:p>
        </p:txBody>
      </p:sp>
      <p:sp>
        <p:nvSpPr>
          <p:cNvPr id="902" name="Discord alert"/>
          <p:cNvSpPr/>
          <p:nvPr/>
        </p:nvSpPr>
        <p:spPr>
          <a:xfrm>
            <a:off x="7187184" y="3383280"/>
            <a:ext cx="886968" cy="1179576"/>
          </a:xfrm>
          <a:prstGeom prst="roundRect">
            <a:avLst>
              <a:gd name="adj" fmla="val 22000"/>
            </a:avLst>
          </a:prstGeom>
          <a:solidFill>
            <a:srgbClr val="5865F2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ko-KR" sz="2800" b="1">
                <a:solidFill>
                  <a:srgbClr val="FFFFFF"/>
                </a:solidFill>
                <a:latin typeface="Calibri"/>
                <a:ea typeface="Calibri"/>
              </a:rPr>
              <a:t>#</a:t>
            </a:r>
          </a:p>
          <a:p>
            <a:pPr algn="ctr"/>
            <a:r>
              <a:rPr lang="ko-KR" sz="1600" b="1">
                <a:solidFill>
                  <a:srgbClr val="FFFFFF"/>
                </a:solidFill>
                <a:latin typeface="Calibri"/>
                <a:ea typeface="Calibri"/>
              </a:rPr>
              <a:t>alert</a:t>
            </a:r>
          </a:p>
        </p:txBody>
      </p:sp>
      <p:sp>
        <p:nvSpPr>
          <p:cNvPr id="903" name="Discord label"/>
          <p:cNvSpPr/>
          <p:nvPr/>
        </p:nvSpPr>
        <p:spPr>
          <a:xfrm>
            <a:off x="6949440" y="4636008"/>
            <a:ext cx="1371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ko-KR" sz="1800" b="1">
                <a:solidFill>
                  <a:srgbClr val="5865F2"/>
                </a:solidFill>
                <a:latin typeface="Calibri"/>
                <a:ea typeface="Calibri"/>
              </a:rPr>
              <a:t>Discord</a:t>
            </a:r>
          </a:p>
        </p:txBody>
      </p:sp>
      <p:sp>
        <p:nvSpPr>
          <p:cNvPr id="904" name="Discord sub"/>
          <p:cNvSpPr/>
          <p:nvPr/>
        </p:nvSpPr>
        <p:spPr>
          <a:xfrm>
            <a:off x="6949440" y="4956048"/>
            <a:ext cx="13716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ko-KR" sz="1400" b="0">
                <a:solidFill>
                  <a:srgbClr val="9E9E9E"/>
                </a:solidFill>
                <a:latin typeface="Calibri"/>
                <a:ea typeface="Calibri"/>
              </a:rPr>
              <a:t>한국어 안내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3334018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5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6" name="Google Shape;346;p15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7" name="Google Shape;347;p15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8" name="Google Shape;348;p15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9" name="Google Shape;349;p15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/>
          </a:p>
        </p:txBody>
      </p:sp>
      <p:sp>
        <p:nvSpPr>
          <p:cNvPr id="350" name="Google Shape;350;p15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검증 방식과 결과</a:t>
            </a:r>
            <a:endParaRPr sz="900"/>
          </a:p>
        </p:txBody>
      </p:sp>
      <p:graphicFrame>
        <p:nvGraphicFramePr>
          <p:cNvPr id="351" name="Google Shape;351;p15"/>
          <p:cNvGraphicFramePr/>
          <p:nvPr/>
        </p:nvGraphicFramePr>
        <p:xfrm>
          <a:off x="650000" y="18862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{7D1A8ECE-928E-4BAF-9848-481C2562FF93}</a:tableStyleId>
              </a:tblPr>
              <a:tblGrid>
                <a:gridCol w="1500000"/>
                <a:gridCol w="2900000"/>
                <a:gridCol w="3400000"/>
              </a:tblGrid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방법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결과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부하테스트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Locust RPS 5.1, 242건 요청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44% 실패 → 당시 Rate Limit(300/분)이 원인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서버 복구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WAS 인스턴스 재생성 관찰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생성부터 서비스까지 약 45초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방화벽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같은 태그 WAS→WAS, WEB→WAS 호출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WAS→WAS 차단, WEB→WAS 200 OK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WAF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Preview 로그 2일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스캐너 170여 건 탐지, 오탐 0 → Enforce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헬스체크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백엔드 상태 확인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포트 80→8080 수정 후 2대 HEALTHY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 오류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Tomcat · Cloud SQL 로그 대조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DB는 정상, 원인은 WAS 커넥션 풀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알림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테스트 정책으로 Discord 연동 확인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#alert 수신 확인, 정책 3개 운영 중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 리다이렉트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http://profitah.site 접속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301로 https 이동 확인</a:t>
                      </a:r>
                      <a:endParaRPr>
                        <a:solidFill>
                          <a:srgbClr val="474A5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 Failover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수동 Failover 실행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존 변경 확인 [</a:t>
                      </a:r>
                      <a:r>
                        <a:rPr b="1" lang="ko-KR" sz="1300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ko-KR" sz="1300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→ </a:t>
                      </a:r>
                      <a:r>
                        <a:rPr b="1" lang="ko-KR" sz="1300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ko-KR" sz="1300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</a:t>
                      </a:r>
                      <a:br>
                        <a:rPr lang="ko-KR" sz="1300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ko-KR" sz="1300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기존 조회·신규 등록 모두 성공</a:t>
                      </a:r>
                      <a:endParaRPr>
                        <a:solidFill>
                          <a:srgbClr val="474A5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실제 장애 대응 시연</a:t>
            </a:r>
            <a:endParaRPr/>
          </a:p>
        </p:txBody>
      </p:sp>
      <p:grpSp>
        <p:nvGrpSpPr>
          <p:cNvPr id="357" name="Google Shape;357;p16"/>
          <p:cNvGrpSpPr/>
          <p:nvPr/>
        </p:nvGrpSpPr>
        <p:grpSpPr>
          <a:xfrm>
            <a:off x="5275952" y="2450041"/>
            <a:ext cx="3028216" cy="1784625"/>
            <a:chOff x="2575706" y="2399249"/>
            <a:chExt cx="3842509" cy="2264514"/>
          </a:xfrm>
        </p:grpSpPr>
        <p:pic>
          <p:nvPicPr>
            <p:cNvPr id="358" name="Google Shape;35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75706" y="2399249"/>
              <a:ext cx="3842509" cy="22645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16"/>
            <p:cNvSpPr/>
            <p:nvPr/>
          </p:nvSpPr>
          <p:spPr>
            <a:xfrm>
              <a:off x="3098528" y="2582614"/>
              <a:ext cx="2813145" cy="1755609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6"/>
          <p:cNvGrpSpPr/>
          <p:nvPr/>
        </p:nvGrpSpPr>
        <p:grpSpPr>
          <a:xfrm>
            <a:off x="715526" y="2450041"/>
            <a:ext cx="3028216" cy="1784625"/>
            <a:chOff x="2575706" y="2399249"/>
            <a:chExt cx="3842509" cy="2264514"/>
          </a:xfrm>
        </p:grpSpPr>
        <p:pic>
          <p:nvPicPr>
            <p:cNvPr id="361" name="Google Shape;3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75706" y="2399249"/>
              <a:ext cx="3842509" cy="22645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16"/>
            <p:cNvSpPr/>
            <p:nvPr/>
          </p:nvSpPr>
          <p:spPr>
            <a:xfrm>
              <a:off x="3098528" y="2582614"/>
              <a:ext cx="2813145" cy="1755609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6"/>
          <p:cNvGrpSpPr/>
          <p:nvPr/>
        </p:nvGrpSpPr>
        <p:grpSpPr>
          <a:xfrm>
            <a:off x="2673752" y="2217232"/>
            <a:ext cx="3842509" cy="2264514"/>
            <a:chOff x="2575706" y="2399249"/>
            <a:chExt cx="3842509" cy="2264514"/>
          </a:xfrm>
        </p:grpSpPr>
        <p:pic>
          <p:nvPicPr>
            <p:cNvPr id="364" name="Google Shape;36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75706" y="2399249"/>
              <a:ext cx="3842509" cy="22645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16"/>
            <p:cNvSpPr/>
            <p:nvPr/>
          </p:nvSpPr>
          <p:spPr>
            <a:xfrm>
              <a:off x="3098528" y="2582614"/>
              <a:ext cx="2813145" cy="1755609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16"/>
          <p:cNvSpPr/>
          <p:nvPr/>
        </p:nvSpPr>
        <p:spPr>
          <a:xfrm>
            <a:off x="2673752" y="4988689"/>
            <a:ext cx="3669175" cy="162045"/>
          </a:xfrm>
          <a:prstGeom prst="rect">
            <a:avLst/>
          </a:prstGeom>
          <a:solidFill>
            <a:srgbClr val="FFC000">
              <a:alpha val="1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731395" y="4891942"/>
            <a:ext cx="7590116" cy="1134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Locust 부하테스트 → Cloud Armor 차단 로그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rgbClr val="5F6368"/>
                </a:solidFill>
                <a:latin typeface="Calibri"/>
                <a:ea typeface="Calibri"/>
                <a:cs typeface="Calibri"/>
                <a:sym typeface="Calibri"/>
              </a:rPr>
              <a:t>요청 급증 → Cloud Armor가 IP 단위로 자동 차단(429) → 60초 후 자동 해제</a:t>
            </a:r>
            <a:endParaRPr sz="16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(영상 삽입 예정)</a:t>
            </a:r>
            <a:endParaRPr b="1" sz="13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4556530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16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6" name="Google Shape;376;p16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7" name="Google Shape;377;p16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8" name="Google Shape;378;p16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9" name="Google Shape;379;p16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시연 영상</a:t>
            </a:r>
            <a:endParaRPr sz="900"/>
          </a:p>
        </p:txBody>
      </p:sp>
      <p:sp>
        <p:nvSpPr>
          <p:cNvPr id="910" name="Demo left body"/>
          <p:cNvSpPr txBox="1"/>
          <p:nvPr/>
        </p:nvSpPr>
        <p:spPr>
          <a:xfrm>
            <a:off x="1207008" y="2670048"/>
            <a:ext cx="1755648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4008" tIns="274320" rIns="64008" bIns="64008" anchor="t">
            <a:noAutofit/>
          </a:bodyPr>
          <a:lstStyle/>
          <a:p>
            <a:pPr algn="l">
              <a:spcBef>
                <a:spcPts val="200"/>
              </a:spcBef>
            </a:pPr>
            <a:r>
              <a:rPr lang="ko-KR" sz="950" b="1">
                <a:solidFill>
                  <a:srgbClr val="202124"/>
                </a:solidFill>
                <a:latin typeface="Calibri"/>
                <a:ea typeface="Calibri"/>
              </a:rPr>
              <a:t>Users 20 · RPS ≈ 11</a:t>
            </a:r>
          </a:p>
          <a:p>
            <a:pPr algn="l">
              <a:spcBef>
                <a:spcPts val="200"/>
              </a:spcBef>
            </a:pPr>
            <a:r>
              <a:rPr lang="ko-KR" sz="950" b="1">
                <a:solidFill>
                  <a:srgbClr val="D93025"/>
                </a:solidFill>
                <a:latin typeface="Calibri"/>
                <a:ea typeface="Calibri"/>
              </a:rPr>
              <a:t>Failures ▲</a:t>
            </a:r>
          </a:p>
          <a:p>
            <a:pPr algn="l">
              <a:spcBef>
                <a:spcPts val="200"/>
              </a:spcBef>
            </a:pPr>
            <a:r>
              <a:rPr lang="ko-KR" sz="900" b="0">
                <a:solidFill>
                  <a:srgbClr val="D93025"/>
                </a:solidFill>
                <a:latin typeface="Calibri"/>
                <a:ea typeface="Calibri"/>
              </a:rPr>
              <a:t>Cloud Armor rate ban (429)</a:t>
            </a:r>
          </a:p>
          <a:p>
            <a:pPr algn="l">
              <a:spcBef>
                <a:spcPts val="200"/>
              </a:spcBef>
            </a:pPr>
            <a:r>
              <a:rPr lang="ko-KR" sz="850" b="0">
                <a:solidFill>
                  <a:srgbClr val="5F6368"/>
                </a:solidFill>
                <a:latin typeface="Calibri"/>
                <a:ea typeface="Calibri"/>
              </a:rPr>
              <a:t>시작 약 30초 후 차단 시작</a:t>
            </a:r>
          </a:p>
        </p:txBody>
      </p:sp>
      <p:sp>
        <p:nvSpPr>
          <p:cNvPr id="911" name="Demo left header"/>
          <p:cNvSpPr txBox="1"/>
          <p:nvPr/>
        </p:nvSpPr>
        <p:spPr>
          <a:xfrm>
            <a:off x="1207008" y="2670048"/>
            <a:ext cx="1755648" cy="237744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pPr algn="l">
              <a:spcBef>
                <a:spcPts val="200"/>
              </a:spcBef>
            </a:pPr>
            <a:r>
              <a:rPr lang="ko-KR" sz="1050" b="1">
                <a:solidFill>
                  <a:srgbClr val="FFFFFF"/>
                </a:solidFill>
                <a:latin typeface="Calibri"/>
                <a:ea typeface="Calibri"/>
              </a:rPr>
              <a:t>Locust · 부하 발생</a:t>
            </a:r>
          </a:p>
        </p:txBody>
      </p:sp>
      <p:sp>
        <p:nvSpPr>
          <p:cNvPr id="920" name="Demo right body"/>
          <p:cNvSpPr txBox="1"/>
          <p:nvPr/>
        </p:nvSpPr>
        <p:spPr>
          <a:xfrm>
            <a:off x="6181344" y="2670048"/>
            <a:ext cx="1682496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64008" tIns="274320" rIns="64008" bIns="64008" anchor="t">
            <a:noAutofit/>
          </a:bodyPr>
          <a:lstStyle/>
          <a:p>
            <a:pPr algn="l">
              <a:spcBef>
                <a:spcPts val="200"/>
              </a:spcBef>
            </a:pPr>
            <a:r>
              <a:rPr lang="ko-KR" sz="900" b="0">
                <a:solidFill>
                  <a:srgbClr val="5F6368"/>
                </a:solidFill>
                <a:latin typeface="Calibri"/>
                <a:ea typeface="Calibri"/>
              </a:rPr>
              <a:t>outcome: </a:t>
            </a:r>
            <a:r>
              <a:rPr lang="ko-KR" sz="900" b="1">
                <a:solidFill>
                  <a:srgbClr val="D93025"/>
                </a:solidFill>
                <a:latin typeface="Calibri"/>
                <a:ea typeface="Calibri"/>
              </a:rPr>
              <a:t>DENY</a:t>
            </a:r>
          </a:p>
          <a:p>
            <a:pPr algn="l">
              <a:spcBef>
                <a:spcPts val="200"/>
              </a:spcBef>
            </a:pPr>
            <a:r>
              <a:rPr lang="ko-KR" sz="900" b="0">
                <a:solidFill>
                  <a:srgbClr val="5F6368"/>
                </a:solidFill>
                <a:latin typeface="Calibri"/>
                <a:ea typeface="Calibri"/>
              </a:rPr>
              <a:t>policy: </a:t>
            </a:r>
            <a:r>
              <a:rPr lang="ko-KR" sz="900" b="1">
                <a:solidFill>
                  <a:srgbClr val="202124"/>
                </a:solidFill>
                <a:latin typeface="Calibri"/>
                <a:ea typeface="Calibri"/>
              </a:rPr>
              <a:t>npc-armor-web</a:t>
            </a:r>
          </a:p>
          <a:p>
            <a:pPr algn="l">
              <a:spcBef>
                <a:spcPts val="200"/>
              </a:spcBef>
            </a:pPr>
            <a:r>
              <a:rPr lang="ko-KR" sz="900" b="1">
                <a:solidFill>
                  <a:srgbClr val="202124"/>
                </a:solidFill>
                <a:latin typeface="Calibri"/>
                <a:ea typeface="Calibri"/>
              </a:rPr>
              <a:t>priority 2000 · 429</a:t>
            </a:r>
          </a:p>
          <a:p>
            <a:pPr algn="l">
              <a:spcBef>
                <a:spcPts val="200"/>
              </a:spcBef>
            </a:pPr>
            <a:r>
              <a:rPr lang="ko-KR" sz="850" b="0">
                <a:solidFill>
                  <a:srgbClr val="5F6368"/>
                </a:solidFill>
                <a:latin typeface="Calibri"/>
                <a:ea typeface="Calibri"/>
              </a:rPr>
              <a:t>IP 단위 60초 차단 → 자동 해제</a:t>
            </a:r>
          </a:p>
        </p:txBody>
      </p:sp>
      <p:sp>
        <p:nvSpPr>
          <p:cNvPr id="921" name="Demo right header"/>
          <p:cNvSpPr txBox="1"/>
          <p:nvPr/>
        </p:nvSpPr>
        <p:spPr>
          <a:xfrm>
            <a:off x="6181344" y="2670048"/>
            <a:ext cx="1682496" cy="23774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pPr algn="l">
              <a:spcBef>
                <a:spcPts val="200"/>
              </a:spcBef>
            </a:pPr>
            <a:r>
              <a:rPr lang="ko-KR" sz="1050" b="1">
                <a:solidFill>
                  <a:srgbClr val="FFFFFF"/>
                </a:solidFill>
                <a:latin typeface="Calibri"/>
                <a:ea typeface="Calibri"/>
              </a:rPr>
              <a:t>Cloud Logging · 차단 로그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"/>
          <p:cNvSpPr/>
          <p:nvPr/>
        </p:nvSpPr>
        <p:spPr>
          <a:xfrm>
            <a:off x="586319" y="823230"/>
            <a:ext cx="8239304" cy="334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5779042" y="874649"/>
            <a:ext cx="923748" cy="240778"/>
          </a:xfrm>
          <a:prstGeom prst="roundRect">
            <a:avLst>
              <a:gd fmla="val 50000" name="adj"/>
            </a:avLst>
          </a:prstGeom>
          <a:solidFill>
            <a:srgbClr val="408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65429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배경·목적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958630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구축 과정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3181139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4403651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시연 영상</a:t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5626163" y="862610"/>
            <a:ext cx="1229507" cy="26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08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7"/>
          <p:cNvCxnSpPr/>
          <p:nvPr/>
        </p:nvCxnSpPr>
        <p:spPr>
          <a:xfrm>
            <a:off x="1984587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2" name="Google Shape;392;p17"/>
          <p:cNvCxnSpPr/>
          <p:nvPr/>
        </p:nvCxnSpPr>
        <p:spPr>
          <a:xfrm>
            <a:off x="3181139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3" name="Google Shape;393;p17"/>
          <p:cNvCxnSpPr/>
          <p:nvPr/>
        </p:nvCxnSpPr>
        <p:spPr>
          <a:xfrm>
            <a:off x="44004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4" name="Google Shape;394;p17"/>
          <p:cNvCxnSpPr/>
          <p:nvPr/>
        </p:nvCxnSpPr>
        <p:spPr>
          <a:xfrm>
            <a:off x="5626163" y="902504"/>
            <a:ext cx="0" cy="1730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5" name="Google Shape;395;p17"/>
          <p:cNvSpPr/>
          <p:nvPr/>
        </p:nvSpPr>
        <p:spPr>
          <a:xfrm>
            <a:off x="709468" y="1364436"/>
            <a:ext cx="3320531" cy="304383"/>
          </a:xfrm>
          <a:prstGeom prst="rect">
            <a:avLst/>
          </a:prstGeom>
          <a:solidFill>
            <a:srgbClr val="F8F8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757993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/>
          </a:p>
        </p:txBody>
      </p:sp>
      <p:sp>
        <p:nvSpPr>
          <p:cNvPr id="396" name="Google Shape;396;p17"/>
          <p:cNvSpPr txBox="1"/>
          <p:nvPr>
            <p:ph type="title"/>
          </p:nvPr>
        </p:nvSpPr>
        <p:spPr>
          <a:xfrm>
            <a:off x="1068488" y="376701"/>
            <a:ext cx="3179421" cy="304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A5D"/>
              </a:buClr>
              <a:buSzPts val="1600"/>
              <a:buFont typeface="Calibri"/>
              <a:buNone/>
            </a:pPr>
            <a:r>
              <a:rPr lang="ko-KR"/>
              <a:t>우선순위 로드맵</a:t>
            </a:r>
            <a:endParaRPr sz="900"/>
          </a:p>
        </p:txBody>
      </p:sp>
      <p:graphicFrame>
        <p:nvGraphicFramePr>
          <p:cNvPr id="397" name="Google Shape;397;p17"/>
          <p:cNvGraphicFramePr/>
          <p:nvPr/>
        </p:nvGraphicFramePr>
        <p:xfrm>
          <a:off x="650000" y="20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{7D1A8ECE-928E-4BAF-9848-481C2562FF93}</a:tableStyleId>
              </a:tblPr>
              <a:tblGrid>
                <a:gridCol w="700000"/>
                <a:gridCol w="3000000"/>
                <a:gridCol w="4100000"/>
              </a:tblGrid>
              <a:tr h="78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400" u="none" cap="none" strike="noStrike">
                          <a:solidFill>
                            <a:srgbClr val="4285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DB </a:t>
                      </a:r>
                      <a:r>
                        <a:rPr lang="ko-KR"/>
                        <a:t>수정 즁~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400" u="none" cap="none" strike="noStrike">
                          <a:solidFill>
                            <a:srgbClr val="4285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5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IAM 최소권한 정리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5명, WEB 서비스 계정에 과한 권한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400" u="none" cap="none" strike="noStrike">
                          <a:solidFill>
                            <a:srgbClr val="FBBC0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500" u="none" cap="none" strike="noStrike">
                          <a:solidFill>
                            <a:srgbClr val="474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자동 배포 (CI/CD)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cap="none" strike="noStrike">
                          <a:solidFill>
                            <a:srgbClr val="5F63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Build 트리거 0개, 배포 경로 불일치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"/>
          <p:cNvSpPr/>
          <p:nvPr/>
        </p:nvSpPr>
        <p:spPr>
          <a:xfrm>
            <a:off x="2122397" y="2546431"/>
            <a:ext cx="5000263" cy="27978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2558550" y="2760925"/>
            <a:ext cx="40269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8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QnA</a:t>
            </a:r>
            <a:endParaRPr sz="138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18"/>
          <p:cNvCxnSpPr/>
          <p:nvPr/>
        </p:nvCxnSpPr>
        <p:spPr>
          <a:xfrm>
            <a:off x="2944139" y="4192929"/>
            <a:ext cx="3255600" cy="0"/>
          </a:xfrm>
          <a:prstGeom prst="straightConnector1">
            <a:avLst/>
          </a:prstGeom>
          <a:noFill/>
          <a:ln cap="flat" cmpd="sng" w="19050">
            <a:solidFill>
              <a:srgbClr val="757993">
                <a:alpha val="38824"/>
              </a:srgbClr>
            </a:solidFill>
            <a:prstDash val="dot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/>
          <p:nvPr/>
        </p:nvSpPr>
        <p:spPr>
          <a:xfrm>
            <a:off x="2122397" y="2546431"/>
            <a:ext cx="5000263" cy="27978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1615650" y="2801102"/>
            <a:ext cx="5912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8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Thanks</a:t>
            </a:r>
            <a:endParaRPr sz="13800">
              <a:solidFill>
                <a:srgbClr val="474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2939866" y="3713154"/>
            <a:ext cx="3441269" cy="1631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3396599" y="4125827"/>
            <a:ext cx="23508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474A5D"/>
                </a:solidFill>
                <a:latin typeface="Calibri"/>
                <a:ea typeface="Calibri"/>
                <a:cs typeface="Calibri"/>
                <a:sym typeface="Calibri"/>
              </a:rPr>
              <a:t>경청해 주셔서 감사합니다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19"/>
          <p:cNvCxnSpPr/>
          <p:nvPr/>
        </p:nvCxnSpPr>
        <p:spPr>
          <a:xfrm>
            <a:off x="2944139" y="4086281"/>
            <a:ext cx="3255600" cy="0"/>
          </a:xfrm>
          <a:prstGeom prst="straightConnector1">
            <a:avLst/>
          </a:prstGeom>
          <a:noFill/>
          <a:ln cap="flat" cmpd="sng" w="19050">
            <a:solidFill>
              <a:srgbClr val="757993">
                <a:alpha val="38824"/>
              </a:srgbClr>
            </a:solidFill>
            <a:prstDash val="dot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2018-08-29T18:01:22Z</dcterms:created>
  <dc:creator>Daeun Kim</dc:creator>
</cp:coreProperties>
</file>