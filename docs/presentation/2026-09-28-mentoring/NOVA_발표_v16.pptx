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core.xml" ContentType="application/vnd.openxmlformats-package.core-properties+xml"/>
  <Override PartName="/ppt/metadata" ContentType="application/binary"/>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82" r:id="rId33"/>
    <p:sldId id="287" r:id="rId38"/>
    <p:sldId id="288" r:id="rId39"/>
    <p:sldId id="289" r:id="rId40"/>
    <p:sldId id="290" r:id="rId41"/>
    <p:sldId id="283" r:id="rId34"/>
    <p:sldId id="291" r:id="rId42"/>
    <p:sldId id="292" r:id="rId43"/>
    <p:sldId id="293" r:id="rId44"/>
    <p:sldId id="294" r:id="rId45"/>
    <p:sldId id="295" r:id="rId46"/>
    <p:sldId id="296" r:id="rId47"/>
    <p:sldId id="297" r:id="rId48"/>
    <p:sldId id="284" r:id="rId35"/>
    <p:sldId id="298" r:id="rId49"/>
    <p:sldId id="299" r:id="rId50"/>
    <p:sldId id="300" r:id="rId51"/>
    <p:sldId id="285" r:id="rId36"/>
    <p:sldId id="301" r:id="rId52"/>
    <p:sldId id="302" r:id="rId53"/>
    <p:sldId id="286" r:id="rId37"/>
    <p:sldId id="303" r:id="rId54"/>
    <p:sldId id="304" r:id="rId55"/>
    <p:sldId id="305" r:id="rId56"/>
    <p:sldId id="280" r:id="rId30"/>
    <p:sldId id="281" r:id="rId31"/>
    <p:sldId id="306" r:id="rId57"/>
    <p:sldId id="307" r:id="rId58"/>
    <p:sldId id="308" r:id="rId59"/>
    <p:sldId id="309" r:id="rId60"/>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GoogleSlidesCustomDataVersion2">
      <go:slidesCustomData xmlns:go="http://customooxmlschemas.google.com/" r:id="rId32" roundtripDataSignature="AMtx7mg9AT6Bnp0ofsO+60h+8vbgTlKZ5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6108819A-63A4-4AE0-BFCB-F8789B63442E}">
  <a:tblStyle styleId="{6108819A-63A4-4AE0-BFCB-F8789B63442E}"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_rels/presentation.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presProps" Target="presProps.xml"/><Relationship Id="rId3" Type="http://schemas.openxmlformats.org/officeDocument/2006/relationships/tableStyles" Target="tableStyle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30" Type="http://schemas.openxmlformats.org/officeDocument/2006/relationships/slide" Target="slides/slide25.xml"/><Relationship Id="rId31" Type="http://schemas.openxmlformats.org/officeDocument/2006/relationships/slide" Target="slides/slide26.xml"/><Relationship Id="rId32" Type="http://customschemas.google.com/relationships/presentationmetadata" Target="metadata"/><Relationship Id="rId33" Type="http://schemas.openxmlformats.org/officeDocument/2006/relationships/slide" Target="slides/slide27.xml"/><Relationship Id="rId34" Type="http://schemas.openxmlformats.org/officeDocument/2006/relationships/slide" Target="slides/slide28.xml"/><Relationship Id="rId35" Type="http://schemas.openxmlformats.org/officeDocument/2006/relationships/slide" Target="slides/slide29.xml"/><Relationship Id="rId36" Type="http://schemas.openxmlformats.org/officeDocument/2006/relationships/slide" Target="slides/slide30.xml"/><Relationship Id="rId37" Type="http://schemas.openxmlformats.org/officeDocument/2006/relationships/slide" Target="slides/slide31.xml"/><Relationship Id="rId38" Type="http://schemas.openxmlformats.org/officeDocument/2006/relationships/slide" Target="slides/slide32.xml"/><Relationship Id="rId39" Type="http://schemas.openxmlformats.org/officeDocument/2006/relationships/slide" Target="slides/slide33.xml"/><Relationship Id="rId40" Type="http://schemas.openxmlformats.org/officeDocument/2006/relationships/slide" Target="slides/slide34.xml"/><Relationship Id="rId41" Type="http://schemas.openxmlformats.org/officeDocument/2006/relationships/slide" Target="slides/slide35.xml"/><Relationship Id="rId42" Type="http://schemas.openxmlformats.org/officeDocument/2006/relationships/slide" Target="slides/slide36.xml"/><Relationship Id="rId43" Type="http://schemas.openxmlformats.org/officeDocument/2006/relationships/slide" Target="slides/slide37.xml"/><Relationship Id="rId44" Type="http://schemas.openxmlformats.org/officeDocument/2006/relationships/slide" Target="slides/slide38.xml"/><Relationship Id="rId45" Type="http://schemas.openxmlformats.org/officeDocument/2006/relationships/slide" Target="slides/slide39.xml"/><Relationship Id="rId46" Type="http://schemas.openxmlformats.org/officeDocument/2006/relationships/slide" Target="slides/slide40.xml"/><Relationship Id="rId47" Type="http://schemas.openxmlformats.org/officeDocument/2006/relationships/slide" Target="slides/slide41.xml"/><Relationship Id="rId48" Type="http://schemas.openxmlformats.org/officeDocument/2006/relationships/slide" Target="slides/slide42.xml"/><Relationship Id="rId49" Type="http://schemas.openxmlformats.org/officeDocument/2006/relationships/slide" Target="slides/slide43.xml"/><Relationship Id="rId50" Type="http://schemas.openxmlformats.org/officeDocument/2006/relationships/slide" Target="slides/slide44.xml"/><Relationship Id="rId51" Type="http://schemas.openxmlformats.org/officeDocument/2006/relationships/slide" Target="slides/slide45.xml"/><Relationship Id="rId52" Type="http://schemas.openxmlformats.org/officeDocument/2006/relationships/slide" Target="slides/slide46.xml"/><Relationship Id="rId53" Type="http://schemas.openxmlformats.org/officeDocument/2006/relationships/slide" Target="slides/slide47.xml"/><Relationship Id="rId54" Type="http://schemas.openxmlformats.org/officeDocument/2006/relationships/slide" Target="slides/slide48.xml"/><Relationship Id="rId55" Type="http://schemas.openxmlformats.org/officeDocument/2006/relationships/slide" Target="slides/slide49.xml"/><Relationship Id="rId56" Type="http://schemas.openxmlformats.org/officeDocument/2006/relationships/slide" Target="slides/slide50.xml"/><Relationship Id="rId57" Type="http://schemas.openxmlformats.org/officeDocument/2006/relationships/slide" Target="slides/slide51.xml"/><Relationship Id="rId58" Type="http://schemas.openxmlformats.org/officeDocument/2006/relationships/slide" Target="slides/slide52.xml"/><Relationship Id="rId59" Type="http://schemas.openxmlformats.org/officeDocument/2006/relationships/slide" Target="slides/slide53.xml"/><Relationship Id="rId60" Type="http://schemas.openxmlformats.org/officeDocument/2006/relationships/slide" Target="slides/slide5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[김성현] 안녕하세요, GCP1팀 NOVA입니다. 저희는 가상의 PROFIT 동물병원이 온프레미스 서버 1대로 운영하던 PetClinic 서비스를 GCP로 옮기는 Lift &amp; Shift 프로젝트를 진행했습니다. (10초)</a:t>
            </a:r>
          </a:p>
        </p:txBody>
      </p:sp>
      <p:sp>
        <p:nvSpPr>
          <p:cNvPr id="77" name="Google Shape;77;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4" name="Shape 84"/>
        <p:cNvGrpSpPr/>
        <p:nvPr/>
      </p:nvGrpSpPr>
      <p:grpSpPr>
        <a:xfrm>
          <a:off x="0" y="0"/>
          <a:ext cx="0" cy="0"/>
          <a:chOff x="0" y="0"/>
          <a:chExt cx="0" cy="0"/>
        </a:xfrm>
      </p:grpSpPr>
      <p:sp>
        <p:nvSpPr>
          <p:cNvPr id="85" name="Google Shape;85;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[김성현] 발표는 배경과 설계, 서비스 구축, 보안과 운영, 검증과 시연, 계획과 회고 순서로 진행합니다. 각 파트는 담당자가 직접 설명드립니다. (10초)</a:t>
            </a:r>
          </a:p>
        </p:txBody>
      </p:sp>
      <p:sp>
        <p:nvSpPr>
          <p:cNvPr id="86" name="Google Shape;86;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[김성현] 저희는 서버를 나눠 맡지 않고 네트워크·WEB·WAS·DB 계층별로 담당자를 정했습니다. 담당자끼리 포트, 헬스체크, DB 접속정보 같은 인터페이스를 먼저 고정한 뒤 병렬로 구축하고, DB부터 바깥쪽으로 연결하며 검증했습니다. (25초)</a:t>
            </a:r>
          </a:p>
        </p:txBody>
      </p:sp>
      <p:sp>
        <p:nvSpPr>
          <p:cNvPr id="100" name="Google Shape;100;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8" name="Shape 528"/>
        <p:cNvGrpSpPr/>
        <p:nvPr/>
      </p:nvGrpSpPr>
      <p:grpSpPr>
        <a:xfrm>
          <a:off x="0" y="0"/>
          <a:ext cx="0" cy="0"/>
          <a:chOff x="0" y="0"/>
          <a:chExt cx="0" cy="0"/>
        </a:xfrm>
      </p:grpSpPr>
      <p:sp>
        <p:nvSpPr>
          <p:cNvPr id="529" name="Google Shape;529;p1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r>
              <a:t>[전원] 질의응답. 답변이 어려우면 부록(스펙 · 예상 질문 · 트러블슈팅) 장표로 이동해 설명합니다.</a:t>
            </a:r>
          </a:p>
        </p:txBody>
      </p:sp>
      <p:sp>
        <p:nvSpPr>
          <p:cNvPr id="530" name="Google Shape;530;p1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5" name="Shape 535"/>
        <p:cNvGrpSpPr/>
        <p:nvPr/>
      </p:nvGrpSpPr>
      <p:grpSpPr>
        <a:xfrm>
          <a:off x="0" y="0"/>
          <a:ext cx="0" cy="0"/>
          <a:chOff x="0" y="0"/>
          <a:chExt cx="0" cy="0"/>
        </a:xfrm>
      </p:grpSpPr>
      <p:sp>
        <p:nvSpPr>
          <p:cNvPr id="536" name="Google Shape;536;p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537" name="Google Shape;537;p19: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먼저 왜 옮겼고, 무엇을 설계했는지 말씀드리겠습니다. (5초)</a:t>
            </a:r>
          </a:p>
        </p:txBody>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PROFIT 동물병원은 WEB, WAS, DB를 서버 한 대에서 운영했습니다. 그래서 서버가 멈추면 예약과 진료 조회가 전부 멈추고, 예방접종 예약 오픈처럼 접속이 몰려도 서버를 늘릴 수 없었습니다. 서버는 인터넷에 그대로 노출돼 있었고, 백업과 장애 감지는 사람이 직접 했습니다. 그래서 앱은 그대로 두고 인프라만 GCP로 바꾸는 것을 목표로 잡았습니다. (35초)</a:t>
            </a:r>
          </a:p>
        </p:txBody>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앞의 네 가지 문제를 가용성, 확장성, 보안, 운영 요구사항으로 정리했습니다. 표의 세 번째 열이 각 요구사항을 해결한 GCP 구성이고, 마지막 열은 뒤에서 보여드릴 검증 방법입니다. 이후 모든 구축 내용은 이 표의 한 칸에 해당합니다. (35초)</a:t>
            </a:r>
          </a:p>
        </p:txBody>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이전 방법은 세 가지를 비교했습니다. VM 한 대로 그대로 옮기면 가장 빠르지만 문제가 그대로 남습니다. 컨테이너나 서버리스로 다시 만들면 가장 유연하지만 앱을 재설계해야 해서 일정에 맞지 않았습니다. 그래서 코드는 그대로 두고 계층별로 나눠 확장과 격리가 가능한 3-Tier와 관리형 DB를 선택했습니다. (35초)</a:t>
            </a:r>
          </a:p>
        </p:txBody>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전체 구조입니다. ① 사용자가 도메인을 조회하면 ② 외부 HTTPS LB가 요청을 받아 SSL을 종료하고 Cloud Armor와 CDN을 거칩니다. ③ WEB MIG가 정적 요청을 처리하고 동적 요청은 ④ 내부 LB를 통해 WAS로 넘깁니다. ⑤ WAS는 PSC 내부 IP로 Cloud SQL에 접속합니다. WEB과 WAS는 각각 3개 존에 걸친 MIG이고, VM에는 외부 IP가 없어 관리 접속은 IAP, 외부로 나가는 통신은 Cloud NAT만 사용합니다. (40초)</a:t>
            </a:r>
          </a:p>
        </p:txBody>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[송인아] 이제 이 아키텍처를 어떻게 구축했는지 네트워크부터 순서대로 설명드리겠습니다. (5초)</a:t>
            </a:r>
          </a:p>
        </p:txBody>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[송인아] VPC 하나를 WEB, WAS, PSC, 관리용 네 개 서브넷으로 나눴습니다. 서브넷은 방화벽 규칙의 경계가 됩니다. VM에는 외부 IP를 붙이지 않았고, 들어오는 요청은 LB로만, 관리자 접속은 IAP로만, 나가는 통신은 Cloud NAT로만 허용했습니다. DB는 PSC 서브넷의 내부 IP로만 접속합니다. (40초)</a:t>
            </a:r>
          </a:p>
        </p:txBody>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[채정훈] 외부 요청은 Global HTTPS LB 한 곳으로만 받습니다. SSL 인증서는 이 LB의 HTTPS 프록시에 붙어 있고, DNS는 도메인을 LB 고정 IP로 연결만 합니다. HTTP로 들어오면 301로 HTTPS로 보냅니다. CDN에 캐시된 정적 파일은 바로 응답하고, 나머지 요청만 Cloud Armor 검사를 거쳐 WEB으로 갑니다. WEB은 WAS의 개별 IP를 모른 채 내부 LB 주소 하나로 요청을 넘기고, 내부 LB가 정상 WAS에만 분산합니다. (40초)</a:t>
            </a:r>
          </a:p>
        </p:txBody>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[채정훈] WEB과 WAS는 같은 방식으로 만들었습니다. 소프트웨어를 미리 설치한 골든 이미지로 인스턴스 템플릿을 만들고, 그 템플릿으로 3개 존에 걸친 리전 MIG를 구성했습니다. 차이는 올라가는 소프트웨어와 포트, 앞단 LB뿐입니다. (35초)</a:t>
            </a:r>
          </a:p>
        </p:txBody>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MIG는 3개 존에 인스턴스를 고르게 나눠 둡니다. 평소에는 2대, 부하가 늘면 최대 6대까지 늘어납니다. 오토스케일은 부하에 따라 대수를 조절하는 기능이고, 오토힐링은 헬스체크에 실패한 인스턴스를 같은 템플릿으로 다시 만드는 기능입니다. WAS는 재생성부터 서비스 복귀까지 약 45초였습니다. 새 이미지는 롤링 업데이트로 한 대씩 교체해 무중단으로 배포하고, 문제가 있으면 이전 템플릿으로 되돌립니다. (40초)</a:t>
            </a:r>
          </a:p>
        </p:txBody>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[김민성] DB는 VM에 MySQL을 직접 설치하는 대신 Cloud SQL MySQL 8.4를 고가용성 구성으로 사용했습니다. Primary와 Standby가 서로 다른 존에서 실시간으로 복제되고, Primary 존에 장애가 나면 자동으로 전환되며 접속 주소는 그대로입니다. WAS는 공인 IP 없이 PSC 엔드포인트 내부 IP로만 접속합니다. 수동 Failover로 전환 후에도 조회와 등록이 정상인 것을 확인했습니다. (40초)</a:t>
            </a:r>
          </a:p>
        </p:txBody>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[김민성] 온프레미스 DB 역할을 하는 VM의 MySQL에서 mysqldump로 SQL 파일을 만들고, Cloud Storage에 올린 뒤 Cloud SQL의 가져오기 기능으로 적재했습니다. 이전 후 데이터 조회와 PetClinic 연결을 확인했습니다. 한 번만 옮기면 되는 작은 데이터라 덤프 방식을 택했고, 운영 중 무중단 이관이 필요하면 DMS로 지속 복제하는 방법이 있습니다. (25초)</a:t>
            </a:r>
          </a:p>
        </p:txBody>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[김민성] 실수로 owners 테이블의 한 행을 삭제한 상황을 재현했습니다. 삭제 직전 시각을 기준으로 PITR을 실행하면 새 인스턴스에 그 시점 데이터가 복구됩니다. 원본 DB 전체를 되돌리지 않고, 복구본에서 필요한 행만 꺼내 원본에 다시 넣었습니다. 감사 로그, 복구 작업 로그, 최종 데이터 비교로 결과를 확인했습니다. (35초)</a:t>
            </a:r>
          </a:p>
        </p:txBody>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[송인아] 이렇게 만든 서비스를 어떻게 보안으로 감쌌는지 설명드리겠습니다. (5초)</a:t>
            </a:r>
          </a:p>
        </p:txBody>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[송인아] 방화벽은 기본 차단을 두고 필요한 통신만 열었습니다. 사용자는 LB를 거쳐 WEB으로만, WAS는 WEB 서브넷에서 오는 8080만, 헬스체크는 GCP 헬스체크 대역만, SSH는 IAP 대역만 허용합니다. 네트워크 태그와 출발지 대역을 함께 걸어서, 같은 WAS끼리의 호출도 막히고 WEB에서 WAS로는 정상 응답하는 것을 확인했습니다. (40초)</a:t>
            </a:r>
          </a:p>
        </p:txBody>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[송인아] Cloud Armor는 외부 LB에 붙어 두 단계로 검사합니다. 먼저 OWASP 규칙으로 SQL 인젝션이나 XSS 같은 공격 패턴을 막고, 다음으로 IP당 1분에 300번을 넘는 요청은 429로 60초 동안 차단합니다. 바로 차단하지 않고 이틀 동안 탐지 모드로 로그를 보며 오탐이 없는지 확인한 뒤 차단 모드로 바꿨습니다. (40초)</a:t>
            </a:r>
          </a:p>
        </p:txBody>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[김민성] LB와 Cloud Armor 로그, VM의 Ops Agent 로그와 지표, Cloud SQL 지표, 그리고 1분마다 외부에서 사이트를 확인하는 Uptime Check를 모았습니다. 사이트 접속 불가, LB 5xx 급증, DB 응답 없음, 429 차단 발생 네 가지 조건에 알림 정책을 걸어 Slack #alert 채널로 한국어 안내를 보냅니다. WAS는 Tomcat 로그와 JVM 지표, 실제 사용자 IP까지 남기도록 골든 이미지에 반영했습니다. (40초)</a:t>
            </a:r>
          </a:p>
        </p:txBody>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이제 실제로 장애와 공격을 재현한 결과를 보여드리겠습니다. (5초)</a:t>
            </a:r>
          </a:p>
        </p:txBody>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요구사항별로 장애, 공격, 복구 상황을 직접 만들어 확인했습니다. WEB 장애는 헬스체크가 감지해 트래픽에서 빼고 오토힐링으로 다시 만들었고, DB는 Failover와 PITR 모두 정상이었습니다. 방화벽 격리와 Cloud Armor 차단도 로그로 확인했습니다. 오토스케일은 시연 영상으로 보여드리겠습니다. (30초)</a:t>
            </a:r>
          </a:p>
        </p:txBody>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시연은 세 편입니다. 첫째, 과다 요청이 429로 차단되는 모습. 둘째, 인스턴스를 멈췄을 때 자동으로 복구되고 부하에 따라 늘어나는 모습. 셋째, DB Failover와 PITR 복구 결과입니다. 실시간 시연이 실패할 경우를 대비해 녹화 영상을 함께 준비했습니다. (영상 포함 약 2분 20초)</a:t>
            </a:r>
          </a:p>
        </p:txBody>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마지막으로 결과를 정리하고 향후 계획과 회고를 말씀드리겠습니다. (5초)</a:t>
            </a:r>
          </a:p>
        </p:txBody>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처음에 정의한 네 가지 요구사항으로 돌아가 보겠습니다. 가용성은 멀티존 MIG와 Cloud SQL HA로, 확장성은 오토스케일로, 보안은 Cloud Armor와 방화벽, 외부 IP 제거로, 운영은 백업·PITR과 알림으로 해결했고 각각 시나리오로 확인했습니다. (30초)</a:t>
            </a:r>
          </a:p>
        </p:txBody>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향후 계획은 세 단계입니다. 먼저 팀원 권한과 서비스 계정을 최소 권한으로 정리하고 DB 접속정보를 Secret Manager로 일원화합니다. 최종 프로젝트에서는 전체 인프라를 Terraform으로 코드화하고 Cloud Build로 배포를 자동화한 뒤, AWS와의 멀티클라우드와 비용 분석으로 확장합니다. (30초)</a:t>
            </a:r>
          </a:p>
        </p:txBody>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[김성현] 잘한 점은 계층별 담당과 인터페이스를 먼저 정해 병렬로 만들고, 시나리오 체크리스트로 직접 검증한 것입니다. 아쉬운 점은 담당자 사이 설정이 어긋나 통합할 때 시행착오가 있었고, 콘솔 수작업이 많아 재현과 롤백이 어려웠다는 점입니다. 다음에는 Terraform으로 설정을 코드로 남기고 매일 짧게 통합 테스트를 하겠습니다. (25초) ※ 개인 회고 한 줄은 팀원별로 채워 주세요.</a:t>
            </a:r>
          </a:p>
        </p:txBody>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질문 대비용. 빨간 [ ] 항목은 콘솔에서 확인해 채워 주세요.</a:t>
            </a:r>
          </a:p>
        </p:txBody>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멘토링에서 나온 질문과 Confluence 설계 방어 Q&amp;A 기반.</a:t>
            </a:r>
          </a:p>
        </p:txBody>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1"/>
          </p:nvPr>
        </p:nvSpPr>
        <p:spPr/>
        <p:txBody>
          <a:bodyPr/>
          <a:lstStyle/>
          <a:p>
            <a:r>
              <a:t>Confluence 트러블슈팅 문서 기반.</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슬라이드" type="title">
  <p:cSld name="TITLE">
    <p:spTree>
      <p:nvGrpSpPr>
        <p:cNvPr id="11" name="Shape 11"/>
        <p:cNvGrpSpPr/>
        <p:nvPr/>
      </p:nvGrpSpPr>
      <p:grpSpPr>
        <a:xfrm>
          <a:off x="0" y="0"/>
          <a:ext cx="0" cy="0"/>
          <a:chOff x="0" y="0"/>
          <a:chExt cx="0" cy="0"/>
        </a:xfrm>
      </p:grpSpPr>
      <p:sp>
        <p:nvSpPr>
          <p:cNvPr id="12" name="Google Shape;12;p21"/>
          <p:cNvSpPr txBox="1"/>
          <p:nvPr>
            <p:ph type="ctrTitle"/>
          </p:nvPr>
        </p:nvSpPr>
        <p:spPr>
          <a:xfrm>
            <a:off x="685800" y="1122363"/>
            <a:ext cx="77724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21"/>
          <p:cNvSpPr txBox="1"/>
          <p:nvPr>
            <p:ph idx="1" type="subTitle"/>
          </p:nvPr>
        </p:nvSpPr>
        <p:spPr>
          <a:xfrm>
            <a:off x="1143000" y="3602038"/>
            <a:ext cx="6858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2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2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2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콘텐츠 2개">
  <p:cSld name="콘텐츠 2개">
    <p:bg>
      <p:bgPr>
        <a:blipFill>
          <a:blip r:embed="rId2">
            <a:alphaModFix/>
          </a:blip>
          <a:stretch>
            <a:fillRect/>
          </a:stretch>
        </a:blipFill>
      </p:bgPr>
    </p:bg>
    <p:spTree>
      <p:nvGrpSpPr>
        <p:cNvPr id="17" name="Shape 17"/>
        <p:cNvGrpSpPr/>
        <p:nvPr/>
      </p:nvGrpSpPr>
      <p:grpSpPr>
        <a:xfrm>
          <a:off x="0" y="0"/>
          <a:ext cx="0" cy="0"/>
          <a:chOff x="0" y="0"/>
          <a:chExt cx="0" cy="0"/>
        </a:xfrm>
      </p:grpSpPr>
      <p:sp>
        <p:nvSpPr>
          <p:cNvPr id="18" name="Google Shape;18;p22"/>
          <p:cNvSpPr txBox="1"/>
          <p:nvPr>
            <p:ph type="title"/>
          </p:nvPr>
        </p:nvSpPr>
        <p:spPr>
          <a:xfrm>
            <a:off x="1068488" y="376701"/>
            <a:ext cx="3179421" cy="304384"/>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Clr>
                <a:srgbClr val="474A5D"/>
              </a:buClr>
              <a:buSzPts val="1600"/>
              <a:buFont typeface="Calibri"/>
              <a:buNone/>
              <a:defRPr sz="1600">
                <a:solidFill>
                  <a:srgbClr val="474A5D"/>
                </a:solidFill>
                <a:latin typeface="Calibri"/>
                <a:ea typeface="Calibri"/>
                <a:cs typeface="Calibri"/>
                <a:sym typeface="Calibri"/>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내용" type="obj">
  <p:cSld name="OBJECT">
    <p:spTree>
      <p:nvGrpSpPr>
        <p:cNvPr id="19" name="Shape 19"/>
        <p:cNvGrpSpPr/>
        <p:nvPr/>
      </p:nvGrpSpPr>
      <p:grpSpPr>
        <a:xfrm>
          <a:off x="0" y="0"/>
          <a:ext cx="0" cy="0"/>
          <a:chOff x="0" y="0"/>
          <a:chExt cx="0" cy="0"/>
        </a:xfrm>
      </p:grpSpPr>
      <p:sp>
        <p:nvSpPr>
          <p:cNvPr id="20" name="Google Shape;20;p23"/>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1" name="Google Shape;21;p23"/>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2" name="Google Shape;22;p23"/>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3" name="Google Shape;23;p23"/>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4" name="Google Shape;24;p23"/>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구역 머리글" type="secHead">
  <p:cSld name="SECTION_HEADER">
    <p:spTree>
      <p:nvGrpSpPr>
        <p:cNvPr id="25" name="Shape 25"/>
        <p:cNvGrpSpPr/>
        <p:nvPr/>
      </p:nvGrpSpPr>
      <p:grpSpPr>
        <a:xfrm>
          <a:off x="0" y="0"/>
          <a:ext cx="0" cy="0"/>
          <a:chOff x="0" y="0"/>
          <a:chExt cx="0" cy="0"/>
        </a:xfrm>
      </p:grpSpPr>
      <p:sp>
        <p:nvSpPr>
          <p:cNvPr id="26" name="Google Shape;26;p24"/>
          <p:cNvSpPr txBox="1"/>
          <p:nvPr>
            <p:ph type="title"/>
          </p:nvPr>
        </p:nvSpPr>
        <p:spPr>
          <a:xfrm>
            <a:off x="623888" y="1709739"/>
            <a:ext cx="7886700" cy="2852737"/>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7" name="Google Shape;27;p24"/>
          <p:cNvSpPr txBox="1"/>
          <p:nvPr>
            <p:ph idx="1" type="body"/>
          </p:nvPr>
        </p:nvSpPr>
        <p:spPr>
          <a:xfrm>
            <a:off x="623888" y="4589464"/>
            <a:ext cx="7886700" cy="1500187"/>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sz="2400">
                <a:solidFill>
                  <a:schemeClr val="dk1"/>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28" name="Google Shape;28;p24"/>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9" name="Google Shape;29;p24"/>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0" name="Google Shape;30;p24"/>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비교" type="twoTxTwoObj">
  <p:cSld name="TWO_OBJECTS_WITH_TEXT">
    <p:spTree>
      <p:nvGrpSpPr>
        <p:cNvPr id="31" name="Shape 31"/>
        <p:cNvGrpSpPr/>
        <p:nvPr/>
      </p:nvGrpSpPr>
      <p:grpSpPr>
        <a:xfrm>
          <a:off x="0" y="0"/>
          <a:ext cx="0" cy="0"/>
          <a:chOff x="0" y="0"/>
          <a:chExt cx="0" cy="0"/>
        </a:xfrm>
      </p:grpSpPr>
      <p:sp>
        <p:nvSpPr>
          <p:cNvPr id="32" name="Google Shape;32;p25"/>
          <p:cNvSpPr txBox="1"/>
          <p:nvPr>
            <p:ph type="title"/>
          </p:nvPr>
        </p:nvSpPr>
        <p:spPr>
          <a:xfrm>
            <a:off x="629841"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3" name="Google Shape;33;p25"/>
          <p:cNvSpPr txBox="1"/>
          <p:nvPr>
            <p:ph idx="1" type="body"/>
          </p:nvPr>
        </p:nvSpPr>
        <p:spPr>
          <a:xfrm>
            <a:off x="629842" y="1681163"/>
            <a:ext cx="3868340"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4" name="Google Shape;34;p25"/>
          <p:cNvSpPr txBox="1"/>
          <p:nvPr>
            <p:ph idx="2" type="body"/>
          </p:nvPr>
        </p:nvSpPr>
        <p:spPr>
          <a:xfrm>
            <a:off x="629842" y="2505075"/>
            <a:ext cx="3868340"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5" name="Google Shape;35;p25"/>
          <p:cNvSpPr txBox="1"/>
          <p:nvPr>
            <p:ph idx="3" type="body"/>
          </p:nvPr>
        </p:nvSpPr>
        <p:spPr>
          <a:xfrm>
            <a:off x="4629150" y="1681163"/>
            <a:ext cx="3887391" cy="823912"/>
          </a:xfrm>
          <a:prstGeom prst="rect">
            <a:avLst/>
          </a:prstGeom>
          <a:noFill/>
          <a:ln>
            <a:noFill/>
          </a:ln>
        </p:spPr>
        <p:txBody>
          <a:bodyPr anchorCtr="0" anchor="b"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36" name="Google Shape;36;p25"/>
          <p:cNvSpPr txBox="1"/>
          <p:nvPr>
            <p:ph idx="4" type="body"/>
          </p:nvPr>
        </p:nvSpPr>
        <p:spPr>
          <a:xfrm>
            <a:off x="4629150" y="2505075"/>
            <a:ext cx="3887391" cy="368458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7" name="Google Shape;37;p25"/>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8" name="Google Shape;38;p25"/>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9" name="Google Shape;39;p25"/>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만" type="titleOnly">
  <p:cSld name="TITLE_ONLY">
    <p:spTree>
      <p:nvGrpSpPr>
        <p:cNvPr id="40" name="Shape 40"/>
        <p:cNvGrpSpPr/>
        <p:nvPr/>
      </p:nvGrpSpPr>
      <p:grpSpPr>
        <a:xfrm>
          <a:off x="0" y="0"/>
          <a:ext cx="0" cy="0"/>
          <a:chOff x="0" y="0"/>
          <a:chExt cx="0" cy="0"/>
        </a:xfrm>
      </p:grpSpPr>
      <p:sp>
        <p:nvSpPr>
          <p:cNvPr id="41" name="Google Shape;41;p26"/>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2" name="Google Shape;42;p26"/>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26"/>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26"/>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빈 화면" type="blank">
  <p:cSld name="BLANK">
    <p:spTree>
      <p:nvGrpSpPr>
        <p:cNvPr id="45" name="Shape 45"/>
        <p:cNvGrpSpPr/>
        <p:nvPr/>
      </p:nvGrpSpPr>
      <p:grpSpPr>
        <a:xfrm>
          <a:off x="0" y="0"/>
          <a:ext cx="0" cy="0"/>
          <a:chOff x="0" y="0"/>
          <a:chExt cx="0" cy="0"/>
        </a:xfrm>
      </p:grpSpPr>
      <p:sp>
        <p:nvSpPr>
          <p:cNvPr id="46" name="Google Shape;46;p27"/>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7" name="Google Shape;47;p27"/>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27"/>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콘텐츠" type="objTx">
  <p:cSld name="OBJECT_WITH_CAPTION_TEXT">
    <p:spTree>
      <p:nvGrpSpPr>
        <p:cNvPr id="49" name="Shape 49"/>
        <p:cNvGrpSpPr/>
        <p:nvPr/>
      </p:nvGrpSpPr>
      <p:grpSpPr>
        <a:xfrm>
          <a:off x="0" y="0"/>
          <a:ext cx="0" cy="0"/>
          <a:chOff x="0" y="0"/>
          <a:chExt cx="0" cy="0"/>
        </a:xfrm>
      </p:grpSpPr>
      <p:sp>
        <p:nvSpPr>
          <p:cNvPr id="50" name="Google Shape;50;p28"/>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1" name="Google Shape;51;p28"/>
          <p:cNvSpPr txBox="1"/>
          <p:nvPr>
            <p:ph idx="1" type="body"/>
          </p:nvPr>
        </p:nvSpPr>
        <p:spPr>
          <a:xfrm>
            <a:off x="3887391" y="987426"/>
            <a:ext cx="4629150" cy="4873625"/>
          </a:xfrm>
          <a:prstGeom prst="rect">
            <a:avLst/>
          </a:prstGeom>
          <a:noFill/>
          <a:ln>
            <a:noFill/>
          </a:ln>
        </p:spPr>
        <p:txBody>
          <a:bodyPr anchorCtr="0" anchor="t" bIns="45700" lIns="91425" spcFirstLastPara="1" rIns="91425" wrap="square" tIns="45700">
            <a:norm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52" name="Google Shape;52;p28"/>
          <p:cNvSpPr txBox="1"/>
          <p:nvPr>
            <p:ph idx="2"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53" name="Google Shape;53;p28"/>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4" name="Google Shape;54;p28"/>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5" name="Google Shape;55;p28"/>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캡션 있는 그림" type="picTx">
  <p:cSld name="PICTURE_WITH_CAPTION_TEXT">
    <p:spTree>
      <p:nvGrpSpPr>
        <p:cNvPr id="56" name="Shape 56"/>
        <p:cNvGrpSpPr/>
        <p:nvPr/>
      </p:nvGrpSpPr>
      <p:grpSpPr>
        <a:xfrm>
          <a:off x="0" y="0"/>
          <a:ext cx="0" cy="0"/>
          <a:chOff x="0" y="0"/>
          <a:chExt cx="0" cy="0"/>
        </a:xfrm>
      </p:grpSpPr>
      <p:sp>
        <p:nvSpPr>
          <p:cNvPr id="57" name="Google Shape;57;p29"/>
          <p:cNvSpPr txBox="1"/>
          <p:nvPr>
            <p:ph type="title"/>
          </p:nvPr>
        </p:nvSpPr>
        <p:spPr>
          <a:xfrm>
            <a:off x="629841" y="457200"/>
            <a:ext cx="2949178"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8" name="Google Shape;58;p29"/>
          <p:cNvSpPr/>
          <p:nvPr>
            <p:ph idx="2" type="pic"/>
          </p:nvPr>
        </p:nvSpPr>
        <p:spPr>
          <a:xfrm>
            <a:off x="3887391" y="987426"/>
            <a:ext cx="4629150" cy="4873625"/>
          </a:xfrm>
          <a:prstGeom prst="rect">
            <a:avLst/>
          </a:prstGeom>
          <a:noFill/>
          <a:ln>
            <a:noFill/>
          </a:ln>
        </p:spPr>
      </p:sp>
      <p:sp>
        <p:nvSpPr>
          <p:cNvPr id="59" name="Google Shape;59;p29"/>
          <p:cNvSpPr txBox="1"/>
          <p:nvPr>
            <p:ph idx="1" type="body"/>
          </p:nvPr>
        </p:nvSpPr>
        <p:spPr>
          <a:xfrm>
            <a:off x="629841" y="2057400"/>
            <a:ext cx="2949178"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60" name="Google Shape;60;p29"/>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1" name="Google Shape;61;p29"/>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2" name="Google Shape;62;p29"/>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제목 및 세로 텍스트" type="vertTx">
  <p:cSld name="VERTICAL_TEXT">
    <p:spTree>
      <p:nvGrpSpPr>
        <p:cNvPr id="63" name="Shape 63"/>
        <p:cNvGrpSpPr/>
        <p:nvPr/>
      </p:nvGrpSpPr>
      <p:grpSpPr>
        <a:xfrm>
          <a:off x="0" y="0"/>
          <a:ext cx="0" cy="0"/>
          <a:chOff x="0" y="0"/>
          <a:chExt cx="0" cy="0"/>
        </a:xfrm>
      </p:grpSpPr>
      <p:sp>
        <p:nvSpPr>
          <p:cNvPr id="64" name="Google Shape;64;p3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5" name="Google Shape;65;p30"/>
          <p:cNvSpPr txBox="1"/>
          <p:nvPr>
            <p:ph idx="1" type="body"/>
          </p:nvPr>
        </p:nvSpPr>
        <p:spPr>
          <a:xfrm rot="5400000">
            <a:off x="2396331" y="57944"/>
            <a:ext cx="4351338" cy="7886700"/>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6" name="Google Shape;66;p3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3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8" name="Google Shape;68;p3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세로 제목 및 텍스트" type="vertTitleAndTx">
  <p:cSld name="VERTICAL_TITLE_AND_VERTICAL_TEXT">
    <p:spTree>
      <p:nvGrpSpPr>
        <p:cNvPr id="69" name="Shape 69"/>
        <p:cNvGrpSpPr/>
        <p:nvPr/>
      </p:nvGrpSpPr>
      <p:grpSpPr>
        <a:xfrm>
          <a:off x="0" y="0"/>
          <a:ext cx="0" cy="0"/>
          <a:chOff x="0" y="0"/>
          <a:chExt cx="0" cy="0"/>
        </a:xfrm>
      </p:grpSpPr>
      <p:sp>
        <p:nvSpPr>
          <p:cNvPr id="70" name="Google Shape;70;p31"/>
          <p:cNvSpPr txBox="1"/>
          <p:nvPr>
            <p:ph type="title"/>
          </p:nvPr>
        </p:nvSpPr>
        <p:spPr>
          <a:xfrm rot="5400000">
            <a:off x="4623594" y="2285207"/>
            <a:ext cx="5811838" cy="1971675"/>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1" name="Google Shape;71;p31"/>
          <p:cNvSpPr txBox="1"/>
          <p:nvPr>
            <p:ph idx="1" type="body"/>
          </p:nvPr>
        </p:nvSpPr>
        <p:spPr>
          <a:xfrm rot="5400000">
            <a:off x="623094" y="370681"/>
            <a:ext cx="5811838" cy="5800725"/>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2" name="Google Shape;72;p31"/>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31"/>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4" name="Google Shape;74;p31"/>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ko-KR"/>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20"/>
          <p:cNvSpPr txBox="1"/>
          <p:nvPr>
            <p:ph type="title"/>
          </p:nvPr>
        </p:nvSpPr>
        <p:spPr>
          <a:xfrm>
            <a:off x="628650" y="365126"/>
            <a:ext cx="78867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20"/>
          <p:cNvSpPr txBox="1"/>
          <p:nvPr>
            <p:ph idx="1" type="body"/>
          </p:nvPr>
        </p:nvSpPr>
        <p:spPr>
          <a:xfrm>
            <a:off x="628650" y="1825625"/>
            <a:ext cx="78867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20"/>
          <p:cNvSpPr txBox="1"/>
          <p:nvPr>
            <p:ph idx="10" type="dt"/>
          </p:nvPr>
        </p:nvSpPr>
        <p:spPr>
          <a:xfrm>
            <a:off x="628650" y="6356351"/>
            <a:ext cx="20574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20"/>
          <p:cNvSpPr txBox="1"/>
          <p:nvPr>
            <p:ph idx="11" type="ftr"/>
          </p:nvPr>
        </p:nvSpPr>
        <p:spPr>
          <a:xfrm>
            <a:off x="3028950" y="6356351"/>
            <a:ext cx="30861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20"/>
          <p:cNvSpPr txBox="1"/>
          <p:nvPr>
            <p:ph idx="12" type="sldNum"/>
          </p:nvPr>
        </p:nvSpPr>
        <p:spPr>
          <a:xfrm>
            <a:off x="6457950" y="6356351"/>
            <a:ext cx="20574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ko-KR"/>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6.png"/><Relationship Id="rId4" Type="http://schemas.openxmlformats.org/officeDocument/2006/relationships/image" Target="../media/image8.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2.png"/><Relationship Id="rId5" Type="http://schemas.openxmlformats.org/officeDocument/2006/relationships/image" Target="../media/image12.png"/><Relationship Id="rId6" Type="http://schemas.openxmlformats.org/officeDocument/2006/relationships/image" Target="../media/image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 Id="rId3" Type="http://schemas.openxmlformats.org/officeDocument/2006/relationships/image" Target="../media/image6.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 Id="rId3" Type="http://schemas.openxmlformats.org/officeDocument/2006/relationships/image" Target="../media/image6.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3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40.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44.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image" Target="../media/image6.png"/><Relationship Id="rId3" Type="http://schemas.openxmlformats.org/officeDocument/2006/relationships/image" Target="../media/image8.png"/><Relationship Id="rId4" Type="http://schemas.openxmlformats.org/officeDocument/2006/relationships/notesSlide" Target="../notesSlides/notesSlide47.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8.xml"/><Relationship Id="rId3" Type="http://schemas.openxmlformats.org/officeDocument/2006/relationships/image" Target="../media/image24.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0.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1.xml"/><Relationship Id="rId3" Type="http://schemas.openxmlformats.org/officeDocument/2006/relationships/image" Target="../media/image25.png"/></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3.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28.png"/><Relationship Id="rId6" Type="http://schemas.openxmlformats.org/officeDocument/2006/relationships/image" Target="../media/image29.png"/><Relationship Id="rId7" Type="http://schemas.openxmlformats.org/officeDocument/2006/relationships/image" Target="../media/image30.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4.xml"/><Relationship Id="rId3" Type="http://schemas.openxmlformats.org/officeDocument/2006/relationships/image" Target="../media/image24.png"/><Relationship Id="rId4" Type="http://schemas.openxmlformats.org/officeDocument/2006/relationships/image" Target="../media/image31.png"/><Relationship Id="rId5" Type="http://schemas.openxmlformats.org/officeDocument/2006/relationships/image" Target="../media/image32.png"/><Relationship Id="rId6" Type="http://schemas.openxmlformats.org/officeDocument/2006/relationships/image" Target="../media/image33.png"/><Relationship Id="rId7" Type="http://schemas.openxmlformats.org/officeDocument/2006/relationships/image" Target="../media/image34.png"/><Relationship Id="rId8" Type="http://schemas.openxmlformats.org/officeDocument/2006/relationships/image" Target="../media/image26.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5.xml"/><Relationship Id="rId3" Type="http://schemas.openxmlformats.org/officeDocument/2006/relationships/image" Target="../media/image3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36.png"/></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6.xml"/><Relationship Id="rId3" Type="http://schemas.openxmlformats.org/officeDocument/2006/relationships/image" Target="../media/image26.png"/><Relationship Id="rId4" Type="http://schemas.openxmlformats.org/officeDocument/2006/relationships/image" Target="../media/image36.png"/><Relationship Id="rId5" Type="http://schemas.openxmlformats.org/officeDocument/2006/relationships/image" Target="../media/image37.png"/><Relationship Id="rId6" Type="http://schemas.openxmlformats.org/officeDocument/2006/relationships/image" Target="../media/image3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7.xml"/><Relationship Id="rId3" Type="http://schemas.openxmlformats.org/officeDocument/2006/relationships/image" Target="../media/image26.png"/><Relationship Id="rId4" Type="http://schemas.openxmlformats.org/officeDocument/2006/relationships/image" Target="../media/image27.png"/><Relationship Id="rId5" Type="http://schemas.openxmlformats.org/officeDocument/2006/relationships/image" Target="../media/image39.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8.xml"/><Relationship Id="rId3" Type="http://schemas.openxmlformats.org/officeDocument/2006/relationships/image" Target="../media/image26.png"/><Relationship Id="rId4" Type="http://schemas.openxmlformats.org/officeDocument/2006/relationships/image" Target="../media/image39.png"/><Relationship Id="rId5" Type="http://schemas.openxmlformats.org/officeDocument/2006/relationships/image" Target="../media/image30.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9.xml"/><Relationship Id="rId3" Type="http://schemas.openxmlformats.org/officeDocument/2006/relationships/image" Target="../media/image40.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1.xml"/><Relationship Id="rId3" Type="http://schemas.openxmlformats.org/officeDocument/2006/relationships/image" Target="../media/image41.png"/><Relationship Id="rId4" Type="http://schemas.openxmlformats.org/officeDocument/2006/relationships/image" Target="../media/image40.png"/><Relationship Id="rId5" Type="http://schemas.openxmlformats.org/officeDocument/2006/relationships/image" Target="../media/image42.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2.xml"/><Relationship Id="rId3" Type="http://schemas.openxmlformats.org/officeDocument/2006/relationships/image" Target="../media/image24.png"/><Relationship Id="rId4" Type="http://schemas.openxmlformats.org/officeDocument/2006/relationships/image" Target="../media/image2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3.xml"/><Relationship Id="rId3" Type="http://schemas.openxmlformats.org/officeDocument/2006/relationships/image" Target="../media/image32.png"/><Relationship Id="rId4" Type="http://schemas.openxmlformats.org/officeDocument/2006/relationships/image" Target="../media/image26.png"/><Relationship Id="rId5" Type="http://schemas.openxmlformats.org/officeDocument/2006/relationships/image" Target="../media/image39.png"/><Relationship Id="rId6" Type="http://schemas.openxmlformats.org/officeDocument/2006/relationships/image" Target="../media/image37.png"/><Relationship Id="rId7" Type="http://schemas.openxmlformats.org/officeDocument/2006/relationships/image" Target="../media/image43.png"/><Relationship Id="rId8" Type="http://schemas.openxmlformats.org/officeDocument/2006/relationships/image" Target="../media/image44.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5.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6.xml"/><Relationship Id="rId3" Type="http://schemas.openxmlformats.org/officeDocument/2006/relationships/image" Target="../media/image14.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8.xml"/><Relationship Id="rId3" Type="http://schemas.openxmlformats.org/officeDocument/2006/relationships/image" Target="../media/image40.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9.xml"/><Relationship Id="rId3" Type="http://schemas.openxmlformats.org/officeDocument/2006/relationships/image" Target="../media/image45.png"/><Relationship Id="rId4" Type="http://schemas.openxmlformats.org/officeDocument/2006/relationships/image" Target="../media/image38.png"/><Relationship Id="rId5" Type="http://schemas.openxmlformats.org/officeDocument/2006/relationships/image" Target="../media/image46.png"/></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6.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78" name="Shape 78"/>
        <p:cNvGrpSpPr/>
        <p:nvPr/>
      </p:nvGrpSpPr>
      <p:grpSpPr>
        <a:xfrm>
          <a:off x="0" y="0"/>
          <a:ext cx="0" cy="0"/>
          <a:chOff x="0" y="0"/>
          <a:chExt cx="0" cy="0"/>
        </a:xfrm>
      </p:grpSpPr>
      <p:sp>
        <p:nvSpPr>
          <p:cNvPr id="79" name="Google Shape;79;p1"/>
          <p:cNvSpPr/>
          <p:nvPr/>
        </p:nvSpPr>
        <p:spPr>
          <a:xfrm>
            <a:off x="4318623" y="3028440"/>
            <a:ext cx="303906" cy="2487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600" u="none" cap="none" strike="noStrike">
              <a:solidFill>
                <a:schemeClr val="lt1"/>
              </a:solidFill>
              <a:latin typeface="Calibri"/>
              <a:ea typeface="Calibri"/>
              <a:cs typeface="Calibri"/>
              <a:sym typeface="Calibri"/>
            </a:endParaRPr>
          </a:p>
        </p:txBody>
      </p:sp>
      <p:sp>
        <p:nvSpPr>
          <p:cNvPr id="80" name="Google Shape;80;p1"/>
          <p:cNvSpPr/>
          <p:nvPr/>
        </p:nvSpPr>
        <p:spPr>
          <a:xfrm>
            <a:off x="2788920" y="2848725"/>
            <a:ext cx="3520440" cy="402600"/>
          </a:xfrm>
          <a:prstGeom prst="rect">
            <a:avLst/>
          </a:prstGeom>
          <a:noFill/>
          <a:ln>
            <a:noFill/>
          </a:ln>
        </p:spPr>
        <p:txBody>
          <a:bodyPr anchorCtr="0" anchor="t" bIns="45700" lIns="91425" spcFirstLastPara="1" rIns="91425" wrap="square" tIns="45700">
            <a:noAutofit/>
          </a:bodyPr>
          <a:lstStyle/>
          <a:p>
            <a:pPr algn="ctr">
              <a:spcBef>
                <a:spcPts val="0"/>
              </a:spcBef>
              <a:spcAft>
                <a:spcPts val="0"/>
              </a:spcAft>
              <a:buNone/>
            </a:pPr>
            <a:r>
              <a:rPr sz="1900" b="1" lang="ko-KR">
                <a:solidFill>
                  <a:srgbClr val="474A5D"/>
                </a:solidFill>
                <a:latin typeface="Calibri"/>
                <a:ea typeface="Noto Sans KR"/>
                <a:cs typeface="Calibri"/>
              </a:rPr>
              <a:t>PROFIT 동물병원 GCP 전환</a:t>
            </a:r>
          </a:p>
        </p:txBody>
      </p:sp>
      <p:sp>
        <p:nvSpPr>
          <p:cNvPr id="82" name="Google Shape;82;p1"/>
          <p:cNvSpPr/>
          <p:nvPr/>
        </p:nvSpPr>
        <p:spPr>
          <a:xfrm>
            <a:off x="2286000" y="4160520"/>
            <a:ext cx="4572000" cy="731520"/>
          </a:xfrm>
          <a:prstGeom prst="rect">
            <a:avLst/>
          </a:prstGeom>
          <a:noFill/>
          <a:ln>
            <a:noFill/>
          </a:ln>
        </p:spPr>
        <p:txBody>
          <a:bodyPr anchorCtr="0" anchor="t" bIns="45700" lIns="91425" spcFirstLastPara="1" rIns="91425" wrap="square" tIns="45700">
            <a:noAutofit/>
          </a:bodyPr>
          <a:lstStyle/>
          <a:p>
            <a:pPr algn="ctr">
              <a:spcBef>
                <a:spcPts val="0"/>
              </a:spcBef>
              <a:spcAft>
                <a:spcPts val="0"/>
              </a:spcAft>
              <a:buNone/>
            </a:pPr>
            <a:r>
              <a:rPr sz="1400" b="0" lang="ko-KR">
                <a:solidFill>
                  <a:srgbClr val="474A5D"/>
                </a:solidFill>
                <a:latin typeface="Calibri"/>
                <a:ea typeface="Noto Sans KR"/>
                <a:cs typeface="Calibri"/>
              </a:rPr>
              <a:t>2026. 10. 01  ·  GCP1팀 </a:t>
            </a:r>
            <a:r>
              <a:rPr sz="1400" b="1" lang="ko-KR">
                <a:solidFill>
                  <a:srgbClr val="474A5D"/>
                </a:solidFill>
                <a:latin typeface="Calibri"/>
                <a:ea typeface="Noto Sans KR"/>
                <a:cs typeface="Calibri"/>
              </a:rPr>
              <a:t>TEAM NOVA</a:t>
            </a:r>
          </a:p>
          <a:p>
            <a:pPr algn="ctr">
              <a:spcBef>
                <a:spcPts val="0"/>
              </a:spcBef>
              <a:spcAft>
                <a:spcPts val="0"/>
              </a:spcAft>
              <a:buNone/>
            </a:pPr>
            <a:r>
              <a:rPr sz="1200" b="0" lang="ko-KR">
                <a:solidFill>
                  <a:srgbClr val="5F6368"/>
                </a:solidFill>
                <a:latin typeface="Calibri"/>
                <a:ea typeface="Noto Sans KR"/>
                <a:cs typeface="Calibri"/>
              </a:rPr>
              <a:t>김성현 · 송인아 · 채정훈 · 김민성</a:t>
            </a:r>
          </a:p>
        </p:txBody>
      </p:sp>
      <p:sp>
        <p:nvSpPr>
          <p:cNvPr id="83" name="Google Shape;83;p1"/>
          <p:cNvSpPr/>
          <p:nvPr/>
        </p:nvSpPr>
        <p:spPr>
          <a:xfrm>
            <a:off x="2057400" y="3419856"/>
            <a:ext cx="5029200" cy="566928"/>
          </a:xfrm>
          <a:prstGeom prst="rect">
            <a:avLst/>
          </a:prstGeom>
          <a:noFill/>
          <a:ln>
            <a:noFill/>
          </a:ln>
        </p:spPr>
        <p:txBody>
          <a:bodyPr anchorCtr="0" anchor="t" bIns="45700" lIns="91425" spcFirstLastPara="1" rIns="91425" wrap="square" tIns="45700">
            <a:spAutoFit/>
          </a:bodyPr>
          <a:lstStyle/>
          <a:p>
            <a:pPr algn="ctr">
              <a:spcBef>
                <a:spcPts val="0"/>
              </a:spcBef>
              <a:spcAft>
                <a:spcPts val="0"/>
              </a:spcAft>
              <a:buNone/>
            </a:pPr>
            <a:r>
              <a:rPr sz="1300" b="1" lang="ko-KR">
                <a:solidFill>
                  <a:srgbClr val="474A5D"/>
                </a:solidFill>
                <a:latin typeface="Calibri"/>
                <a:ea typeface="Noto Sans KR"/>
                <a:cs typeface="Calibri"/>
              </a:rPr>
              <a:t>온프레미스 단일 서버를 GCP 3-Tier로 옮긴 </a:t>
            </a:r>
            <a:r>
              <a:rPr sz="1300" b="1" lang="ko-KR">
                <a:solidFill>
                  <a:srgbClr val="4084F4"/>
                </a:solidFill>
                <a:latin typeface="Calibri"/>
                <a:ea typeface="Noto Sans KR"/>
                <a:cs typeface="Calibri"/>
              </a:rPr>
              <a:t>Lift &amp; Shift</a:t>
            </a:r>
            <a:r>
              <a:rPr sz="1300" b="1" lang="ko-KR">
                <a:solidFill>
                  <a:srgbClr val="474A5D"/>
                </a:solidFill>
                <a:latin typeface="Calibri"/>
                <a:ea typeface="Noto Sans KR"/>
                <a:cs typeface="Calibri"/>
              </a:rPr>
              <a:t> 프로젝트</a:t>
            </a: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87" name="Shape 87"/>
        <p:cNvGrpSpPr/>
        <p:nvPr/>
      </p:nvGrpSpPr>
      <p:grpSpPr>
        <a:xfrm>
          <a:off x="0" y="0"/>
          <a:ext cx="0" cy="0"/>
          <a:chOff x="0" y="0"/>
          <a:chExt cx="0" cy="0"/>
        </a:xfrm>
      </p:grpSpPr>
      <p:sp>
        <p:nvSpPr>
          <p:cNvPr id="89" name="Google Shape;89;p2"/>
          <p:cNvSpPr/>
          <p:nvPr/>
        </p:nvSpPr>
        <p:spPr>
          <a:xfrm>
            <a:off x="2644881" y="3438144"/>
            <a:ext cx="3854100" cy="22585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 name="Google Shape;90;p2"/>
          <p:cNvSpPr/>
          <p:nvPr/>
        </p:nvSpPr>
        <p:spPr>
          <a:xfrm>
            <a:off x="4318623" y="3028440"/>
            <a:ext cx="303906" cy="2487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91" name="Google Shape;91;p2"/>
          <p:cNvSpPr/>
          <p:nvPr/>
        </p:nvSpPr>
        <p:spPr>
          <a:xfrm>
            <a:off x="3085658" y="2758043"/>
            <a:ext cx="2855400" cy="585300"/>
          </a:xfrm>
          <a:prstGeom prst="rect">
            <a:avLst/>
          </a:prstGeom>
          <a:noFill/>
          <a:ln>
            <a:noFill/>
          </a:ln>
        </p:spPr>
        <p:txBody>
          <a:bodyPr anchorCtr="0" anchor="t" bIns="45700" lIns="91425" spcFirstLastPara="1" rIns="91425" wrap="square" tIns="45700">
            <a:noAutofit/>
          </a:bodyPr>
          <a:lstStyle/>
          <a:p>
            <a:pPr algn="ctr">
              <a:spcBef>
                <a:spcPts val="0"/>
              </a:spcBef>
              <a:spcAft>
                <a:spcPts val="0"/>
              </a:spcAft>
              <a:buNone/>
            </a:pPr>
            <a:r>
              <a:rPr sz="2800" b="1" lang="ko-KR">
                <a:solidFill>
                  <a:srgbClr val="474A5D"/>
                </a:solidFill>
                <a:latin typeface="Calibri"/>
                <a:ea typeface="Noto Sans KR"/>
                <a:cs typeface="Calibri"/>
              </a:rPr>
              <a:t>발표 목차</a:t>
            </a:r>
          </a:p>
        </p:txBody>
      </p:sp>
      <p:sp>
        <p:nvSpPr>
          <p:cNvPr id="92" name="TextBox 91"/>
          <p:cNvSpPr txBox="1"/>
          <p:nvPr/>
        </p:nvSpPr>
        <p:spPr>
          <a:xfrm>
            <a:off x="2944368" y="35295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202124"/>
                </a:solidFill>
                <a:latin typeface="Calibri"/>
                <a:ea typeface="Noto Sans KR"/>
                <a:cs typeface="Calibri"/>
              </a:rPr>
              <a:t>1. 배경과 설계</a:t>
            </a:r>
            <a:r>
              <a:rPr sz="1050" b="0" lang="ko-KR">
                <a:solidFill>
                  <a:srgbClr val="5F6368"/>
                </a:solidFill>
                <a:latin typeface="Calibri"/>
                <a:ea typeface="Noto Sans KR"/>
                <a:cs typeface="Calibri"/>
              </a:rPr>
              <a:t>   왜 옮기고, 무엇을 설계했나</a:t>
            </a:r>
          </a:p>
        </p:txBody>
      </p:sp>
      <p:sp>
        <p:nvSpPr>
          <p:cNvPr id="93" name="TextBox 92"/>
          <p:cNvSpPr txBox="1"/>
          <p:nvPr/>
        </p:nvSpPr>
        <p:spPr>
          <a:xfrm>
            <a:off x="2944368" y="38724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202124"/>
                </a:solidFill>
                <a:latin typeface="Calibri"/>
                <a:ea typeface="Noto Sans KR"/>
                <a:cs typeface="Calibri"/>
              </a:rPr>
              <a:t>2. 서비스 구축</a:t>
            </a:r>
            <a:r>
              <a:rPr sz="1050" b="0" lang="ko-KR">
                <a:solidFill>
                  <a:srgbClr val="5F6368"/>
                </a:solidFill>
                <a:latin typeface="Calibri"/>
                <a:ea typeface="Noto Sans KR"/>
                <a:cs typeface="Calibri"/>
              </a:rPr>
              <a:t>   네트워크 · LB · WEB/WAS · DB</a:t>
            </a:r>
          </a:p>
        </p:txBody>
      </p:sp>
      <p:sp>
        <p:nvSpPr>
          <p:cNvPr id="94" name="TextBox 93"/>
          <p:cNvSpPr txBox="1"/>
          <p:nvPr/>
        </p:nvSpPr>
        <p:spPr>
          <a:xfrm>
            <a:off x="2944368" y="42153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202124"/>
                </a:solidFill>
                <a:latin typeface="Calibri"/>
                <a:ea typeface="Noto Sans KR"/>
                <a:cs typeface="Calibri"/>
              </a:rPr>
              <a:t>3. 보안과 운영</a:t>
            </a:r>
            <a:r>
              <a:rPr sz="1050" b="0" lang="ko-KR">
                <a:solidFill>
                  <a:srgbClr val="5F6368"/>
                </a:solidFill>
                <a:latin typeface="Calibri"/>
                <a:ea typeface="Noto Sans KR"/>
                <a:cs typeface="Calibri"/>
              </a:rPr>
              <a:t>   방화벽 · Cloud Armor · 모니터링</a:t>
            </a:r>
          </a:p>
        </p:txBody>
      </p:sp>
      <p:sp>
        <p:nvSpPr>
          <p:cNvPr id="95" name="TextBox 94"/>
          <p:cNvSpPr txBox="1"/>
          <p:nvPr/>
        </p:nvSpPr>
        <p:spPr>
          <a:xfrm>
            <a:off x="2944368" y="45582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202124"/>
                </a:solidFill>
                <a:latin typeface="Calibri"/>
                <a:ea typeface="Noto Sans KR"/>
                <a:cs typeface="Calibri"/>
              </a:rPr>
              <a:t>4. 검증과 시연</a:t>
            </a:r>
            <a:r>
              <a:rPr sz="1050" b="0" lang="ko-KR">
                <a:solidFill>
                  <a:srgbClr val="5F6368"/>
                </a:solidFill>
                <a:latin typeface="Calibri"/>
                <a:ea typeface="Noto Sans KR"/>
                <a:cs typeface="Calibri"/>
              </a:rPr>
              <a:t>   장애 · 공격 · 복구 시나리오</a:t>
            </a:r>
          </a:p>
        </p:txBody>
      </p:sp>
      <p:sp>
        <p:nvSpPr>
          <p:cNvPr id="96" name="TextBox 95"/>
          <p:cNvSpPr txBox="1"/>
          <p:nvPr/>
        </p:nvSpPr>
        <p:spPr>
          <a:xfrm>
            <a:off x="2944368" y="49011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202124"/>
                </a:solidFill>
                <a:latin typeface="Calibri"/>
                <a:ea typeface="Noto Sans KR"/>
                <a:cs typeface="Calibri"/>
              </a:rPr>
              <a:t>5. 계획과 회고</a:t>
            </a:r>
            <a:r>
              <a:rPr sz="1050" b="0" lang="ko-KR">
                <a:solidFill>
                  <a:srgbClr val="5F6368"/>
                </a:solidFill>
                <a:latin typeface="Calibri"/>
                <a:ea typeface="Noto Sans KR"/>
                <a:cs typeface="Calibri"/>
              </a:rPr>
              <a:t>   결과 · 향후 계획 · 회고</a:t>
            </a:r>
          </a:p>
        </p:txBody>
      </p:sp>
      <p:sp>
        <p:nvSpPr>
          <p:cNvPr id="97" name="TextBox 96"/>
          <p:cNvSpPr txBox="1"/>
          <p:nvPr/>
        </p:nvSpPr>
        <p:spPr>
          <a:xfrm>
            <a:off x="2944368" y="52440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202124"/>
                </a:solidFill>
                <a:latin typeface="Calibri"/>
                <a:ea typeface="Noto Sans KR"/>
                <a:cs typeface="Calibri"/>
              </a:rPr>
              <a:t>6. Q &amp; A</a:t>
            </a: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12" name="Google Shape;112;p3"/>
          <p:cNvSpPr txBox="1"/>
          <p:nvPr>
            <p:ph type="title"/>
          </p:nvPr>
        </p:nvSpPr>
        <p:spPr>
          <a:xfrm>
            <a:off x="1024128" y="374904"/>
            <a:ext cx="5257800" cy="301752"/>
          </a:xfrm>
          <a:prstGeom prst="rect">
            <a:avLst/>
          </a:prstGeom>
          <a:noFill/>
          <a:ln>
            <a:noFill/>
          </a:ln>
        </p:spPr>
        <p:txBody>
          <a:bodyPr anchorCtr="0" anchor="ctr" bIns="45700" lIns="91425" spcFirstLastPara="1" rIns="91425" wrap="square" tIns="45700">
            <a:noAutofit/>
          </a:bodyPr>
          <a:lstStyle/>
          <a:p>
            <a:pPr algn="l">
              <a:spcBef>
                <a:spcPts val="0"/>
              </a:spcBef>
              <a:spcAft>
                <a:spcPts val="0"/>
              </a:spcAft>
              <a:buNone/>
            </a:pPr>
            <a:r>
              <a:rPr sz="1600" b="0" lang="ko-KR">
                <a:solidFill>
                  <a:srgbClr val="3C4043"/>
                </a:solidFill>
                <a:latin typeface="Calibri"/>
                <a:ea typeface="Noto Sans KR"/>
                <a:cs typeface="Calibri"/>
              </a:rPr>
              <a:t>NOVA 팀 소개</a:t>
            </a:r>
          </a:p>
        </p:txBody>
      </p:sp>
      <p:pic>
        <p:nvPicPr>
          <p:cNvPr id="113" name="Google Shape;113;p3"/>
          <p:cNvPicPr preferRelativeResize="0"/>
          <p:nvPr/>
        </p:nvPicPr>
        <p:blipFill rotWithShape="1">
          <a:blip r:embed="rId3">
            <a:alphaModFix/>
          </a:blip>
          <a:srcRect b="0" l="0" r="0" t="0"/>
          <a:stretch/>
        </p:blipFill>
        <p:spPr>
          <a:xfrm>
            <a:off x="1078992" y="2011680"/>
            <a:ext cx="1143000" cy="1143000"/>
          </a:xfrm>
          <a:prstGeom prst="rect">
            <a:avLst/>
          </a:prstGeom>
          <a:noFill/>
          <a:ln>
            <a:noFill/>
          </a:ln>
        </p:spPr>
      </p:pic>
      <p:pic>
        <p:nvPicPr>
          <p:cNvPr id="117" name="Google Shape;117;p3"/>
          <p:cNvPicPr preferRelativeResize="0"/>
          <p:nvPr/>
        </p:nvPicPr>
        <p:blipFill rotWithShape="1">
          <a:blip r:embed="rId4">
            <a:alphaModFix/>
          </a:blip>
          <a:srcRect b="0" l="0" r="0" t="0"/>
          <a:stretch/>
        </p:blipFill>
        <p:spPr>
          <a:xfrm>
            <a:off x="3026664" y="2011680"/>
            <a:ext cx="1143000" cy="1143000"/>
          </a:xfrm>
          <a:prstGeom prst="rect">
            <a:avLst/>
          </a:prstGeom>
          <a:noFill/>
          <a:ln>
            <a:noFill/>
          </a:ln>
        </p:spPr>
      </p:pic>
      <p:pic>
        <p:nvPicPr>
          <p:cNvPr id="121" name="Google Shape;121;p3"/>
          <p:cNvPicPr preferRelativeResize="0"/>
          <p:nvPr/>
        </p:nvPicPr>
        <p:blipFill rotWithShape="1">
          <a:blip r:embed="rId5">
            <a:alphaModFix/>
          </a:blip>
          <a:srcRect b="0" l="0" r="0" t="0"/>
          <a:stretch/>
        </p:blipFill>
        <p:spPr>
          <a:xfrm>
            <a:off x="4983480" y="2011680"/>
            <a:ext cx="1143000" cy="1143000"/>
          </a:xfrm>
          <a:prstGeom prst="rect">
            <a:avLst/>
          </a:prstGeom>
          <a:noFill/>
          <a:ln>
            <a:noFill/>
          </a:ln>
        </p:spPr>
      </p:pic>
      <p:pic>
        <p:nvPicPr>
          <p:cNvPr id="125" name="Google Shape;125;p3"/>
          <p:cNvPicPr preferRelativeResize="0"/>
          <p:nvPr/>
        </p:nvPicPr>
        <p:blipFill rotWithShape="1">
          <a:blip r:embed="rId6">
            <a:alphaModFix/>
          </a:blip>
          <a:srcRect b="0" l="0" r="0" t="0"/>
          <a:stretch/>
        </p:blipFill>
        <p:spPr>
          <a:xfrm>
            <a:off x="6931152" y="2011680"/>
            <a:ext cx="1143000" cy="1143000"/>
          </a:xfrm>
          <a:prstGeom prst="rect">
            <a:avLst/>
          </a:prstGeom>
          <a:noFill/>
          <a:ln>
            <a:noFill/>
          </a:ln>
        </p:spPr>
      </p:pic>
      <p:sp>
        <p:nvSpPr>
          <p:cNvPr id="129"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130" name="TextBox 129"/>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131" name="Connector 130"/>
          <p:cNvCxnSpPr/>
          <p:nvPr/>
        </p:nvCxnSpPr>
        <p:spPr>
          <a:xfrm>
            <a:off x="1883664" y="905256"/>
            <a:ext cx="0" cy="164592"/>
          </a:xfrm>
          <a:prstGeom prst="line">
            <a:avLst/>
          </a:prstGeom>
          <a:ln w="9525">
            <a:solidFill>
              <a:srgbClr val="4084F4"/>
            </a:solidFill>
          </a:ln>
        </p:spPr>
      </p:cxnSp>
      <p:sp>
        <p:nvSpPr>
          <p:cNvPr id="132" name="TextBox 131"/>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133" name="Connector 132"/>
          <p:cNvCxnSpPr/>
          <p:nvPr/>
        </p:nvCxnSpPr>
        <p:spPr>
          <a:xfrm>
            <a:off x="3108960" y="905256"/>
            <a:ext cx="0" cy="164592"/>
          </a:xfrm>
          <a:prstGeom prst="line">
            <a:avLst/>
          </a:prstGeom>
          <a:ln w="9525">
            <a:solidFill>
              <a:srgbClr val="4084F4"/>
            </a:solidFill>
          </a:ln>
        </p:spPr>
      </p:cxnSp>
      <p:sp>
        <p:nvSpPr>
          <p:cNvPr id="134" name="TextBox 133"/>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135" name="Connector 134"/>
          <p:cNvCxnSpPr/>
          <p:nvPr/>
        </p:nvCxnSpPr>
        <p:spPr>
          <a:xfrm>
            <a:off x="4334256" y="905256"/>
            <a:ext cx="0" cy="164592"/>
          </a:xfrm>
          <a:prstGeom prst="line">
            <a:avLst/>
          </a:prstGeom>
          <a:ln w="9525">
            <a:solidFill>
              <a:srgbClr val="4084F4"/>
            </a:solidFill>
          </a:ln>
        </p:spPr>
      </p:cxnSp>
      <p:sp>
        <p:nvSpPr>
          <p:cNvPr id="136" name="TextBox 135"/>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37" name="Connector 136"/>
          <p:cNvCxnSpPr/>
          <p:nvPr/>
        </p:nvCxnSpPr>
        <p:spPr>
          <a:xfrm>
            <a:off x="5559552" y="905256"/>
            <a:ext cx="0" cy="164592"/>
          </a:xfrm>
          <a:prstGeom prst="line">
            <a:avLst/>
          </a:prstGeom>
          <a:ln w="9525">
            <a:solidFill>
              <a:srgbClr val="4084F4"/>
            </a:solidFill>
          </a:ln>
        </p:spPr>
      </p:cxnSp>
      <p:sp>
        <p:nvSpPr>
          <p:cNvPr id="138" name="TextBox 137"/>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9" name="Connector 138"/>
          <p:cNvCxnSpPr/>
          <p:nvPr/>
        </p:nvCxnSpPr>
        <p:spPr>
          <a:xfrm>
            <a:off x="6784848" y="905256"/>
            <a:ext cx="0" cy="164592"/>
          </a:xfrm>
          <a:prstGeom prst="line">
            <a:avLst/>
          </a:prstGeom>
          <a:ln w="9525">
            <a:solidFill>
              <a:srgbClr val="4084F4"/>
            </a:solidFill>
          </a:ln>
        </p:spPr>
      </p:cxnSp>
      <p:sp>
        <p:nvSpPr>
          <p:cNvPr id="140" name="TextBox 139"/>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41"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계층별 담당자(Owner)를 정해 4명이 병렬로 구축했습니다</a:t>
            </a:r>
          </a:p>
        </p:txBody>
      </p:sp>
      <p:sp>
        <p:nvSpPr>
          <p:cNvPr id="142" name="TextBox 141"/>
          <p:cNvSpPr txBox="1"/>
          <p:nvPr/>
        </p:nvSpPr>
        <p:spPr>
          <a:xfrm>
            <a:off x="704088" y="3200400"/>
            <a:ext cx="1892808" cy="365760"/>
          </a:xfrm>
          <a:prstGeom prst="rect">
            <a:avLst/>
          </a:prstGeom>
          <a:noFill/>
        </p:spPr>
        <p:txBody>
          <a:bodyPr wrap="square" lIns="36576" tIns="18288" rIns="36576" bIns="18288" anchor="ctr">
            <a:noAutofit/>
          </a:bodyPr>
          <a:lstStyle/>
          <a:p>
            <a:pPr algn="ctr">
              <a:spcBef>
                <a:spcPts val="0"/>
              </a:spcBef>
              <a:spcAft>
                <a:spcPts val="0"/>
              </a:spcAft>
              <a:buNone/>
            </a:pPr>
            <a:r>
              <a:rPr sz="1700" b="1" lang="ko-KR">
                <a:solidFill>
                  <a:srgbClr val="1967D2"/>
                </a:solidFill>
                <a:latin typeface="Calibri"/>
                <a:ea typeface="Noto Sans KR"/>
                <a:cs typeface="Calibri"/>
              </a:rPr>
              <a:t>네트워크 · 보안</a:t>
            </a:r>
          </a:p>
        </p:txBody>
      </p:sp>
      <p:sp>
        <p:nvSpPr>
          <p:cNvPr id="143" name="TextBox 142"/>
          <p:cNvSpPr txBox="1"/>
          <p:nvPr/>
        </p:nvSpPr>
        <p:spPr>
          <a:xfrm>
            <a:off x="704088" y="3566160"/>
            <a:ext cx="1892808" cy="274320"/>
          </a:xfrm>
          <a:prstGeom prst="rect">
            <a:avLst/>
          </a:prstGeom>
          <a:noFill/>
        </p:spPr>
        <p:txBody>
          <a:bodyPr wrap="square" lIns="36576" tIns="18288" rIns="36576" bIns="18288" anchor="ctr">
            <a:noAutofit/>
          </a:bodyPr>
          <a:lstStyle/>
          <a:p>
            <a:pPr algn="ctr">
              <a:spcBef>
                <a:spcPts val="0"/>
              </a:spcBef>
              <a:spcAft>
                <a:spcPts val="0"/>
              </a:spcAft>
              <a:buNone/>
            </a:pPr>
            <a:r>
              <a:rPr sz="1250" b="1" lang="ko-KR">
                <a:solidFill>
                  <a:srgbClr val="202124"/>
                </a:solidFill>
                <a:latin typeface="Calibri"/>
                <a:ea typeface="Noto Sans KR"/>
                <a:cs typeface="Calibri"/>
              </a:rPr>
              <a:t>송인아</a:t>
            </a:r>
          </a:p>
        </p:txBody>
      </p:sp>
      <p:sp>
        <p:nvSpPr>
          <p:cNvPr id="144" name="Rounded Rectangle 143"/>
          <p:cNvSpPr/>
          <p:nvPr/>
        </p:nvSpPr>
        <p:spPr>
          <a:xfrm>
            <a:off x="713232" y="3913632"/>
            <a:ext cx="1874520" cy="1078992"/>
          </a:xfrm>
          <a:prstGeom prst="roundRect">
            <a:avLst>
              <a:gd name="adj" fmla="val 8000"/>
            </a:avLst>
          </a:prstGeom>
          <a:solidFill>
            <a:srgbClr val="E8F0FE"/>
          </a:solidFill>
          <a:ln>
            <a:noFill/>
          </a:ln>
        </p:spPr>
        <p:txBody>
          <a:bodyPr rtlCol="0" anchor="ctr" wrap="square" tIns="36576" rIns="36576" bIns="36576"/>
          <a:lstStyle/>
          <a:p>
            <a:pPr algn="l" marL="146304" indent="-146304">
              <a:spcBef>
                <a:spcPts val="0"/>
              </a:spcBef>
              <a:spcAft>
                <a:spcPts val="300"/>
              </a:spcAft>
              <a:buClr>
                <a:srgbClr val="1967D2"/>
              </a:buClr>
              <a:buFont typeface="Arial"/>
              <a:buChar char="•"/>
            </a:pPr>
            <a:r>
              <a:rPr sz="1100" b="0" lang="ko-KR">
                <a:solidFill>
                  <a:srgbClr val="3C4043"/>
                </a:solidFill>
                <a:latin typeface="Calibri"/>
                <a:ea typeface="Noto Sans KR"/>
                <a:cs typeface="Calibri"/>
              </a:rPr>
              <a:t>VPC · 서브넷 · NAT</a:t>
            </a:r>
          </a:p>
          <a:p>
            <a:pPr algn="l" marL="146304" indent="-146304">
              <a:spcBef>
                <a:spcPts val="0"/>
              </a:spcBef>
              <a:spcAft>
                <a:spcPts val="300"/>
              </a:spcAft>
              <a:buClr>
                <a:srgbClr val="1967D2"/>
              </a:buClr>
              <a:buFont typeface="Arial"/>
              <a:buChar char="•"/>
            </a:pPr>
            <a:r>
              <a:rPr sz="1100" b="0" lang="ko-KR">
                <a:solidFill>
                  <a:srgbClr val="3C4043"/>
                </a:solidFill>
                <a:latin typeface="Calibri"/>
                <a:ea typeface="Noto Sans KR"/>
                <a:cs typeface="Calibri"/>
              </a:rPr>
              <a:t>외부 LB · SSL</a:t>
            </a:r>
          </a:p>
          <a:p>
            <a:pPr algn="l" marL="146304" indent="-146304">
              <a:spcBef>
                <a:spcPts val="0"/>
              </a:spcBef>
              <a:spcAft>
                <a:spcPts val="300"/>
              </a:spcAft>
              <a:buClr>
                <a:srgbClr val="1967D2"/>
              </a:buClr>
              <a:buFont typeface="Arial"/>
              <a:buChar char="•"/>
            </a:pPr>
            <a:r>
              <a:rPr sz="1100" b="0" lang="ko-KR">
                <a:solidFill>
                  <a:srgbClr val="3C4043"/>
                </a:solidFill>
                <a:latin typeface="Calibri"/>
                <a:ea typeface="Noto Sans KR"/>
                <a:cs typeface="Calibri"/>
              </a:rPr>
              <a:t>방화벽 · Cloud Armor</a:t>
            </a:r>
          </a:p>
        </p:txBody>
      </p:sp>
      <p:sp>
        <p:nvSpPr>
          <p:cNvPr id="145" name="TextBox 144"/>
          <p:cNvSpPr txBox="1"/>
          <p:nvPr/>
        </p:nvSpPr>
        <p:spPr>
          <a:xfrm>
            <a:off x="2651760" y="3200400"/>
            <a:ext cx="1892808" cy="365760"/>
          </a:xfrm>
          <a:prstGeom prst="rect">
            <a:avLst/>
          </a:prstGeom>
          <a:noFill/>
        </p:spPr>
        <p:txBody>
          <a:bodyPr wrap="square" lIns="36576" tIns="18288" rIns="36576" bIns="18288" anchor="ctr">
            <a:noAutofit/>
          </a:bodyPr>
          <a:lstStyle/>
          <a:p>
            <a:pPr algn="ctr">
              <a:spcBef>
                <a:spcPts val="0"/>
              </a:spcBef>
              <a:spcAft>
                <a:spcPts val="0"/>
              </a:spcAft>
              <a:buNone/>
            </a:pPr>
            <a:r>
              <a:rPr sz="1700" b="1" lang="ko-KR">
                <a:solidFill>
                  <a:srgbClr val="188038"/>
                </a:solidFill>
                <a:latin typeface="Calibri"/>
                <a:ea typeface="Noto Sans KR"/>
                <a:cs typeface="Calibri"/>
              </a:rPr>
              <a:t>WEB</a:t>
            </a:r>
          </a:p>
        </p:txBody>
      </p:sp>
      <p:sp>
        <p:nvSpPr>
          <p:cNvPr id="146" name="TextBox 145"/>
          <p:cNvSpPr txBox="1"/>
          <p:nvPr/>
        </p:nvSpPr>
        <p:spPr>
          <a:xfrm>
            <a:off x="2651760" y="3566160"/>
            <a:ext cx="1892808" cy="274320"/>
          </a:xfrm>
          <a:prstGeom prst="rect">
            <a:avLst/>
          </a:prstGeom>
          <a:noFill/>
        </p:spPr>
        <p:txBody>
          <a:bodyPr wrap="square" lIns="36576" tIns="18288" rIns="36576" bIns="18288" anchor="ctr">
            <a:noAutofit/>
          </a:bodyPr>
          <a:lstStyle/>
          <a:p>
            <a:pPr algn="ctr">
              <a:spcBef>
                <a:spcPts val="0"/>
              </a:spcBef>
              <a:spcAft>
                <a:spcPts val="0"/>
              </a:spcAft>
              <a:buNone/>
            </a:pPr>
            <a:r>
              <a:rPr sz="1250" b="1" lang="ko-KR">
                <a:solidFill>
                  <a:srgbClr val="202124"/>
                </a:solidFill>
                <a:latin typeface="Calibri"/>
                <a:ea typeface="Noto Sans KR"/>
                <a:cs typeface="Calibri"/>
              </a:rPr>
              <a:t>채정훈</a:t>
            </a:r>
          </a:p>
        </p:txBody>
      </p:sp>
      <p:sp>
        <p:nvSpPr>
          <p:cNvPr id="147" name="Rounded Rectangle 146"/>
          <p:cNvSpPr/>
          <p:nvPr/>
        </p:nvSpPr>
        <p:spPr>
          <a:xfrm>
            <a:off x="2660904" y="3913632"/>
            <a:ext cx="1874520" cy="1078992"/>
          </a:xfrm>
          <a:prstGeom prst="roundRect">
            <a:avLst>
              <a:gd name="adj" fmla="val 8000"/>
            </a:avLst>
          </a:prstGeom>
          <a:solidFill>
            <a:srgbClr val="E6F4EA"/>
          </a:solidFill>
          <a:ln>
            <a:noFill/>
          </a:ln>
        </p:spPr>
        <p:txBody>
          <a:bodyPr rtlCol="0" anchor="ctr" wrap="square" tIns="36576" rIns="36576" bIns="36576"/>
          <a:lstStyle/>
          <a:p>
            <a:pPr algn="l" marL="146304" indent="-146304">
              <a:spcBef>
                <a:spcPts val="0"/>
              </a:spcBef>
              <a:spcAft>
                <a:spcPts val="300"/>
              </a:spcAft>
              <a:buClr>
                <a:srgbClr val="188038"/>
              </a:buClr>
              <a:buFont typeface="Arial"/>
              <a:buChar char="•"/>
            </a:pPr>
            <a:r>
              <a:rPr sz="1100" b="0" lang="ko-KR">
                <a:solidFill>
                  <a:srgbClr val="3C4043"/>
                </a:solidFill>
                <a:latin typeface="Calibri"/>
                <a:ea typeface="Noto Sans KR"/>
                <a:cs typeface="Calibri"/>
              </a:rPr>
              <a:t>Apache WEB MIG</a:t>
            </a:r>
          </a:p>
          <a:p>
            <a:pPr algn="l" marL="146304" indent="-146304">
              <a:spcBef>
                <a:spcPts val="0"/>
              </a:spcBef>
              <a:spcAft>
                <a:spcPts val="300"/>
              </a:spcAft>
              <a:buClr>
                <a:srgbClr val="188038"/>
              </a:buClr>
              <a:buFont typeface="Arial"/>
              <a:buChar char="•"/>
            </a:pPr>
            <a:r>
              <a:rPr sz="1100" b="0" lang="ko-KR">
                <a:solidFill>
                  <a:srgbClr val="3C4043"/>
                </a:solidFill>
                <a:latin typeface="Calibri"/>
                <a:ea typeface="Noto Sans KR"/>
                <a:cs typeface="Calibri"/>
              </a:rPr>
              <a:t>내부 LB · 프록시</a:t>
            </a:r>
          </a:p>
          <a:p>
            <a:pPr algn="l" marL="146304" indent="-146304">
              <a:spcBef>
                <a:spcPts val="0"/>
              </a:spcBef>
              <a:spcAft>
                <a:spcPts val="300"/>
              </a:spcAft>
              <a:buClr>
                <a:srgbClr val="188038"/>
              </a:buClr>
              <a:buFont typeface="Arial"/>
              <a:buChar char="•"/>
            </a:pPr>
            <a:r>
              <a:rPr sz="1100" b="0" lang="ko-KR">
                <a:solidFill>
                  <a:srgbClr val="3C4043"/>
                </a:solidFill>
                <a:latin typeface="Calibri"/>
                <a:ea typeface="Noto Sans KR"/>
                <a:cs typeface="Calibri"/>
              </a:rPr>
              <a:t>Cloud CDN · DNS</a:t>
            </a:r>
          </a:p>
        </p:txBody>
      </p:sp>
      <p:sp>
        <p:nvSpPr>
          <p:cNvPr id="148" name="TextBox 147"/>
          <p:cNvSpPr txBox="1"/>
          <p:nvPr/>
        </p:nvSpPr>
        <p:spPr>
          <a:xfrm>
            <a:off x="4608576" y="3200400"/>
            <a:ext cx="1892808" cy="365760"/>
          </a:xfrm>
          <a:prstGeom prst="rect">
            <a:avLst/>
          </a:prstGeom>
          <a:noFill/>
        </p:spPr>
        <p:txBody>
          <a:bodyPr wrap="square" lIns="36576" tIns="18288" rIns="36576" bIns="18288" anchor="ctr">
            <a:noAutofit/>
          </a:bodyPr>
          <a:lstStyle/>
          <a:p>
            <a:pPr algn="ctr">
              <a:spcBef>
                <a:spcPts val="0"/>
              </a:spcBef>
              <a:spcAft>
                <a:spcPts val="0"/>
              </a:spcAft>
              <a:buNone/>
            </a:pPr>
            <a:r>
              <a:rPr sz="1700" b="1" lang="ko-KR">
                <a:solidFill>
                  <a:srgbClr val="B06000"/>
                </a:solidFill>
                <a:latin typeface="Calibri"/>
                <a:ea typeface="Noto Sans KR"/>
                <a:cs typeface="Calibri"/>
              </a:rPr>
              <a:t>WAS</a:t>
            </a:r>
          </a:p>
        </p:txBody>
      </p:sp>
      <p:sp>
        <p:nvSpPr>
          <p:cNvPr id="149" name="TextBox 148"/>
          <p:cNvSpPr txBox="1"/>
          <p:nvPr/>
        </p:nvSpPr>
        <p:spPr>
          <a:xfrm>
            <a:off x="4608576" y="3566160"/>
            <a:ext cx="1892808" cy="274320"/>
          </a:xfrm>
          <a:prstGeom prst="rect">
            <a:avLst/>
          </a:prstGeom>
          <a:noFill/>
        </p:spPr>
        <p:txBody>
          <a:bodyPr wrap="square" lIns="36576" tIns="18288" rIns="36576" bIns="18288" anchor="ctr">
            <a:noAutofit/>
          </a:bodyPr>
          <a:lstStyle/>
          <a:p>
            <a:pPr algn="ctr">
              <a:spcBef>
                <a:spcPts val="0"/>
              </a:spcBef>
              <a:spcAft>
                <a:spcPts val="0"/>
              </a:spcAft>
              <a:buNone/>
            </a:pPr>
            <a:r>
              <a:rPr sz="1250" b="1" lang="ko-KR">
                <a:solidFill>
                  <a:srgbClr val="202124"/>
                </a:solidFill>
                <a:latin typeface="Calibri"/>
                <a:ea typeface="Noto Sans KR"/>
                <a:cs typeface="Calibri"/>
              </a:rPr>
              <a:t>김성현 (팀장)</a:t>
            </a:r>
          </a:p>
        </p:txBody>
      </p:sp>
      <p:sp>
        <p:nvSpPr>
          <p:cNvPr id="150" name="Rounded Rectangle 149"/>
          <p:cNvSpPr/>
          <p:nvPr/>
        </p:nvSpPr>
        <p:spPr>
          <a:xfrm>
            <a:off x="4617720" y="3913632"/>
            <a:ext cx="1874520" cy="1078992"/>
          </a:xfrm>
          <a:prstGeom prst="roundRect">
            <a:avLst>
              <a:gd name="adj" fmla="val 8000"/>
            </a:avLst>
          </a:prstGeom>
          <a:solidFill>
            <a:srgbClr val="FEF7E0"/>
          </a:solidFill>
          <a:ln>
            <a:noFill/>
          </a:ln>
        </p:spPr>
        <p:txBody>
          <a:bodyPr rtlCol="0" anchor="ctr" wrap="square" tIns="36576" rIns="36576" bIns="36576"/>
          <a:lstStyle/>
          <a:p>
            <a:pPr algn="l" marL="146304" indent="-146304">
              <a:spcBef>
                <a:spcPts val="0"/>
              </a:spcBef>
              <a:spcAft>
                <a:spcPts val="300"/>
              </a:spcAft>
              <a:buClr>
                <a:srgbClr val="B06000"/>
              </a:buClr>
              <a:buFont typeface="Arial"/>
              <a:buChar char="•"/>
            </a:pPr>
            <a:r>
              <a:rPr sz="1100" b="0" lang="ko-KR">
                <a:solidFill>
                  <a:srgbClr val="3C4043"/>
                </a:solidFill>
                <a:latin typeface="Calibri"/>
                <a:ea typeface="Noto Sans KR"/>
                <a:cs typeface="Calibri"/>
              </a:rPr>
              <a:t>Tomcat WAS MIG</a:t>
            </a:r>
          </a:p>
          <a:p>
            <a:pPr algn="l" marL="146304" indent="-146304">
              <a:spcBef>
                <a:spcPts val="0"/>
              </a:spcBef>
              <a:spcAft>
                <a:spcPts val="300"/>
              </a:spcAft>
              <a:buClr>
                <a:srgbClr val="B06000"/>
              </a:buClr>
              <a:buFont typeface="Arial"/>
              <a:buChar char="•"/>
            </a:pPr>
            <a:r>
              <a:rPr sz="1100" b="0" lang="ko-KR">
                <a:solidFill>
                  <a:srgbClr val="3C4043"/>
                </a:solidFill>
                <a:latin typeface="Calibri"/>
                <a:ea typeface="Noto Sans KR"/>
                <a:cs typeface="Calibri"/>
              </a:rPr>
              <a:t>골든 이미지 · 배포</a:t>
            </a:r>
          </a:p>
          <a:p>
            <a:pPr algn="l" marL="146304" indent="-146304">
              <a:spcBef>
                <a:spcPts val="0"/>
              </a:spcBef>
              <a:spcAft>
                <a:spcPts val="300"/>
              </a:spcAft>
              <a:buClr>
                <a:srgbClr val="B06000"/>
              </a:buClr>
              <a:buFont typeface="Arial"/>
              <a:buChar char="•"/>
            </a:pPr>
            <a:r>
              <a:rPr sz="1100" b="0" lang="ko-KR">
                <a:solidFill>
                  <a:srgbClr val="3C4043"/>
                </a:solidFill>
                <a:latin typeface="Calibri"/>
                <a:ea typeface="Noto Sans KR"/>
                <a:cs typeface="Calibri"/>
              </a:rPr>
              <a:t>Ops Agent · JVM 지표</a:t>
            </a:r>
          </a:p>
        </p:txBody>
      </p:sp>
      <p:sp>
        <p:nvSpPr>
          <p:cNvPr id="151" name="TextBox 150"/>
          <p:cNvSpPr txBox="1"/>
          <p:nvPr/>
        </p:nvSpPr>
        <p:spPr>
          <a:xfrm>
            <a:off x="6556248" y="3200400"/>
            <a:ext cx="1892808" cy="365760"/>
          </a:xfrm>
          <a:prstGeom prst="rect">
            <a:avLst/>
          </a:prstGeom>
          <a:noFill/>
        </p:spPr>
        <p:txBody>
          <a:bodyPr wrap="square" lIns="36576" tIns="18288" rIns="36576" bIns="18288" anchor="ctr">
            <a:noAutofit/>
          </a:bodyPr>
          <a:lstStyle/>
          <a:p>
            <a:pPr algn="ctr">
              <a:spcBef>
                <a:spcPts val="0"/>
              </a:spcBef>
              <a:spcAft>
                <a:spcPts val="0"/>
              </a:spcAft>
              <a:buNone/>
            </a:pPr>
            <a:r>
              <a:rPr sz="1700" b="1" lang="ko-KR">
                <a:solidFill>
                  <a:srgbClr val="C5221F"/>
                </a:solidFill>
                <a:latin typeface="Calibri"/>
                <a:ea typeface="Noto Sans KR"/>
                <a:cs typeface="Calibri"/>
              </a:rPr>
              <a:t>DB · 운영</a:t>
            </a:r>
          </a:p>
        </p:txBody>
      </p:sp>
      <p:sp>
        <p:nvSpPr>
          <p:cNvPr id="152" name="TextBox 151"/>
          <p:cNvSpPr txBox="1"/>
          <p:nvPr/>
        </p:nvSpPr>
        <p:spPr>
          <a:xfrm>
            <a:off x="6556248" y="3566160"/>
            <a:ext cx="1892808" cy="274320"/>
          </a:xfrm>
          <a:prstGeom prst="rect">
            <a:avLst/>
          </a:prstGeom>
          <a:noFill/>
        </p:spPr>
        <p:txBody>
          <a:bodyPr wrap="square" lIns="36576" tIns="18288" rIns="36576" bIns="18288" anchor="ctr">
            <a:noAutofit/>
          </a:bodyPr>
          <a:lstStyle/>
          <a:p>
            <a:pPr algn="ctr">
              <a:spcBef>
                <a:spcPts val="0"/>
              </a:spcBef>
              <a:spcAft>
                <a:spcPts val="0"/>
              </a:spcAft>
              <a:buNone/>
            </a:pPr>
            <a:r>
              <a:rPr sz="1250" b="1" lang="ko-KR">
                <a:solidFill>
                  <a:srgbClr val="202124"/>
                </a:solidFill>
                <a:latin typeface="Calibri"/>
                <a:ea typeface="Noto Sans KR"/>
                <a:cs typeface="Calibri"/>
              </a:rPr>
              <a:t>김민성</a:t>
            </a:r>
          </a:p>
        </p:txBody>
      </p:sp>
      <p:sp>
        <p:nvSpPr>
          <p:cNvPr id="153" name="Rounded Rectangle 152"/>
          <p:cNvSpPr/>
          <p:nvPr/>
        </p:nvSpPr>
        <p:spPr>
          <a:xfrm>
            <a:off x="6565392" y="3913632"/>
            <a:ext cx="1874520" cy="1078992"/>
          </a:xfrm>
          <a:prstGeom prst="roundRect">
            <a:avLst>
              <a:gd name="adj" fmla="val 8000"/>
            </a:avLst>
          </a:prstGeom>
          <a:solidFill>
            <a:srgbClr val="FCE8E6"/>
          </a:solidFill>
          <a:ln>
            <a:noFill/>
          </a:ln>
        </p:spPr>
        <p:txBody>
          <a:bodyPr rtlCol="0" anchor="ctr" wrap="square" tIns="36576" rIns="36576" bIns="36576"/>
          <a:lstStyle/>
          <a:p>
            <a:pPr algn="l" marL="146304" indent="-146304">
              <a:spcBef>
                <a:spcPts val="0"/>
              </a:spcBef>
              <a:spcAft>
                <a:spcPts val="300"/>
              </a:spcAft>
              <a:buClr>
                <a:srgbClr val="C5221F"/>
              </a:buClr>
              <a:buFont typeface="Arial"/>
              <a:buChar char="•"/>
            </a:pPr>
            <a:r>
              <a:rPr sz="1100" b="0" lang="ko-KR">
                <a:solidFill>
                  <a:srgbClr val="3C4043"/>
                </a:solidFill>
                <a:latin typeface="Calibri"/>
                <a:ea typeface="Noto Sans KR"/>
                <a:cs typeface="Calibri"/>
              </a:rPr>
              <a:t>Cloud SQL HA · PSC</a:t>
            </a:r>
          </a:p>
          <a:p>
            <a:pPr algn="l" marL="146304" indent="-146304">
              <a:spcBef>
                <a:spcPts val="0"/>
              </a:spcBef>
              <a:spcAft>
                <a:spcPts val="300"/>
              </a:spcAft>
              <a:buClr>
                <a:srgbClr val="C5221F"/>
              </a:buClr>
              <a:buFont typeface="Arial"/>
              <a:buChar char="•"/>
            </a:pPr>
            <a:r>
              <a:rPr sz="1100" b="0" lang="ko-KR">
                <a:solidFill>
                  <a:srgbClr val="3C4043"/>
                </a:solidFill>
                <a:latin typeface="Calibri"/>
                <a:ea typeface="Noto Sans KR"/>
                <a:cs typeface="Calibri"/>
              </a:rPr>
              <a:t>백업 · PITR · 이관</a:t>
            </a:r>
          </a:p>
          <a:p>
            <a:pPr algn="l" marL="146304" indent="-146304">
              <a:spcBef>
                <a:spcPts val="0"/>
              </a:spcBef>
              <a:spcAft>
                <a:spcPts val="300"/>
              </a:spcAft>
              <a:buClr>
                <a:srgbClr val="C5221F"/>
              </a:buClr>
              <a:buFont typeface="Arial"/>
              <a:buChar char="•"/>
            </a:pPr>
            <a:r>
              <a:rPr sz="1100" b="0" lang="ko-KR">
                <a:solidFill>
                  <a:srgbClr val="3C4043"/>
                </a:solidFill>
                <a:latin typeface="Calibri"/>
                <a:ea typeface="Noto Sans KR"/>
                <a:cs typeface="Calibri"/>
              </a:rPr>
              <a:t>모니터링 · 알림</a:t>
            </a:r>
          </a:p>
        </p:txBody>
      </p:sp>
      <p:sp>
        <p:nvSpPr>
          <p:cNvPr id="154" name="Rounded Rectangle 153"/>
          <p:cNvSpPr/>
          <p:nvPr/>
        </p:nvSpPr>
        <p:spPr>
          <a:xfrm>
            <a:off x="749808" y="5212080"/>
            <a:ext cx="7653528" cy="932688"/>
          </a:xfrm>
          <a:prstGeom prst="roundRect">
            <a:avLst>
              <a:gd name="adj" fmla="val 8000"/>
            </a:avLst>
          </a:prstGeom>
          <a:solidFill>
            <a:srgbClr val="F8F9FA"/>
          </a:solidFill>
          <a:ln w="9525">
            <a:solidFill>
              <a:srgbClr val="DADCE0"/>
            </a:solidFill>
          </a:ln>
        </p:spPr>
        <p:txBody>
          <a:bodyPr rtlCol="0" anchor="ctr" wrap="square" lIns="73152" rIns="73152"/>
          <a:lstStyle/>
          <a:p>
            <a:pPr algn="ctr"/>
          </a:p>
        </p:txBody>
      </p:sp>
      <p:sp>
        <p:nvSpPr>
          <p:cNvPr id="155" name="TextBox 154"/>
          <p:cNvSpPr txBox="1"/>
          <p:nvPr/>
        </p:nvSpPr>
        <p:spPr>
          <a:xfrm>
            <a:off x="868680" y="5266944"/>
            <a:ext cx="960120" cy="822960"/>
          </a:xfrm>
          <a:prstGeom prst="rect">
            <a:avLst/>
          </a:prstGeom>
          <a:noFill/>
        </p:spPr>
        <p:txBody>
          <a:bodyPr wrap="square" lIns="36576" tIns="18288" rIns="36576" bIns="18288" anchor="ctr">
            <a:noAutofit/>
          </a:bodyPr>
          <a:lstStyle/>
          <a:p>
            <a:pPr algn="l">
              <a:spcBef>
                <a:spcPts val="0"/>
              </a:spcBef>
              <a:spcAft>
                <a:spcPts val="0"/>
              </a:spcAft>
              <a:buNone/>
            </a:pPr>
            <a:r>
              <a:rPr sz="1250" b="1" lang="ko-KR">
                <a:solidFill>
                  <a:srgbClr val="202124"/>
                </a:solidFill>
                <a:latin typeface="Calibri"/>
                <a:ea typeface="Noto Sans KR"/>
                <a:cs typeface="Calibri"/>
              </a:rPr>
              <a:t>협업 방식</a:t>
            </a:r>
          </a:p>
        </p:txBody>
      </p:sp>
      <p:sp>
        <p:nvSpPr>
          <p:cNvPr id="156" name="TextBox 155"/>
          <p:cNvSpPr txBox="1"/>
          <p:nvPr/>
        </p:nvSpPr>
        <p:spPr>
          <a:xfrm>
            <a:off x="1847088" y="5303520"/>
            <a:ext cx="2029968" cy="768096"/>
          </a:xfrm>
          <a:prstGeom prst="rect">
            <a:avLst/>
          </a:prstGeom>
          <a:noFill/>
        </p:spPr>
        <p:txBody>
          <a:bodyPr wrap="square" lIns="36576" tIns="18288" rIns="36576" bIns="18288" anchor="ctr">
            <a:noAutofit/>
          </a:bodyPr>
          <a:lstStyle/>
          <a:p>
            <a:pPr algn="l">
              <a:spcBef>
                <a:spcPts val="0"/>
              </a:spcBef>
              <a:spcAft>
                <a:spcPts val="0"/>
              </a:spcAft>
              <a:buNone/>
            </a:pPr>
            <a:r>
              <a:rPr sz="1150" b="1" lang="ko-KR">
                <a:solidFill>
                  <a:srgbClr val="1967D2"/>
                </a:solidFill>
                <a:latin typeface="Calibri"/>
                <a:ea typeface="Noto Sans KR"/>
                <a:cs typeface="Calibri"/>
              </a:rPr>
              <a:t>① 인터페이스 먼저 고정</a:t>
            </a:r>
          </a:p>
          <a:p>
            <a:pPr algn="l">
              <a:spcBef>
                <a:spcPts val="0"/>
              </a:spcBef>
              <a:spcAft>
                <a:spcPts val="0"/>
              </a:spcAft>
              <a:buNone/>
            </a:pPr>
            <a:r>
              <a:rPr sz="1050" b="0" lang="ko-KR">
                <a:solidFill>
                  <a:srgbClr val="5F6368"/>
                </a:solidFill>
                <a:latin typeface="Calibri"/>
                <a:ea typeface="Noto Sans KR"/>
                <a:cs typeface="Calibri"/>
              </a:rPr>
              <a:t>포트 · 헬스체크 · DB 접속정보</a:t>
            </a:r>
          </a:p>
        </p:txBody>
      </p:sp>
      <p:cxnSp>
        <p:nvCxnSpPr>
          <p:cNvPr id="157" name="Connector 156"/>
          <p:cNvCxnSpPr/>
          <p:nvPr/>
        </p:nvCxnSpPr>
        <p:spPr>
          <a:xfrm>
            <a:off x="3840480" y="5687568"/>
            <a:ext cx="164592" cy="0"/>
          </a:xfrm>
          <a:prstGeom prst="line">
            <a:avLst/>
          </a:prstGeom>
          <a:ln w="15875">
            <a:solidFill>
              <a:srgbClr val="9AA0A6"/>
            </a:solidFill>
            <a:tailEnd type="triangle" w="med" len="med"/>
          </a:ln>
        </p:spPr>
      </p:cxnSp>
      <p:sp>
        <p:nvSpPr>
          <p:cNvPr id="158" name="TextBox 157"/>
          <p:cNvSpPr txBox="1"/>
          <p:nvPr/>
        </p:nvSpPr>
        <p:spPr>
          <a:xfrm>
            <a:off x="4041648" y="5303520"/>
            <a:ext cx="2029968" cy="768096"/>
          </a:xfrm>
          <a:prstGeom prst="rect">
            <a:avLst/>
          </a:prstGeom>
          <a:noFill/>
        </p:spPr>
        <p:txBody>
          <a:bodyPr wrap="square" lIns="36576" tIns="18288" rIns="36576" bIns="18288" anchor="ctr">
            <a:noAutofit/>
          </a:bodyPr>
          <a:lstStyle/>
          <a:p>
            <a:pPr algn="l">
              <a:spcBef>
                <a:spcPts val="0"/>
              </a:spcBef>
              <a:spcAft>
                <a:spcPts val="0"/>
              </a:spcAft>
              <a:buNone/>
            </a:pPr>
            <a:r>
              <a:rPr sz="1150" b="1" lang="ko-KR">
                <a:solidFill>
                  <a:srgbClr val="1967D2"/>
                </a:solidFill>
                <a:latin typeface="Calibri"/>
                <a:ea typeface="Noto Sans KR"/>
                <a:cs typeface="Calibri"/>
              </a:rPr>
              <a:t>② 계층별 병렬 구축</a:t>
            </a:r>
          </a:p>
          <a:p>
            <a:pPr algn="l">
              <a:spcBef>
                <a:spcPts val="0"/>
              </a:spcBef>
              <a:spcAft>
                <a:spcPts val="0"/>
              </a:spcAft>
              <a:buNone/>
            </a:pPr>
            <a:r>
              <a:rPr sz="1050" b="0" lang="ko-KR">
                <a:solidFill>
                  <a:srgbClr val="5F6368"/>
                </a:solidFill>
                <a:latin typeface="Calibri"/>
                <a:ea typeface="Noto Sans KR"/>
                <a:cs typeface="Calibri"/>
              </a:rPr>
              <a:t>담당자가 자기 계층을 끝까지</a:t>
            </a:r>
          </a:p>
        </p:txBody>
      </p:sp>
      <p:cxnSp>
        <p:nvCxnSpPr>
          <p:cNvPr id="159" name="Connector 158"/>
          <p:cNvCxnSpPr/>
          <p:nvPr/>
        </p:nvCxnSpPr>
        <p:spPr>
          <a:xfrm>
            <a:off x="6035040" y="5687568"/>
            <a:ext cx="164592" cy="0"/>
          </a:xfrm>
          <a:prstGeom prst="line">
            <a:avLst/>
          </a:prstGeom>
          <a:ln w="15875">
            <a:solidFill>
              <a:srgbClr val="9AA0A6"/>
            </a:solidFill>
            <a:tailEnd type="triangle" w="med" len="med"/>
          </a:ln>
        </p:spPr>
      </p:cxnSp>
      <p:sp>
        <p:nvSpPr>
          <p:cNvPr id="160" name="TextBox 159"/>
          <p:cNvSpPr txBox="1"/>
          <p:nvPr/>
        </p:nvSpPr>
        <p:spPr>
          <a:xfrm>
            <a:off x="6236208" y="5303520"/>
            <a:ext cx="2029968" cy="768096"/>
          </a:xfrm>
          <a:prstGeom prst="rect">
            <a:avLst/>
          </a:prstGeom>
          <a:noFill/>
        </p:spPr>
        <p:txBody>
          <a:bodyPr wrap="square" lIns="36576" tIns="18288" rIns="36576" bIns="18288" anchor="ctr">
            <a:noAutofit/>
          </a:bodyPr>
          <a:lstStyle/>
          <a:p>
            <a:pPr algn="l">
              <a:spcBef>
                <a:spcPts val="0"/>
              </a:spcBef>
              <a:spcAft>
                <a:spcPts val="0"/>
              </a:spcAft>
              <a:buNone/>
            </a:pPr>
            <a:r>
              <a:rPr sz="1150" b="1" lang="ko-KR">
                <a:solidFill>
                  <a:srgbClr val="1967D2"/>
                </a:solidFill>
                <a:latin typeface="Calibri"/>
                <a:ea typeface="Noto Sans KR"/>
                <a:cs typeface="Calibri"/>
              </a:rPr>
              <a:t>③ 안쪽부터 연결·검증</a:t>
            </a:r>
          </a:p>
          <a:p>
            <a:pPr algn="l">
              <a:spcBef>
                <a:spcPts val="0"/>
              </a:spcBef>
              <a:spcAft>
                <a:spcPts val="0"/>
              </a:spcAft>
              <a:buNone/>
            </a:pPr>
            <a:r>
              <a:rPr sz="1050" b="0" lang="ko-KR">
                <a:solidFill>
                  <a:srgbClr val="5F6368"/>
                </a:solidFill>
                <a:latin typeface="Calibri"/>
                <a:ea typeface="Noto Sans KR"/>
                <a:cs typeface="Calibri"/>
              </a:rPr>
              <a:t>DB → WAS → 내부 LB → WEB</a:t>
            </a:r>
          </a:p>
        </p:txBody>
      </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1" name="Shape 531"/>
        <p:cNvGrpSpPr/>
        <p:nvPr/>
      </p:nvGrpSpPr>
      <p:grpSpPr>
        <a:xfrm>
          <a:off x="0" y="0"/>
          <a:ext cx="0" cy="0"/>
          <a:chOff x="0" y="0"/>
          <a:chExt cx="0" cy="0"/>
        </a:xfrm>
      </p:grpSpPr>
      <p:sp>
        <p:nvSpPr>
          <p:cNvPr id="532" name="Google Shape;532;p18"/>
          <p:cNvSpPr/>
          <p:nvPr/>
        </p:nvSpPr>
        <p:spPr>
          <a:xfrm>
            <a:off x="2122397" y="2546431"/>
            <a:ext cx="5000263" cy="27978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200">
              <a:solidFill>
                <a:schemeClr val="lt1"/>
              </a:solidFill>
              <a:latin typeface="Calibri"/>
              <a:ea typeface="Calibri"/>
              <a:cs typeface="Calibri"/>
              <a:sym typeface="Calibri"/>
            </a:endParaRPr>
          </a:p>
        </p:txBody>
      </p:sp>
      <p:sp>
        <p:nvSpPr>
          <p:cNvPr id="533" name="Google Shape;533;p18"/>
          <p:cNvSpPr/>
          <p:nvPr/>
        </p:nvSpPr>
        <p:spPr>
          <a:xfrm>
            <a:off x="2558550" y="2760925"/>
            <a:ext cx="4026900" cy="9999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3800">
                <a:solidFill>
                  <a:srgbClr val="474A5D"/>
                </a:solidFill>
                <a:latin typeface="Calibri"/>
                <a:ea typeface="Calibri"/>
                <a:cs typeface="Calibri"/>
                <a:sym typeface="Calibri"/>
              </a:rPr>
              <a:t>QnA</a:t>
            </a:r>
            <a:endParaRPr sz="13800">
              <a:solidFill>
                <a:srgbClr val="474A5D"/>
              </a:solidFill>
              <a:latin typeface="Calibri"/>
              <a:ea typeface="Calibri"/>
              <a:cs typeface="Calibri"/>
              <a:sym typeface="Calibri"/>
            </a:endParaRPr>
          </a:p>
        </p:txBody>
      </p:sp>
      <p:cxnSp>
        <p:nvCxnSpPr>
          <p:cNvPr id="534" name="Google Shape;534;p18"/>
          <p:cNvCxnSpPr/>
          <p:nvPr/>
        </p:nvCxnSpPr>
        <p:spPr>
          <a:xfrm>
            <a:off x="2944139" y="4192929"/>
            <a:ext cx="3255600" cy="0"/>
          </a:xfrm>
          <a:prstGeom prst="straightConnector1">
            <a:avLst/>
          </a:prstGeom>
          <a:noFill/>
          <a:ln cap="flat" cmpd="sng" w="19050">
            <a:solidFill>
              <a:srgbClr val="757993">
                <a:alpha val="38824"/>
              </a:srgbClr>
            </a:solidFill>
            <a:prstDash val="dot"/>
            <a:miter lim="8000"/>
            <a:headEnd len="sm" w="sm" type="none"/>
            <a:tailEnd len="sm" w="sm" type="none"/>
          </a:ln>
        </p:spPr>
      </p:cxn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blipFill>
          <a:blip r:embed="rId3">
            <a:alphaModFix/>
          </a:blip>
          <a:stretch>
            <a:fillRect/>
          </a:stretch>
        </a:blipFill>
      </p:bgPr>
    </p:bg>
    <p:spTree>
      <p:nvGrpSpPr>
        <p:cNvPr id="538" name="Shape 538"/>
        <p:cNvGrpSpPr/>
        <p:nvPr/>
      </p:nvGrpSpPr>
      <p:grpSpPr>
        <a:xfrm>
          <a:off x="0" y="0"/>
          <a:ext cx="0" cy="0"/>
          <a:chOff x="0" y="0"/>
          <a:chExt cx="0" cy="0"/>
        </a:xfrm>
      </p:grpSpPr>
      <p:sp>
        <p:nvSpPr>
          <p:cNvPr id="539" name="Google Shape;539;p19"/>
          <p:cNvSpPr/>
          <p:nvPr/>
        </p:nvSpPr>
        <p:spPr>
          <a:xfrm>
            <a:off x="2122397" y="2546431"/>
            <a:ext cx="5000263" cy="27978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200">
              <a:solidFill>
                <a:schemeClr val="lt1"/>
              </a:solidFill>
              <a:latin typeface="Calibri"/>
              <a:ea typeface="Calibri"/>
              <a:cs typeface="Calibri"/>
              <a:sym typeface="Calibri"/>
            </a:endParaRPr>
          </a:p>
        </p:txBody>
      </p:sp>
      <p:sp>
        <p:nvSpPr>
          <p:cNvPr id="540" name="Google Shape;540;p19"/>
          <p:cNvSpPr/>
          <p:nvPr/>
        </p:nvSpPr>
        <p:spPr>
          <a:xfrm>
            <a:off x="1615650" y="2801102"/>
            <a:ext cx="5912700" cy="5853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rPr lang="ko-KR" sz="13800">
                <a:solidFill>
                  <a:srgbClr val="474A5D"/>
                </a:solidFill>
                <a:latin typeface="Calibri"/>
                <a:ea typeface="Calibri"/>
                <a:cs typeface="Calibri"/>
                <a:sym typeface="Calibri"/>
              </a:rPr>
              <a:t>Thanks</a:t>
            </a:r>
            <a:endParaRPr sz="13800">
              <a:solidFill>
                <a:srgbClr val="474A5D"/>
              </a:solidFill>
              <a:latin typeface="Calibri"/>
              <a:ea typeface="Calibri"/>
              <a:cs typeface="Calibri"/>
              <a:sym typeface="Calibri"/>
            </a:endParaRPr>
          </a:p>
        </p:txBody>
      </p:sp>
      <p:sp>
        <p:nvSpPr>
          <p:cNvPr id="541" name="Google Shape;541;p19"/>
          <p:cNvSpPr/>
          <p:nvPr/>
        </p:nvSpPr>
        <p:spPr>
          <a:xfrm>
            <a:off x="2939866" y="3713154"/>
            <a:ext cx="3441269" cy="1631114"/>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542" name="Google Shape;542;p19"/>
          <p:cNvSpPr/>
          <p:nvPr/>
        </p:nvSpPr>
        <p:spPr>
          <a:xfrm>
            <a:off x="3396599" y="4125827"/>
            <a:ext cx="2350800" cy="25170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ko-KR" sz="1200">
                <a:solidFill>
                  <a:srgbClr val="474A5D"/>
                </a:solidFill>
                <a:latin typeface="Calibri"/>
                <a:ea typeface="Calibri"/>
                <a:cs typeface="Calibri"/>
                <a:sym typeface="Calibri"/>
              </a:rPr>
              <a:t>경청해 주셔서 감사합니다</a:t>
            </a:r>
            <a:endParaRPr sz="1200">
              <a:solidFill>
                <a:schemeClr val="dk1"/>
              </a:solidFill>
              <a:latin typeface="Calibri"/>
              <a:ea typeface="Calibri"/>
              <a:cs typeface="Calibri"/>
              <a:sym typeface="Calibri"/>
            </a:endParaRPr>
          </a:p>
        </p:txBody>
      </p:sp>
      <p:cxnSp>
        <p:nvCxnSpPr>
          <p:cNvPr id="543" name="Google Shape;543;p19"/>
          <p:cNvCxnSpPr/>
          <p:nvPr/>
        </p:nvCxnSpPr>
        <p:spPr>
          <a:xfrm>
            <a:off x="2944139" y="4086281"/>
            <a:ext cx="3255600" cy="0"/>
          </a:xfrm>
          <a:prstGeom prst="straightConnector1">
            <a:avLst/>
          </a:prstGeom>
          <a:noFill/>
          <a:ln cap="flat" cmpd="sng" w="19050">
            <a:solidFill>
              <a:srgbClr val="757993">
                <a:alpha val="38824"/>
              </a:srgbClr>
            </a:solidFill>
            <a:prstDash val="dot"/>
            <a:miter lim="8000"/>
            <a:headEnd len="sm" w="sm" type="none"/>
            <a:tailEnd len="sm" w="sm" type="none"/>
          </a:ln>
        </p:spPr>
      </p:cxn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pic>
        <p:nvPicPr>
          <p:cNvPr id="88" name="Google Shape;88;p2"/>
          <p:cNvPicPr preferRelativeResize="0"/>
          <p:nvPr/>
        </p:nvPicPr>
        <p:blipFill rotWithShape="1">
          <a:blip r:embed="rId3">
            <a:alphaModFix/>
          </a:blip>
          <a:srcRect b="0" l="0" r="0" t="0"/>
          <a:stretch/>
        </p:blipFill>
        <p:spPr>
          <a:xfrm>
            <a:off x="2697480" y="3538728"/>
            <a:ext cx="3749040" cy="310896"/>
          </a:xfrm>
          <a:prstGeom prst="rect">
            <a:avLst/>
          </a:prstGeom>
          <a:noFill/>
          <a:ln>
            <a:noFill/>
          </a:ln>
        </p:spPr>
      </p:pic>
      <p:sp>
        <p:nvSpPr>
          <p:cNvPr id="89" name="Google Shape;89;p2"/>
          <p:cNvSpPr/>
          <p:nvPr/>
        </p:nvSpPr>
        <p:spPr>
          <a:xfrm>
            <a:off x="2644881" y="3438144"/>
            <a:ext cx="3854100" cy="19156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 name="Google Shape;90;p2"/>
          <p:cNvSpPr/>
          <p:nvPr/>
        </p:nvSpPr>
        <p:spPr>
          <a:xfrm>
            <a:off x="4318623" y="3028440"/>
            <a:ext cx="303906" cy="2487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91" name="Google Shape;91;p2"/>
          <p:cNvSpPr/>
          <p:nvPr/>
        </p:nvSpPr>
        <p:spPr>
          <a:xfrm>
            <a:off x="3085658" y="2758043"/>
            <a:ext cx="2855400" cy="585300"/>
          </a:xfrm>
          <a:prstGeom prst="rect">
            <a:avLst/>
          </a:prstGeom>
          <a:noFill/>
          <a:ln>
            <a:noFill/>
          </a:ln>
        </p:spPr>
        <p:txBody>
          <a:bodyPr anchorCtr="0" anchor="t" bIns="45700" lIns="91425" spcFirstLastPara="1" rIns="91425" wrap="square" tIns="45700">
            <a:noAutofit/>
          </a:bodyPr>
          <a:lstStyle/>
          <a:p>
            <a:pPr algn="ctr">
              <a:spcBef>
                <a:spcPts val="0"/>
              </a:spcBef>
              <a:spcAft>
                <a:spcPts val="0"/>
              </a:spcAft>
              <a:buNone/>
            </a:pPr>
            <a:r>
              <a:rPr sz="2600" b="1" lang="ko-KR">
                <a:solidFill>
                  <a:srgbClr val="474A5D"/>
                </a:solidFill>
                <a:latin typeface="Calibri"/>
                <a:ea typeface="Noto Sans KR"/>
                <a:cs typeface="Calibri"/>
              </a:rPr>
              <a:t>01  배경과 설계</a:t>
            </a:r>
          </a:p>
        </p:txBody>
      </p:sp>
      <p:sp>
        <p:nvSpPr>
          <p:cNvPr id="92" name="TextBox 91"/>
          <p:cNvSpPr txBox="1"/>
          <p:nvPr/>
        </p:nvSpPr>
        <p:spPr>
          <a:xfrm>
            <a:off x="2944368" y="35295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202124"/>
                </a:solidFill>
                <a:latin typeface="Calibri"/>
                <a:ea typeface="Noto Sans KR"/>
                <a:cs typeface="Calibri"/>
              </a:rPr>
              <a:t>1. 배경과 설계</a:t>
            </a:r>
            <a:r>
              <a:rPr sz="1050" b="0" lang="ko-KR">
                <a:solidFill>
                  <a:srgbClr val="5F6368"/>
                </a:solidFill>
                <a:latin typeface="Calibri"/>
                <a:ea typeface="Noto Sans KR"/>
                <a:cs typeface="Calibri"/>
              </a:rPr>
              <a:t>   왜 옮기고, 무엇을 설계했나</a:t>
            </a:r>
          </a:p>
        </p:txBody>
      </p:sp>
      <p:sp>
        <p:nvSpPr>
          <p:cNvPr id="93" name="TextBox 92"/>
          <p:cNvSpPr txBox="1"/>
          <p:nvPr/>
        </p:nvSpPr>
        <p:spPr>
          <a:xfrm>
            <a:off x="2944368" y="38724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2. 서비스 구축</a:t>
            </a:r>
            <a:r>
              <a:rPr sz="1050" b="0" lang="ko-KR">
                <a:solidFill>
                  <a:srgbClr val="BDC1C6"/>
                </a:solidFill>
                <a:latin typeface="Calibri"/>
                <a:ea typeface="Noto Sans KR"/>
                <a:cs typeface="Calibri"/>
              </a:rPr>
              <a:t>   네트워크 · LB · WEB/WAS · DB</a:t>
            </a:r>
          </a:p>
        </p:txBody>
      </p:sp>
      <p:sp>
        <p:nvSpPr>
          <p:cNvPr id="94" name="TextBox 93"/>
          <p:cNvSpPr txBox="1"/>
          <p:nvPr/>
        </p:nvSpPr>
        <p:spPr>
          <a:xfrm>
            <a:off x="2944368" y="42153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3. 보안과 운영</a:t>
            </a:r>
            <a:r>
              <a:rPr sz="1050" b="0" lang="ko-KR">
                <a:solidFill>
                  <a:srgbClr val="BDC1C6"/>
                </a:solidFill>
                <a:latin typeface="Calibri"/>
                <a:ea typeface="Noto Sans KR"/>
                <a:cs typeface="Calibri"/>
              </a:rPr>
              <a:t>   방화벽 · Cloud Armor · 모니터링</a:t>
            </a:r>
          </a:p>
        </p:txBody>
      </p:sp>
      <p:sp>
        <p:nvSpPr>
          <p:cNvPr id="95" name="TextBox 94"/>
          <p:cNvSpPr txBox="1"/>
          <p:nvPr/>
        </p:nvSpPr>
        <p:spPr>
          <a:xfrm>
            <a:off x="2944368" y="45582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4. 검증과 시연</a:t>
            </a:r>
            <a:r>
              <a:rPr sz="1050" b="0" lang="ko-KR">
                <a:solidFill>
                  <a:srgbClr val="BDC1C6"/>
                </a:solidFill>
                <a:latin typeface="Calibri"/>
                <a:ea typeface="Noto Sans KR"/>
                <a:cs typeface="Calibri"/>
              </a:rPr>
              <a:t>   장애 · 공격 · 복구 시나리오</a:t>
            </a:r>
          </a:p>
        </p:txBody>
      </p:sp>
      <p:sp>
        <p:nvSpPr>
          <p:cNvPr id="96" name="TextBox 95"/>
          <p:cNvSpPr txBox="1"/>
          <p:nvPr/>
        </p:nvSpPr>
        <p:spPr>
          <a:xfrm>
            <a:off x="2944368" y="49011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5. 계획과 회고</a:t>
            </a:r>
            <a:r>
              <a:rPr sz="1050" b="0" lang="ko-KR">
                <a:solidFill>
                  <a:srgbClr val="BDC1C6"/>
                </a:solidFill>
                <a:latin typeface="Calibri"/>
                <a:ea typeface="Noto Sans KR"/>
                <a:cs typeface="Calibri"/>
              </a:rPr>
              <a:t>   결과 · 향후 계획 · 회고</a:t>
            </a:r>
          </a:p>
        </p:txBody>
      </p:sp>
      <p:sp>
        <p:nvSpPr>
          <p:cNvPr id="97" name="TextBox 96"/>
          <p:cNvSpPr txBox="1"/>
          <p:nvPr/>
        </p:nvSpPr>
        <p:spPr>
          <a:xfrm>
            <a:off x="2194560" y="5468112"/>
            <a:ext cx="4754880" cy="566928"/>
          </a:xfrm>
          <a:prstGeom prst="rect">
            <a:avLst/>
          </a:prstGeom>
          <a:noFill/>
        </p:spPr>
        <p:txBody>
          <a:bodyPr wrap="square" lIns="36576" tIns="18288" rIns="36576" bIns="18288" anchor="ctr">
            <a:noAutofit/>
          </a:bodyPr>
          <a:lstStyle/>
          <a:p>
            <a:pPr algn="ctr">
              <a:spcBef>
                <a:spcPts val="0"/>
              </a:spcBef>
              <a:spcAft>
                <a:spcPts val="0"/>
              </a:spcAft>
              <a:buNone/>
            </a:pPr>
            <a:r>
              <a:rPr sz="1200" b="1" lang="ko-KR">
                <a:solidFill>
                  <a:srgbClr val="1967D2"/>
                </a:solidFill>
                <a:latin typeface="Calibri"/>
                <a:ea typeface="Noto Sans KR"/>
                <a:cs typeface="Calibri"/>
              </a:rPr>
              <a:t>배경 → 요구사항 → 설계 결정 → 전체 아키텍처</a:t>
            </a:r>
          </a:p>
          <a:p>
            <a:pPr algn="ctr">
              <a:spcBef>
                <a:spcPts val="0"/>
              </a:spcBef>
              <a:spcAft>
                <a:spcPts val="0"/>
              </a:spcAft>
              <a:buNone/>
            </a:pPr>
            <a:r>
              <a:rPr sz="1150" b="0" lang="ko-KR">
                <a:solidFill>
                  <a:srgbClr val="5F6368"/>
                </a:solidFill>
                <a:latin typeface="Calibri"/>
                <a:ea typeface="Noto Sans KR"/>
                <a:cs typeface="Calibri"/>
              </a:rPr>
              <a:t>발표  김성현</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pic>
        <p:nvPicPr>
          <p:cNvPr id="88" name="Google Shape;88;p2"/>
          <p:cNvPicPr preferRelativeResize="0"/>
          <p:nvPr/>
        </p:nvPicPr>
        <p:blipFill rotWithShape="1">
          <a:blip r:embed="rId3">
            <a:alphaModFix/>
          </a:blip>
          <a:srcRect b="0" l="0" r="0" t="0"/>
          <a:stretch/>
        </p:blipFill>
        <p:spPr>
          <a:xfrm>
            <a:off x="2697480" y="3881628"/>
            <a:ext cx="3749040" cy="310896"/>
          </a:xfrm>
          <a:prstGeom prst="rect">
            <a:avLst/>
          </a:prstGeom>
          <a:noFill/>
          <a:ln>
            <a:noFill/>
          </a:ln>
        </p:spPr>
      </p:pic>
      <p:sp>
        <p:nvSpPr>
          <p:cNvPr id="89" name="Google Shape;89;p2"/>
          <p:cNvSpPr/>
          <p:nvPr/>
        </p:nvSpPr>
        <p:spPr>
          <a:xfrm>
            <a:off x="2644881" y="3438144"/>
            <a:ext cx="3854100" cy="19156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 name="Google Shape;90;p2"/>
          <p:cNvSpPr/>
          <p:nvPr/>
        </p:nvSpPr>
        <p:spPr>
          <a:xfrm>
            <a:off x="4318623" y="3028440"/>
            <a:ext cx="303906" cy="2487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91" name="Google Shape;91;p2"/>
          <p:cNvSpPr/>
          <p:nvPr/>
        </p:nvSpPr>
        <p:spPr>
          <a:xfrm>
            <a:off x="3085658" y="2758043"/>
            <a:ext cx="2855400" cy="585300"/>
          </a:xfrm>
          <a:prstGeom prst="rect">
            <a:avLst/>
          </a:prstGeom>
          <a:noFill/>
          <a:ln>
            <a:noFill/>
          </a:ln>
        </p:spPr>
        <p:txBody>
          <a:bodyPr anchorCtr="0" anchor="t" bIns="45700" lIns="91425" spcFirstLastPara="1" rIns="91425" wrap="square" tIns="45700">
            <a:noAutofit/>
          </a:bodyPr>
          <a:lstStyle/>
          <a:p>
            <a:pPr algn="ctr">
              <a:spcBef>
                <a:spcPts val="0"/>
              </a:spcBef>
              <a:spcAft>
                <a:spcPts val="0"/>
              </a:spcAft>
              <a:buNone/>
            </a:pPr>
            <a:r>
              <a:rPr sz="2600" b="1" lang="ko-KR">
                <a:solidFill>
                  <a:srgbClr val="474A5D"/>
                </a:solidFill>
                <a:latin typeface="Calibri"/>
                <a:ea typeface="Noto Sans KR"/>
                <a:cs typeface="Calibri"/>
              </a:rPr>
              <a:t>02  서비스 구축</a:t>
            </a:r>
          </a:p>
        </p:txBody>
      </p:sp>
      <p:sp>
        <p:nvSpPr>
          <p:cNvPr id="92" name="TextBox 91"/>
          <p:cNvSpPr txBox="1"/>
          <p:nvPr/>
        </p:nvSpPr>
        <p:spPr>
          <a:xfrm>
            <a:off x="2944368" y="35295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1. 배경과 설계</a:t>
            </a:r>
            <a:r>
              <a:rPr sz="1050" b="0" lang="ko-KR">
                <a:solidFill>
                  <a:srgbClr val="BDC1C6"/>
                </a:solidFill>
                <a:latin typeface="Calibri"/>
                <a:ea typeface="Noto Sans KR"/>
                <a:cs typeface="Calibri"/>
              </a:rPr>
              <a:t>   왜 옮기고, 무엇을 설계했나</a:t>
            </a:r>
          </a:p>
        </p:txBody>
      </p:sp>
      <p:sp>
        <p:nvSpPr>
          <p:cNvPr id="93" name="TextBox 92"/>
          <p:cNvSpPr txBox="1"/>
          <p:nvPr/>
        </p:nvSpPr>
        <p:spPr>
          <a:xfrm>
            <a:off x="2944368" y="38724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202124"/>
                </a:solidFill>
                <a:latin typeface="Calibri"/>
                <a:ea typeface="Noto Sans KR"/>
                <a:cs typeface="Calibri"/>
              </a:rPr>
              <a:t>2. 서비스 구축</a:t>
            </a:r>
            <a:r>
              <a:rPr sz="1050" b="0" lang="ko-KR">
                <a:solidFill>
                  <a:srgbClr val="5F6368"/>
                </a:solidFill>
                <a:latin typeface="Calibri"/>
                <a:ea typeface="Noto Sans KR"/>
                <a:cs typeface="Calibri"/>
              </a:rPr>
              <a:t>   네트워크 · LB · WEB/WAS · DB</a:t>
            </a:r>
          </a:p>
        </p:txBody>
      </p:sp>
      <p:sp>
        <p:nvSpPr>
          <p:cNvPr id="94" name="TextBox 93"/>
          <p:cNvSpPr txBox="1"/>
          <p:nvPr/>
        </p:nvSpPr>
        <p:spPr>
          <a:xfrm>
            <a:off x="2944368" y="42153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3. 보안과 운영</a:t>
            </a:r>
            <a:r>
              <a:rPr sz="1050" b="0" lang="ko-KR">
                <a:solidFill>
                  <a:srgbClr val="BDC1C6"/>
                </a:solidFill>
                <a:latin typeface="Calibri"/>
                <a:ea typeface="Noto Sans KR"/>
                <a:cs typeface="Calibri"/>
              </a:rPr>
              <a:t>   방화벽 · Cloud Armor · 모니터링</a:t>
            </a:r>
          </a:p>
        </p:txBody>
      </p:sp>
      <p:sp>
        <p:nvSpPr>
          <p:cNvPr id="95" name="TextBox 94"/>
          <p:cNvSpPr txBox="1"/>
          <p:nvPr/>
        </p:nvSpPr>
        <p:spPr>
          <a:xfrm>
            <a:off x="2944368" y="45582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4. 검증과 시연</a:t>
            </a:r>
            <a:r>
              <a:rPr sz="1050" b="0" lang="ko-KR">
                <a:solidFill>
                  <a:srgbClr val="BDC1C6"/>
                </a:solidFill>
                <a:latin typeface="Calibri"/>
                <a:ea typeface="Noto Sans KR"/>
                <a:cs typeface="Calibri"/>
              </a:rPr>
              <a:t>   장애 · 공격 · 복구 시나리오</a:t>
            </a:r>
          </a:p>
        </p:txBody>
      </p:sp>
      <p:sp>
        <p:nvSpPr>
          <p:cNvPr id="96" name="TextBox 95"/>
          <p:cNvSpPr txBox="1"/>
          <p:nvPr/>
        </p:nvSpPr>
        <p:spPr>
          <a:xfrm>
            <a:off x="2944368" y="49011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5. 계획과 회고</a:t>
            </a:r>
            <a:r>
              <a:rPr sz="1050" b="0" lang="ko-KR">
                <a:solidFill>
                  <a:srgbClr val="BDC1C6"/>
                </a:solidFill>
                <a:latin typeface="Calibri"/>
                <a:ea typeface="Noto Sans KR"/>
                <a:cs typeface="Calibri"/>
              </a:rPr>
              <a:t>   결과 · 향후 계획 · 회고</a:t>
            </a:r>
          </a:p>
        </p:txBody>
      </p:sp>
      <p:sp>
        <p:nvSpPr>
          <p:cNvPr id="97" name="TextBox 96"/>
          <p:cNvSpPr txBox="1"/>
          <p:nvPr/>
        </p:nvSpPr>
        <p:spPr>
          <a:xfrm>
            <a:off x="2194560" y="5468112"/>
            <a:ext cx="4754880" cy="566928"/>
          </a:xfrm>
          <a:prstGeom prst="rect">
            <a:avLst/>
          </a:prstGeom>
          <a:noFill/>
        </p:spPr>
        <p:txBody>
          <a:bodyPr wrap="square" lIns="36576" tIns="18288" rIns="36576" bIns="18288" anchor="ctr">
            <a:noAutofit/>
          </a:bodyPr>
          <a:lstStyle/>
          <a:p>
            <a:pPr algn="ctr">
              <a:spcBef>
                <a:spcPts val="0"/>
              </a:spcBef>
              <a:spcAft>
                <a:spcPts val="0"/>
              </a:spcAft>
              <a:buNone/>
            </a:pPr>
            <a:r>
              <a:rPr sz="1200" b="1" lang="ko-KR">
                <a:solidFill>
                  <a:srgbClr val="1967D2"/>
                </a:solidFill>
                <a:latin typeface="Calibri"/>
                <a:ea typeface="Noto Sans KR"/>
                <a:cs typeface="Calibri"/>
              </a:rPr>
              <a:t>네트워크 → 로드밸런싱 → WEB·WAS → DB</a:t>
            </a:r>
          </a:p>
          <a:p>
            <a:pPr algn="ctr">
              <a:spcBef>
                <a:spcPts val="0"/>
              </a:spcBef>
              <a:spcAft>
                <a:spcPts val="0"/>
              </a:spcAft>
              <a:buNone/>
            </a:pPr>
            <a:r>
              <a:rPr sz="1150" b="0" lang="ko-KR">
                <a:solidFill>
                  <a:srgbClr val="5F6368"/>
                </a:solidFill>
                <a:latin typeface="Calibri"/>
                <a:ea typeface="Noto Sans KR"/>
                <a:cs typeface="Calibri"/>
              </a:rPr>
              <a:t>발표  송인아 · 채정훈 · 김성현 · 김민성</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pic>
        <p:nvPicPr>
          <p:cNvPr id="88" name="Google Shape;88;p2"/>
          <p:cNvPicPr preferRelativeResize="0"/>
          <p:nvPr/>
        </p:nvPicPr>
        <p:blipFill rotWithShape="1">
          <a:blip r:embed="rId3">
            <a:alphaModFix/>
          </a:blip>
          <a:srcRect b="0" l="0" r="0" t="0"/>
          <a:stretch/>
        </p:blipFill>
        <p:spPr>
          <a:xfrm>
            <a:off x="2697480" y="4224528"/>
            <a:ext cx="3749040" cy="310896"/>
          </a:xfrm>
          <a:prstGeom prst="rect">
            <a:avLst/>
          </a:prstGeom>
          <a:noFill/>
          <a:ln>
            <a:noFill/>
          </a:ln>
        </p:spPr>
      </p:pic>
      <p:sp>
        <p:nvSpPr>
          <p:cNvPr id="89" name="Google Shape;89;p2"/>
          <p:cNvSpPr/>
          <p:nvPr/>
        </p:nvSpPr>
        <p:spPr>
          <a:xfrm>
            <a:off x="2644881" y="3438144"/>
            <a:ext cx="3854100" cy="19156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 name="Google Shape;90;p2"/>
          <p:cNvSpPr/>
          <p:nvPr/>
        </p:nvSpPr>
        <p:spPr>
          <a:xfrm>
            <a:off x="4318623" y="3028440"/>
            <a:ext cx="303906" cy="2487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91" name="Google Shape;91;p2"/>
          <p:cNvSpPr/>
          <p:nvPr/>
        </p:nvSpPr>
        <p:spPr>
          <a:xfrm>
            <a:off x="3085658" y="2758043"/>
            <a:ext cx="2855400" cy="585300"/>
          </a:xfrm>
          <a:prstGeom prst="rect">
            <a:avLst/>
          </a:prstGeom>
          <a:noFill/>
          <a:ln>
            <a:noFill/>
          </a:ln>
        </p:spPr>
        <p:txBody>
          <a:bodyPr anchorCtr="0" anchor="t" bIns="45700" lIns="91425" spcFirstLastPara="1" rIns="91425" wrap="square" tIns="45700">
            <a:noAutofit/>
          </a:bodyPr>
          <a:lstStyle/>
          <a:p>
            <a:pPr algn="ctr">
              <a:spcBef>
                <a:spcPts val="0"/>
              </a:spcBef>
              <a:spcAft>
                <a:spcPts val="0"/>
              </a:spcAft>
              <a:buNone/>
            </a:pPr>
            <a:r>
              <a:rPr sz="2600" b="1" lang="ko-KR">
                <a:solidFill>
                  <a:srgbClr val="474A5D"/>
                </a:solidFill>
                <a:latin typeface="Calibri"/>
                <a:ea typeface="Noto Sans KR"/>
                <a:cs typeface="Calibri"/>
              </a:rPr>
              <a:t>03  보안과 운영</a:t>
            </a:r>
          </a:p>
        </p:txBody>
      </p:sp>
      <p:sp>
        <p:nvSpPr>
          <p:cNvPr id="92" name="TextBox 91"/>
          <p:cNvSpPr txBox="1"/>
          <p:nvPr/>
        </p:nvSpPr>
        <p:spPr>
          <a:xfrm>
            <a:off x="2944368" y="35295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1. 배경과 설계</a:t>
            </a:r>
            <a:r>
              <a:rPr sz="1050" b="0" lang="ko-KR">
                <a:solidFill>
                  <a:srgbClr val="BDC1C6"/>
                </a:solidFill>
                <a:latin typeface="Calibri"/>
                <a:ea typeface="Noto Sans KR"/>
                <a:cs typeface="Calibri"/>
              </a:rPr>
              <a:t>   왜 옮기고, 무엇을 설계했나</a:t>
            </a:r>
          </a:p>
        </p:txBody>
      </p:sp>
      <p:sp>
        <p:nvSpPr>
          <p:cNvPr id="93" name="TextBox 92"/>
          <p:cNvSpPr txBox="1"/>
          <p:nvPr/>
        </p:nvSpPr>
        <p:spPr>
          <a:xfrm>
            <a:off x="2944368" y="38724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2. 서비스 구축</a:t>
            </a:r>
            <a:r>
              <a:rPr sz="1050" b="0" lang="ko-KR">
                <a:solidFill>
                  <a:srgbClr val="BDC1C6"/>
                </a:solidFill>
                <a:latin typeface="Calibri"/>
                <a:ea typeface="Noto Sans KR"/>
                <a:cs typeface="Calibri"/>
              </a:rPr>
              <a:t>   네트워크 · LB · WEB/WAS · DB</a:t>
            </a:r>
          </a:p>
        </p:txBody>
      </p:sp>
      <p:sp>
        <p:nvSpPr>
          <p:cNvPr id="94" name="TextBox 93"/>
          <p:cNvSpPr txBox="1"/>
          <p:nvPr/>
        </p:nvSpPr>
        <p:spPr>
          <a:xfrm>
            <a:off x="2944368" y="42153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202124"/>
                </a:solidFill>
                <a:latin typeface="Calibri"/>
                <a:ea typeface="Noto Sans KR"/>
                <a:cs typeface="Calibri"/>
              </a:rPr>
              <a:t>3. 보안과 운영</a:t>
            </a:r>
            <a:r>
              <a:rPr sz="1050" b="0" lang="ko-KR">
                <a:solidFill>
                  <a:srgbClr val="5F6368"/>
                </a:solidFill>
                <a:latin typeface="Calibri"/>
                <a:ea typeface="Noto Sans KR"/>
                <a:cs typeface="Calibri"/>
              </a:rPr>
              <a:t>   방화벽 · Cloud Armor · 모니터링</a:t>
            </a:r>
          </a:p>
        </p:txBody>
      </p:sp>
      <p:sp>
        <p:nvSpPr>
          <p:cNvPr id="95" name="TextBox 94"/>
          <p:cNvSpPr txBox="1"/>
          <p:nvPr/>
        </p:nvSpPr>
        <p:spPr>
          <a:xfrm>
            <a:off x="2944368" y="45582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4. 검증과 시연</a:t>
            </a:r>
            <a:r>
              <a:rPr sz="1050" b="0" lang="ko-KR">
                <a:solidFill>
                  <a:srgbClr val="BDC1C6"/>
                </a:solidFill>
                <a:latin typeface="Calibri"/>
                <a:ea typeface="Noto Sans KR"/>
                <a:cs typeface="Calibri"/>
              </a:rPr>
              <a:t>   장애 · 공격 · 복구 시나리오</a:t>
            </a:r>
          </a:p>
        </p:txBody>
      </p:sp>
      <p:sp>
        <p:nvSpPr>
          <p:cNvPr id="96" name="TextBox 95"/>
          <p:cNvSpPr txBox="1"/>
          <p:nvPr/>
        </p:nvSpPr>
        <p:spPr>
          <a:xfrm>
            <a:off x="2944368" y="49011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5. 계획과 회고</a:t>
            </a:r>
            <a:r>
              <a:rPr sz="1050" b="0" lang="ko-KR">
                <a:solidFill>
                  <a:srgbClr val="BDC1C6"/>
                </a:solidFill>
                <a:latin typeface="Calibri"/>
                <a:ea typeface="Noto Sans KR"/>
                <a:cs typeface="Calibri"/>
              </a:rPr>
              <a:t>   결과 · 향후 계획 · 회고</a:t>
            </a:r>
          </a:p>
        </p:txBody>
      </p:sp>
      <p:sp>
        <p:nvSpPr>
          <p:cNvPr id="97" name="TextBox 96"/>
          <p:cNvSpPr txBox="1"/>
          <p:nvPr/>
        </p:nvSpPr>
        <p:spPr>
          <a:xfrm>
            <a:off x="2194560" y="5468112"/>
            <a:ext cx="4754880" cy="566928"/>
          </a:xfrm>
          <a:prstGeom prst="rect">
            <a:avLst/>
          </a:prstGeom>
          <a:noFill/>
        </p:spPr>
        <p:txBody>
          <a:bodyPr wrap="square" lIns="36576" tIns="18288" rIns="36576" bIns="18288" anchor="ctr">
            <a:noAutofit/>
          </a:bodyPr>
          <a:lstStyle/>
          <a:p>
            <a:pPr algn="ctr">
              <a:spcBef>
                <a:spcPts val="0"/>
              </a:spcBef>
              <a:spcAft>
                <a:spcPts val="0"/>
              </a:spcAft>
              <a:buNone/>
            </a:pPr>
            <a:r>
              <a:rPr sz="1200" b="1" lang="ko-KR">
                <a:solidFill>
                  <a:srgbClr val="1967D2"/>
                </a:solidFill>
                <a:latin typeface="Calibri"/>
                <a:ea typeface="Noto Sans KR"/>
                <a:cs typeface="Calibri"/>
              </a:rPr>
              <a:t>방화벽·접근 통제 → Cloud Armor → 모니터링·알림</a:t>
            </a:r>
          </a:p>
          <a:p>
            <a:pPr algn="ctr">
              <a:spcBef>
                <a:spcPts val="0"/>
              </a:spcBef>
              <a:spcAft>
                <a:spcPts val="0"/>
              </a:spcAft>
              <a:buNone/>
            </a:pPr>
            <a:r>
              <a:rPr sz="1150" b="0" lang="ko-KR">
                <a:solidFill>
                  <a:srgbClr val="5F6368"/>
                </a:solidFill>
                <a:latin typeface="Calibri"/>
                <a:ea typeface="Noto Sans KR"/>
                <a:cs typeface="Calibri"/>
              </a:rPr>
              <a:t>발표  송인아 · 김민성</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pic>
        <p:nvPicPr>
          <p:cNvPr id="88" name="Google Shape;88;p2"/>
          <p:cNvPicPr preferRelativeResize="0"/>
          <p:nvPr/>
        </p:nvPicPr>
        <p:blipFill rotWithShape="1">
          <a:blip r:embed="rId3">
            <a:alphaModFix/>
          </a:blip>
          <a:srcRect b="0" l="0" r="0" t="0"/>
          <a:stretch/>
        </p:blipFill>
        <p:spPr>
          <a:xfrm>
            <a:off x="2697480" y="4567428"/>
            <a:ext cx="3749040" cy="310896"/>
          </a:xfrm>
          <a:prstGeom prst="rect">
            <a:avLst/>
          </a:prstGeom>
          <a:noFill/>
          <a:ln>
            <a:noFill/>
          </a:ln>
        </p:spPr>
      </p:pic>
      <p:sp>
        <p:nvSpPr>
          <p:cNvPr id="89" name="Google Shape;89;p2"/>
          <p:cNvSpPr/>
          <p:nvPr/>
        </p:nvSpPr>
        <p:spPr>
          <a:xfrm>
            <a:off x="2644881" y="3438144"/>
            <a:ext cx="3854100" cy="19156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 name="Google Shape;90;p2"/>
          <p:cNvSpPr/>
          <p:nvPr/>
        </p:nvSpPr>
        <p:spPr>
          <a:xfrm>
            <a:off x="4318623" y="3028440"/>
            <a:ext cx="303906" cy="2487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91" name="Google Shape;91;p2"/>
          <p:cNvSpPr/>
          <p:nvPr/>
        </p:nvSpPr>
        <p:spPr>
          <a:xfrm>
            <a:off x="3085658" y="2758043"/>
            <a:ext cx="2855400" cy="585300"/>
          </a:xfrm>
          <a:prstGeom prst="rect">
            <a:avLst/>
          </a:prstGeom>
          <a:noFill/>
          <a:ln>
            <a:noFill/>
          </a:ln>
        </p:spPr>
        <p:txBody>
          <a:bodyPr anchorCtr="0" anchor="t" bIns="45700" lIns="91425" spcFirstLastPara="1" rIns="91425" wrap="square" tIns="45700">
            <a:noAutofit/>
          </a:bodyPr>
          <a:lstStyle/>
          <a:p>
            <a:pPr algn="ctr">
              <a:spcBef>
                <a:spcPts val="0"/>
              </a:spcBef>
              <a:spcAft>
                <a:spcPts val="0"/>
              </a:spcAft>
              <a:buNone/>
            </a:pPr>
            <a:r>
              <a:rPr sz="2600" b="1" lang="ko-KR">
                <a:solidFill>
                  <a:srgbClr val="474A5D"/>
                </a:solidFill>
                <a:latin typeface="Calibri"/>
                <a:ea typeface="Noto Sans KR"/>
                <a:cs typeface="Calibri"/>
              </a:rPr>
              <a:t>04  검증과 시연</a:t>
            </a:r>
          </a:p>
        </p:txBody>
      </p:sp>
      <p:sp>
        <p:nvSpPr>
          <p:cNvPr id="92" name="TextBox 91"/>
          <p:cNvSpPr txBox="1"/>
          <p:nvPr/>
        </p:nvSpPr>
        <p:spPr>
          <a:xfrm>
            <a:off x="2944368" y="35295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1. 배경과 설계</a:t>
            </a:r>
            <a:r>
              <a:rPr sz="1050" b="0" lang="ko-KR">
                <a:solidFill>
                  <a:srgbClr val="BDC1C6"/>
                </a:solidFill>
                <a:latin typeface="Calibri"/>
                <a:ea typeface="Noto Sans KR"/>
                <a:cs typeface="Calibri"/>
              </a:rPr>
              <a:t>   왜 옮기고, 무엇을 설계했나</a:t>
            </a:r>
          </a:p>
        </p:txBody>
      </p:sp>
      <p:sp>
        <p:nvSpPr>
          <p:cNvPr id="93" name="TextBox 92"/>
          <p:cNvSpPr txBox="1"/>
          <p:nvPr/>
        </p:nvSpPr>
        <p:spPr>
          <a:xfrm>
            <a:off x="2944368" y="38724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2. 서비스 구축</a:t>
            </a:r>
            <a:r>
              <a:rPr sz="1050" b="0" lang="ko-KR">
                <a:solidFill>
                  <a:srgbClr val="BDC1C6"/>
                </a:solidFill>
                <a:latin typeface="Calibri"/>
                <a:ea typeface="Noto Sans KR"/>
                <a:cs typeface="Calibri"/>
              </a:rPr>
              <a:t>   네트워크 · LB · WEB/WAS · DB</a:t>
            </a:r>
          </a:p>
        </p:txBody>
      </p:sp>
      <p:sp>
        <p:nvSpPr>
          <p:cNvPr id="94" name="TextBox 93"/>
          <p:cNvSpPr txBox="1"/>
          <p:nvPr/>
        </p:nvSpPr>
        <p:spPr>
          <a:xfrm>
            <a:off x="2944368" y="42153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3. 보안과 운영</a:t>
            </a:r>
            <a:r>
              <a:rPr sz="1050" b="0" lang="ko-KR">
                <a:solidFill>
                  <a:srgbClr val="BDC1C6"/>
                </a:solidFill>
                <a:latin typeface="Calibri"/>
                <a:ea typeface="Noto Sans KR"/>
                <a:cs typeface="Calibri"/>
              </a:rPr>
              <a:t>   방화벽 · Cloud Armor · 모니터링</a:t>
            </a:r>
          </a:p>
        </p:txBody>
      </p:sp>
      <p:sp>
        <p:nvSpPr>
          <p:cNvPr id="95" name="TextBox 94"/>
          <p:cNvSpPr txBox="1"/>
          <p:nvPr/>
        </p:nvSpPr>
        <p:spPr>
          <a:xfrm>
            <a:off x="2944368" y="45582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202124"/>
                </a:solidFill>
                <a:latin typeface="Calibri"/>
                <a:ea typeface="Noto Sans KR"/>
                <a:cs typeface="Calibri"/>
              </a:rPr>
              <a:t>4. 검증과 시연</a:t>
            </a:r>
            <a:r>
              <a:rPr sz="1050" b="0" lang="ko-KR">
                <a:solidFill>
                  <a:srgbClr val="5F6368"/>
                </a:solidFill>
                <a:latin typeface="Calibri"/>
                <a:ea typeface="Noto Sans KR"/>
                <a:cs typeface="Calibri"/>
              </a:rPr>
              <a:t>   장애 · 공격 · 복구 시나리오</a:t>
            </a:r>
          </a:p>
        </p:txBody>
      </p:sp>
      <p:sp>
        <p:nvSpPr>
          <p:cNvPr id="96" name="TextBox 95"/>
          <p:cNvSpPr txBox="1"/>
          <p:nvPr/>
        </p:nvSpPr>
        <p:spPr>
          <a:xfrm>
            <a:off x="2944368" y="49011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5. 계획과 회고</a:t>
            </a:r>
            <a:r>
              <a:rPr sz="1050" b="0" lang="ko-KR">
                <a:solidFill>
                  <a:srgbClr val="BDC1C6"/>
                </a:solidFill>
                <a:latin typeface="Calibri"/>
                <a:ea typeface="Noto Sans KR"/>
                <a:cs typeface="Calibri"/>
              </a:rPr>
              <a:t>   결과 · 향후 계획 · 회고</a:t>
            </a:r>
          </a:p>
        </p:txBody>
      </p:sp>
      <p:sp>
        <p:nvSpPr>
          <p:cNvPr id="97" name="TextBox 96"/>
          <p:cNvSpPr txBox="1"/>
          <p:nvPr/>
        </p:nvSpPr>
        <p:spPr>
          <a:xfrm>
            <a:off x="2194560" y="5468112"/>
            <a:ext cx="4754880" cy="566928"/>
          </a:xfrm>
          <a:prstGeom prst="rect">
            <a:avLst/>
          </a:prstGeom>
          <a:noFill/>
        </p:spPr>
        <p:txBody>
          <a:bodyPr wrap="square" lIns="36576" tIns="18288" rIns="36576" bIns="18288" anchor="ctr">
            <a:noAutofit/>
          </a:bodyPr>
          <a:lstStyle/>
          <a:p>
            <a:pPr algn="ctr">
              <a:spcBef>
                <a:spcPts val="0"/>
              </a:spcBef>
              <a:spcAft>
                <a:spcPts val="0"/>
              </a:spcAft>
              <a:buNone/>
            </a:pPr>
            <a:r>
              <a:rPr sz="1200" b="1" lang="ko-KR">
                <a:solidFill>
                  <a:srgbClr val="1967D2"/>
                </a:solidFill>
                <a:latin typeface="Calibri"/>
                <a:ea typeface="Noto Sans KR"/>
                <a:cs typeface="Calibri"/>
              </a:rPr>
              <a:t>시나리오별 검증 결과 → 시연 영상</a:t>
            </a:r>
          </a:p>
          <a:p>
            <a:pPr algn="ctr">
              <a:spcBef>
                <a:spcPts val="0"/>
              </a:spcBef>
              <a:spcAft>
                <a:spcPts val="0"/>
              </a:spcAft>
              <a:buNone/>
            </a:pPr>
            <a:r>
              <a:rPr sz="1150" b="0" lang="ko-KR">
                <a:solidFill>
                  <a:srgbClr val="5F6368"/>
                </a:solidFill>
                <a:latin typeface="Calibri"/>
                <a:ea typeface="Noto Sans KR"/>
                <a:cs typeface="Calibri"/>
              </a:rPr>
              <a:t>발표  김성현</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pic>
        <p:nvPicPr>
          <p:cNvPr id="88" name="Google Shape;88;p2"/>
          <p:cNvPicPr preferRelativeResize="0"/>
          <p:nvPr/>
        </p:nvPicPr>
        <p:blipFill rotWithShape="1">
          <a:blip r:embed="rId3">
            <a:alphaModFix/>
          </a:blip>
          <a:srcRect b="0" l="0" r="0" t="0"/>
          <a:stretch/>
        </p:blipFill>
        <p:spPr>
          <a:xfrm>
            <a:off x="2697480" y="4910328"/>
            <a:ext cx="3749040" cy="310896"/>
          </a:xfrm>
          <a:prstGeom prst="rect">
            <a:avLst/>
          </a:prstGeom>
          <a:noFill/>
          <a:ln>
            <a:noFill/>
          </a:ln>
        </p:spPr>
      </p:pic>
      <p:sp>
        <p:nvSpPr>
          <p:cNvPr id="89" name="Google Shape;89;p2"/>
          <p:cNvSpPr/>
          <p:nvPr/>
        </p:nvSpPr>
        <p:spPr>
          <a:xfrm>
            <a:off x="2644881" y="3438144"/>
            <a:ext cx="3854100" cy="1915668"/>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800">
              <a:solidFill>
                <a:schemeClr val="lt1"/>
              </a:solidFill>
              <a:latin typeface="Calibri"/>
              <a:ea typeface="Calibri"/>
              <a:cs typeface="Calibri"/>
              <a:sym typeface="Calibri"/>
            </a:endParaRPr>
          </a:p>
        </p:txBody>
      </p:sp>
      <p:sp>
        <p:nvSpPr>
          <p:cNvPr id="90" name="Google Shape;90;p2"/>
          <p:cNvSpPr/>
          <p:nvPr/>
        </p:nvSpPr>
        <p:spPr>
          <a:xfrm>
            <a:off x="4318623" y="3028440"/>
            <a:ext cx="303906" cy="248756"/>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sz="1600">
              <a:solidFill>
                <a:schemeClr val="lt1"/>
              </a:solidFill>
              <a:latin typeface="Calibri"/>
              <a:ea typeface="Calibri"/>
              <a:cs typeface="Calibri"/>
              <a:sym typeface="Calibri"/>
            </a:endParaRPr>
          </a:p>
        </p:txBody>
      </p:sp>
      <p:sp>
        <p:nvSpPr>
          <p:cNvPr id="91" name="Google Shape;91;p2"/>
          <p:cNvSpPr/>
          <p:nvPr/>
        </p:nvSpPr>
        <p:spPr>
          <a:xfrm>
            <a:off x="3085658" y="2758043"/>
            <a:ext cx="2855400" cy="585300"/>
          </a:xfrm>
          <a:prstGeom prst="rect">
            <a:avLst/>
          </a:prstGeom>
          <a:noFill/>
          <a:ln>
            <a:noFill/>
          </a:ln>
        </p:spPr>
        <p:txBody>
          <a:bodyPr anchorCtr="0" anchor="t" bIns="45700" lIns="91425" spcFirstLastPara="1" rIns="91425" wrap="square" tIns="45700">
            <a:noAutofit/>
          </a:bodyPr>
          <a:lstStyle/>
          <a:p>
            <a:pPr algn="ctr">
              <a:spcBef>
                <a:spcPts val="0"/>
              </a:spcBef>
              <a:spcAft>
                <a:spcPts val="0"/>
              </a:spcAft>
              <a:buNone/>
            </a:pPr>
            <a:r>
              <a:rPr sz="2600" b="1" lang="ko-KR">
                <a:solidFill>
                  <a:srgbClr val="474A5D"/>
                </a:solidFill>
                <a:latin typeface="Calibri"/>
                <a:ea typeface="Noto Sans KR"/>
                <a:cs typeface="Calibri"/>
              </a:rPr>
              <a:t>05  계획과 회고</a:t>
            </a:r>
          </a:p>
        </p:txBody>
      </p:sp>
      <p:sp>
        <p:nvSpPr>
          <p:cNvPr id="92" name="TextBox 91"/>
          <p:cNvSpPr txBox="1"/>
          <p:nvPr/>
        </p:nvSpPr>
        <p:spPr>
          <a:xfrm>
            <a:off x="2944368" y="35295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1. 배경과 설계</a:t>
            </a:r>
            <a:r>
              <a:rPr sz="1050" b="0" lang="ko-KR">
                <a:solidFill>
                  <a:srgbClr val="BDC1C6"/>
                </a:solidFill>
                <a:latin typeface="Calibri"/>
                <a:ea typeface="Noto Sans KR"/>
                <a:cs typeface="Calibri"/>
              </a:rPr>
              <a:t>   왜 옮기고, 무엇을 설계했나</a:t>
            </a:r>
          </a:p>
        </p:txBody>
      </p:sp>
      <p:sp>
        <p:nvSpPr>
          <p:cNvPr id="93" name="TextBox 92"/>
          <p:cNvSpPr txBox="1"/>
          <p:nvPr/>
        </p:nvSpPr>
        <p:spPr>
          <a:xfrm>
            <a:off x="2944368" y="38724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2. 서비스 구축</a:t>
            </a:r>
            <a:r>
              <a:rPr sz="1050" b="0" lang="ko-KR">
                <a:solidFill>
                  <a:srgbClr val="BDC1C6"/>
                </a:solidFill>
                <a:latin typeface="Calibri"/>
                <a:ea typeface="Noto Sans KR"/>
                <a:cs typeface="Calibri"/>
              </a:rPr>
              <a:t>   네트워크 · LB · WEB/WAS · DB</a:t>
            </a:r>
          </a:p>
        </p:txBody>
      </p:sp>
      <p:sp>
        <p:nvSpPr>
          <p:cNvPr id="94" name="TextBox 93"/>
          <p:cNvSpPr txBox="1"/>
          <p:nvPr/>
        </p:nvSpPr>
        <p:spPr>
          <a:xfrm>
            <a:off x="2944368" y="42153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3. 보안과 운영</a:t>
            </a:r>
            <a:r>
              <a:rPr sz="1050" b="0" lang="ko-KR">
                <a:solidFill>
                  <a:srgbClr val="BDC1C6"/>
                </a:solidFill>
                <a:latin typeface="Calibri"/>
                <a:ea typeface="Noto Sans KR"/>
                <a:cs typeface="Calibri"/>
              </a:rPr>
              <a:t>   방화벽 · Cloud Armor · 모니터링</a:t>
            </a:r>
          </a:p>
        </p:txBody>
      </p:sp>
      <p:sp>
        <p:nvSpPr>
          <p:cNvPr id="95" name="TextBox 94"/>
          <p:cNvSpPr txBox="1"/>
          <p:nvPr/>
        </p:nvSpPr>
        <p:spPr>
          <a:xfrm>
            <a:off x="2944368" y="45582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9AA0A6"/>
                </a:solidFill>
                <a:latin typeface="Calibri"/>
                <a:ea typeface="Noto Sans KR"/>
                <a:cs typeface="Calibri"/>
              </a:rPr>
              <a:t>4. 검증과 시연</a:t>
            </a:r>
            <a:r>
              <a:rPr sz="1050" b="0" lang="ko-KR">
                <a:solidFill>
                  <a:srgbClr val="BDC1C6"/>
                </a:solidFill>
                <a:latin typeface="Calibri"/>
                <a:ea typeface="Noto Sans KR"/>
                <a:cs typeface="Calibri"/>
              </a:rPr>
              <a:t>   장애 · 공격 · 복구 시나리오</a:t>
            </a:r>
          </a:p>
        </p:txBody>
      </p:sp>
      <p:sp>
        <p:nvSpPr>
          <p:cNvPr id="96" name="TextBox 95"/>
          <p:cNvSpPr txBox="1"/>
          <p:nvPr/>
        </p:nvSpPr>
        <p:spPr>
          <a:xfrm>
            <a:off x="2944368" y="4901184"/>
            <a:ext cx="3474720" cy="329184"/>
          </a:xfrm>
          <a:prstGeom prst="rect">
            <a:avLst/>
          </a:prstGeom>
          <a:noFill/>
        </p:spPr>
        <p:txBody>
          <a:bodyPr wrap="square" lIns="45720" tIns="0" rIns="45720" bIns="0" anchor="ctr">
            <a:noAutofit/>
          </a:bodyPr>
          <a:lstStyle/>
          <a:p>
            <a:pPr algn="l">
              <a:spcBef>
                <a:spcPts val="0"/>
              </a:spcBef>
              <a:spcAft>
                <a:spcPts val="0"/>
              </a:spcAft>
              <a:buNone/>
            </a:pPr>
            <a:r>
              <a:rPr sz="1300" b="1" lang="ko-KR">
                <a:solidFill>
                  <a:srgbClr val="202124"/>
                </a:solidFill>
                <a:latin typeface="Calibri"/>
                <a:ea typeface="Noto Sans KR"/>
                <a:cs typeface="Calibri"/>
              </a:rPr>
              <a:t>5. 계획과 회고</a:t>
            </a:r>
            <a:r>
              <a:rPr sz="1050" b="0" lang="ko-KR">
                <a:solidFill>
                  <a:srgbClr val="5F6368"/>
                </a:solidFill>
                <a:latin typeface="Calibri"/>
                <a:ea typeface="Noto Sans KR"/>
                <a:cs typeface="Calibri"/>
              </a:rPr>
              <a:t>   결과 · 향후 계획 · 회고</a:t>
            </a:r>
          </a:p>
        </p:txBody>
      </p:sp>
      <p:sp>
        <p:nvSpPr>
          <p:cNvPr id="97" name="TextBox 96"/>
          <p:cNvSpPr txBox="1"/>
          <p:nvPr/>
        </p:nvSpPr>
        <p:spPr>
          <a:xfrm>
            <a:off x="2194560" y="5468112"/>
            <a:ext cx="4754880" cy="566928"/>
          </a:xfrm>
          <a:prstGeom prst="rect">
            <a:avLst/>
          </a:prstGeom>
          <a:noFill/>
        </p:spPr>
        <p:txBody>
          <a:bodyPr wrap="square" lIns="36576" tIns="18288" rIns="36576" bIns="18288" anchor="ctr">
            <a:noAutofit/>
          </a:bodyPr>
          <a:lstStyle/>
          <a:p>
            <a:pPr algn="ctr">
              <a:spcBef>
                <a:spcPts val="0"/>
              </a:spcBef>
              <a:spcAft>
                <a:spcPts val="0"/>
              </a:spcAft>
              <a:buNone/>
            </a:pPr>
            <a:r>
              <a:rPr sz="1200" b="1" lang="ko-KR">
                <a:solidFill>
                  <a:srgbClr val="1967D2"/>
                </a:solidFill>
                <a:latin typeface="Calibri"/>
                <a:ea typeface="Noto Sans KR"/>
                <a:cs typeface="Calibri"/>
              </a:rPr>
              <a:t>요구사항 충족 → 향후 계획 → 회고</a:t>
            </a:r>
          </a:p>
          <a:p>
            <a:pPr algn="ctr">
              <a:spcBef>
                <a:spcPts val="0"/>
              </a:spcBef>
              <a:spcAft>
                <a:spcPts val="0"/>
              </a:spcAft>
              <a:buNone/>
            </a:pPr>
            <a:r>
              <a:rPr sz="1150" b="0" lang="ko-KR">
                <a:solidFill>
                  <a:srgbClr val="5F6368"/>
                </a:solidFill>
                <a:latin typeface="Calibri"/>
                <a:ea typeface="Noto Sans KR"/>
                <a:cs typeface="Calibri"/>
              </a:rPr>
              <a:t>발표  김성현</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배경 · 온프레미스의 한계</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nav-active"/>
          <p:cNvSpPr/>
          <p:nvPr/>
        </p:nvSpPr>
        <p:spPr>
          <a:xfrm>
            <a:off x="809244"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단일 서버 온프레미스는 장애·공격·폭주에 모두 취약했습니다</a:t>
            </a:r>
          </a:p>
        </p:txBody>
      </p:sp>
      <p:sp>
        <p:nvSpPr>
          <p:cNvPr id="16" name="TextBox 15"/>
          <p:cNvSpPr txBox="1"/>
          <p:nvPr/>
        </p:nvSpPr>
        <p:spPr>
          <a:xfrm>
            <a:off x="603504" y="2048256"/>
            <a:ext cx="3657600" cy="274320"/>
          </a:xfrm>
          <a:prstGeom prst="rect">
            <a:avLst/>
          </a:prstGeom>
          <a:noFill/>
        </p:spPr>
        <p:txBody>
          <a:bodyPr wrap="square" lIns="36576" tIns="18288" rIns="36576" bIns="18288" anchor="t">
            <a:noAutofit/>
          </a:bodyPr>
          <a:lstStyle/>
          <a:p>
            <a:pPr algn="l">
              <a:spcBef>
                <a:spcPts val="0"/>
              </a:spcBef>
              <a:spcAft>
                <a:spcPts val="0"/>
              </a:spcAft>
              <a:buNone/>
            </a:pPr>
            <a:r>
              <a:rPr sz="1200" b="1" lang="ko-KR">
                <a:solidFill>
                  <a:srgbClr val="C5221F"/>
                </a:solidFill>
                <a:latin typeface="Calibri"/>
                <a:ea typeface="Noto Sans KR"/>
                <a:cs typeface="Calibri"/>
              </a:rPr>
              <a:t>AS-IS</a:t>
            </a:r>
            <a:r>
              <a:rPr sz="1200" b="0" lang="ko-KR">
                <a:solidFill>
                  <a:srgbClr val="5F6368"/>
                </a:solidFill>
                <a:latin typeface="Calibri"/>
                <a:ea typeface="Noto Sans KR"/>
                <a:cs typeface="Calibri"/>
              </a:rPr>
              <a:t>  온프레미스 (가상 시나리오)</a:t>
            </a:r>
          </a:p>
        </p:txBody>
      </p:sp>
      <p:pic>
        <p:nvPicPr>
          <p:cNvPr id="17" name="Picture 16" descr="users.png"/>
          <p:cNvPicPr>
            <a:picLocks noChangeAspect="1"/>
          </p:cNvPicPr>
          <p:nvPr/>
        </p:nvPicPr>
        <p:blipFill>
          <a:blip r:embed="rId3"/>
          <a:stretch>
            <a:fillRect/>
          </a:stretch>
        </p:blipFill>
        <p:spPr>
          <a:xfrm>
            <a:off x="731520" y="3246120"/>
            <a:ext cx="566928" cy="566928"/>
          </a:xfrm>
          <a:prstGeom prst="rect">
            <a:avLst/>
          </a:prstGeom>
        </p:spPr>
      </p:pic>
      <p:sp>
        <p:nvSpPr>
          <p:cNvPr id="18" name="TextBox 17"/>
          <p:cNvSpPr txBox="1"/>
          <p:nvPr/>
        </p:nvSpPr>
        <p:spPr>
          <a:xfrm>
            <a:off x="548640" y="3840480"/>
            <a:ext cx="960120" cy="457200"/>
          </a:xfrm>
          <a:prstGeom prst="rect">
            <a:avLst/>
          </a:prstGeom>
          <a:noFill/>
        </p:spPr>
        <p:txBody>
          <a:bodyPr wrap="square" lIns="36576" tIns="18288" rIns="36576" bIns="18288" anchor="t">
            <a:noAutofit/>
          </a:bodyPr>
          <a:lstStyle/>
          <a:p>
            <a:pPr algn="ctr">
              <a:spcBef>
                <a:spcPts val="0"/>
              </a:spcBef>
              <a:spcAft>
                <a:spcPts val="0"/>
              </a:spcAft>
              <a:buNone/>
            </a:pPr>
            <a:r>
              <a:rPr sz="1050" b="0" lang="ko-KR">
                <a:solidFill>
                  <a:srgbClr val="5F6368"/>
                </a:solidFill>
                <a:latin typeface="Calibri"/>
                <a:ea typeface="Noto Sans KR"/>
                <a:cs typeface="Calibri"/>
              </a:rPr>
              <a:t>보호자</a:t>
            </a:r>
          </a:p>
          <a:p>
            <a:pPr algn="ctr">
              <a:spcBef>
                <a:spcPts val="0"/>
              </a:spcBef>
              <a:spcAft>
                <a:spcPts val="0"/>
              </a:spcAft>
              <a:buNone/>
            </a:pPr>
            <a:r>
              <a:rPr sz="1050" b="0" lang="ko-KR">
                <a:solidFill>
                  <a:srgbClr val="5F6368"/>
                </a:solidFill>
                <a:latin typeface="Calibri"/>
                <a:ea typeface="Noto Sans KR"/>
                <a:cs typeface="Calibri"/>
              </a:rPr>
              <a:t>병원 직원</a:t>
            </a:r>
          </a:p>
        </p:txBody>
      </p:sp>
      <p:cxnSp>
        <p:nvCxnSpPr>
          <p:cNvPr id="19" name="Connector 18"/>
          <p:cNvCxnSpPr/>
          <p:nvPr/>
        </p:nvCxnSpPr>
        <p:spPr>
          <a:xfrm>
            <a:off x="1371600" y="3529584"/>
            <a:ext cx="457200" cy="0"/>
          </a:xfrm>
          <a:prstGeom prst="line">
            <a:avLst/>
          </a:prstGeom>
          <a:ln w="22225">
            <a:solidFill>
              <a:srgbClr val="5F6368"/>
            </a:solidFill>
            <a:tailEnd type="triangle" w="med" len="med"/>
          </a:ln>
        </p:spPr>
      </p:cxnSp>
      <p:sp>
        <p:nvSpPr>
          <p:cNvPr id="20" name="Rounded Rectangle 19"/>
          <p:cNvSpPr/>
          <p:nvPr/>
        </p:nvSpPr>
        <p:spPr>
          <a:xfrm>
            <a:off x="1874520" y="2468880"/>
            <a:ext cx="2103120" cy="2852928"/>
          </a:xfrm>
          <a:prstGeom prst="roundRect">
            <a:avLst>
              <a:gd name="adj" fmla="val 5000"/>
            </a:avLst>
          </a:prstGeom>
          <a:solidFill>
            <a:srgbClr val="FFFFFF"/>
          </a:solidFill>
          <a:ln w="15875">
            <a:solidFill>
              <a:srgbClr val="BDC1C6"/>
            </a:solidFill>
          </a:ln>
        </p:spPr>
        <p:txBody>
          <a:bodyPr rtlCol="0" anchor="ctr" wrap="square" lIns="73152" rIns="73152"/>
          <a:lstStyle/>
          <a:p>
            <a:pPr algn="ctr"/>
          </a:p>
        </p:txBody>
      </p:sp>
      <p:sp>
        <p:nvSpPr>
          <p:cNvPr id="21" name="Rounded Rectangle 20"/>
          <p:cNvSpPr/>
          <p:nvPr/>
        </p:nvSpPr>
        <p:spPr>
          <a:xfrm>
            <a:off x="1874520" y="2468880"/>
            <a:ext cx="2103120" cy="384048"/>
          </a:xfrm>
          <a:prstGeom prst="roundRect">
            <a:avLst>
              <a:gd name="adj" fmla="val 12000"/>
            </a:avLst>
          </a:prstGeom>
          <a:solidFill>
            <a:srgbClr val="3C4043"/>
          </a:solidFill>
          <a:ln>
            <a:noFill/>
          </a:ln>
        </p:spPr>
        <p:txBody>
          <a:bodyPr rtlCol="0" anchor="ctr" wrap="square" lIns="73152" rIns="73152"/>
          <a:lstStyle/>
          <a:p>
            <a:pPr algn="ctr">
              <a:spcBef>
                <a:spcPts val="0"/>
              </a:spcBef>
              <a:spcAft>
                <a:spcPts val="0"/>
              </a:spcAft>
              <a:buNone/>
            </a:pPr>
            <a:r>
              <a:rPr sz="1100" b="1" lang="ko-KR">
                <a:solidFill>
                  <a:srgbClr val="FFFFFF"/>
                </a:solidFill>
                <a:latin typeface="Calibri"/>
                <a:ea typeface="Noto Sans KR"/>
                <a:cs typeface="Calibri"/>
              </a:rPr>
              <a:t>PROFIT 동물병원 서버 1대</a:t>
            </a:r>
          </a:p>
        </p:txBody>
      </p:sp>
      <p:sp>
        <p:nvSpPr>
          <p:cNvPr id="22" name="Rounded Rectangle 21"/>
          <p:cNvSpPr/>
          <p:nvPr/>
        </p:nvSpPr>
        <p:spPr>
          <a:xfrm>
            <a:off x="2011680" y="2971800"/>
            <a:ext cx="1828800" cy="512064"/>
          </a:xfrm>
          <a:prstGeom prst="roundRect">
            <a:avLst>
              <a:gd name="adj" fmla="val 10000"/>
            </a:avLst>
          </a:prstGeom>
          <a:solidFill>
            <a:srgbClr val="E6F4EA"/>
          </a:solidFill>
          <a:ln w="9525">
            <a:solidFill>
              <a:srgbClr val="81C995"/>
            </a:solidFill>
          </a:ln>
        </p:spPr>
        <p:txBody>
          <a:bodyPr rtlCol="0" anchor="ctr" wrap="square" lIns="73152" rIns="73152"/>
          <a:lstStyle/>
          <a:p>
            <a:pPr algn="ctr">
              <a:spcBef>
                <a:spcPts val="0"/>
              </a:spcBef>
              <a:spcAft>
                <a:spcPts val="0"/>
              </a:spcAft>
              <a:buNone/>
            </a:pPr>
            <a:r>
              <a:rPr sz="1100" b="1" lang="ko-KR">
                <a:solidFill>
                  <a:srgbClr val="188038"/>
                </a:solidFill>
                <a:latin typeface="Calibri"/>
                <a:ea typeface="Noto Sans KR"/>
                <a:cs typeface="Calibri"/>
              </a:rPr>
              <a:t>WEB  </a:t>
            </a:r>
            <a:r>
              <a:rPr sz="1100" b="0" lang="ko-KR">
                <a:solidFill>
                  <a:srgbClr val="3C4043"/>
                </a:solidFill>
                <a:latin typeface="Calibri"/>
                <a:ea typeface="Noto Sans KR"/>
                <a:cs typeface="Calibri"/>
              </a:rPr>
              <a:t>Apache</a:t>
            </a:r>
          </a:p>
        </p:txBody>
      </p:sp>
      <p:sp>
        <p:nvSpPr>
          <p:cNvPr id="23" name="Rounded Rectangle 22"/>
          <p:cNvSpPr/>
          <p:nvPr/>
        </p:nvSpPr>
        <p:spPr>
          <a:xfrm>
            <a:off x="2011680" y="3575304"/>
            <a:ext cx="1828800" cy="512064"/>
          </a:xfrm>
          <a:prstGeom prst="roundRect">
            <a:avLst>
              <a:gd name="adj" fmla="val 10000"/>
            </a:avLst>
          </a:prstGeom>
          <a:solidFill>
            <a:srgbClr val="FEF7E0"/>
          </a:solidFill>
          <a:ln w="9525">
            <a:solidFill>
              <a:srgbClr val="FDD663"/>
            </a:solidFill>
          </a:ln>
        </p:spPr>
        <p:txBody>
          <a:bodyPr rtlCol="0" anchor="ctr" wrap="square" lIns="73152" rIns="73152"/>
          <a:lstStyle/>
          <a:p>
            <a:pPr algn="ctr">
              <a:spcBef>
                <a:spcPts val="0"/>
              </a:spcBef>
              <a:spcAft>
                <a:spcPts val="0"/>
              </a:spcAft>
              <a:buNone/>
            </a:pPr>
            <a:r>
              <a:rPr sz="1100" b="1" lang="ko-KR">
                <a:solidFill>
                  <a:srgbClr val="B06000"/>
                </a:solidFill>
                <a:latin typeface="Calibri"/>
                <a:ea typeface="Noto Sans KR"/>
                <a:cs typeface="Calibri"/>
              </a:rPr>
              <a:t>WAS  </a:t>
            </a:r>
            <a:r>
              <a:rPr sz="1100" b="0" lang="ko-KR">
                <a:solidFill>
                  <a:srgbClr val="3C4043"/>
                </a:solidFill>
                <a:latin typeface="Calibri"/>
                <a:ea typeface="Noto Sans KR"/>
                <a:cs typeface="Calibri"/>
              </a:rPr>
              <a:t>Tomcat · PetClinic</a:t>
            </a:r>
          </a:p>
        </p:txBody>
      </p:sp>
      <p:sp>
        <p:nvSpPr>
          <p:cNvPr id="24" name="Rounded Rectangle 23"/>
          <p:cNvSpPr/>
          <p:nvPr/>
        </p:nvSpPr>
        <p:spPr>
          <a:xfrm>
            <a:off x="2011680" y="4178808"/>
            <a:ext cx="1828800" cy="512064"/>
          </a:xfrm>
          <a:prstGeom prst="roundRect">
            <a:avLst>
              <a:gd name="adj" fmla="val 10000"/>
            </a:avLst>
          </a:prstGeom>
          <a:solidFill>
            <a:srgbClr val="FCE8E6"/>
          </a:solidFill>
          <a:ln w="9525">
            <a:solidFill>
              <a:srgbClr val="F28B82"/>
            </a:solidFill>
          </a:ln>
        </p:spPr>
        <p:txBody>
          <a:bodyPr rtlCol="0" anchor="ctr" wrap="square" lIns="73152" rIns="73152"/>
          <a:lstStyle/>
          <a:p>
            <a:pPr algn="ctr">
              <a:spcBef>
                <a:spcPts val="0"/>
              </a:spcBef>
              <a:spcAft>
                <a:spcPts val="0"/>
              </a:spcAft>
              <a:buNone/>
            </a:pPr>
            <a:r>
              <a:rPr sz="1100" b="1" lang="ko-KR">
                <a:solidFill>
                  <a:srgbClr val="C5221F"/>
                </a:solidFill>
                <a:latin typeface="Calibri"/>
                <a:ea typeface="Noto Sans KR"/>
                <a:cs typeface="Calibri"/>
              </a:rPr>
              <a:t>DB  </a:t>
            </a:r>
            <a:r>
              <a:rPr sz="1100" b="0" lang="ko-KR">
                <a:solidFill>
                  <a:srgbClr val="3C4043"/>
                </a:solidFill>
                <a:latin typeface="Calibri"/>
                <a:ea typeface="Noto Sans KR"/>
                <a:cs typeface="Calibri"/>
              </a:rPr>
              <a:t>MySQL</a:t>
            </a:r>
          </a:p>
        </p:txBody>
      </p:sp>
      <p:sp>
        <p:nvSpPr>
          <p:cNvPr id="25" name="Rounded Rectangle 24"/>
          <p:cNvSpPr/>
          <p:nvPr/>
        </p:nvSpPr>
        <p:spPr>
          <a:xfrm>
            <a:off x="2011680" y="4846320"/>
            <a:ext cx="1828800" cy="274320"/>
          </a:xfrm>
          <a:prstGeom prst="roundRect">
            <a:avLst>
              <a:gd name="adj" fmla="val 50000"/>
            </a:avLst>
          </a:prstGeom>
          <a:solidFill>
            <a:srgbClr val="EA4335"/>
          </a:solidFill>
          <a:ln>
            <a:noFill/>
          </a:ln>
        </p:spPr>
        <p:txBody>
          <a:bodyPr rtlCol="0" anchor="ctr" wrap="square" lIns="27432" tIns="0" rIns="27432" bIns="0"/>
          <a:lstStyle/>
          <a:p>
            <a:pPr algn="ctr">
              <a:spcBef>
                <a:spcPts val="0"/>
              </a:spcBef>
              <a:spcAft>
                <a:spcPts val="0"/>
              </a:spcAft>
              <a:buNone/>
            </a:pPr>
            <a:r>
              <a:rPr sz="950" b="1" lang="ko-KR">
                <a:solidFill>
                  <a:srgbClr val="FFFFFF"/>
                </a:solidFill>
                <a:latin typeface="Calibri"/>
                <a:ea typeface="Noto Sans KR"/>
                <a:cs typeface="Calibri"/>
              </a:rPr>
              <a:t>공인 IP 직접 노출 · 백업 수동</a:t>
            </a:r>
          </a:p>
        </p:txBody>
      </p:sp>
      <p:sp>
        <p:nvSpPr>
          <p:cNvPr id="26" name="Oval 25"/>
          <p:cNvSpPr/>
          <p:nvPr/>
        </p:nvSpPr>
        <p:spPr>
          <a:xfrm>
            <a:off x="3840480" y="2395728"/>
            <a:ext cx="256032" cy="256032"/>
          </a:xfrm>
          <a:prstGeom prst="ellipse">
            <a:avLst/>
          </a:prstGeom>
          <a:solidFill>
            <a:srgbClr val="EA4335"/>
          </a:solidFill>
          <a:ln>
            <a:noFill/>
          </a:ln>
        </p:spPr>
        <p:txBody>
          <a:bodyPr rtlCol="0" anchor="ctr" wrap="square" lIns="0" tIns="0" rIns="0" bIns="0"/>
          <a:lstStyle/>
          <a:p>
            <a:pPr algn="ctr">
              <a:spcBef>
                <a:spcPts val="0"/>
              </a:spcBef>
              <a:spcAft>
                <a:spcPts val="0"/>
              </a:spcAft>
              <a:buNone/>
            </a:pPr>
            <a:r>
              <a:rPr sz="1000" b="1" lang="ko-KR">
                <a:solidFill>
                  <a:srgbClr val="FFFFFF"/>
                </a:solidFill>
                <a:latin typeface="Calibri"/>
                <a:ea typeface="Noto Sans KR"/>
                <a:cs typeface="Calibri"/>
              </a:rPr>
              <a:t>1</a:t>
            </a:r>
          </a:p>
        </p:txBody>
      </p:sp>
      <p:sp>
        <p:nvSpPr>
          <p:cNvPr id="27" name="Oval 26"/>
          <p:cNvSpPr/>
          <p:nvPr/>
        </p:nvSpPr>
        <p:spPr>
          <a:xfrm>
            <a:off x="1481328" y="3246120"/>
            <a:ext cx="256032" cy="256032"/>
          </a:xfrm>
          <a:prstGeom prst="ellipse">
            <a:avLst/>
          </a:prstGeom>
          <a:solidFill>
            <a:srgbClr val="EA4335"/>
          </a:solidFill>
          <a:ln>
            <a:noFill/>
          </a:ln>
        </p:spPr>
        <p:txBody>
          <a:bodyPr rtlCol="0" anchor="ctr" wrap="square" lIns="0" tIns="0" rIns="0" bIns="0"/>
          <a:lstStyle/>
          <a:p>
            <a:pPr algn="ctr">
              <a:spcBef>
                <a:spcPts val="0"/>
              </a:spcBef>
              <a:spcAft>
                <a:spcPts val="0"/>
              </a:spcAft>
              <a:buNone/>
            </a:pPr>
            <a:r>
              <a:rPr sz="1000" b="1" lang="ko-KR">
                <a:solidFill>
                  <a:srgbClr val="FFFFFF"/>
                </a:solidFill>
                <a:latin typeface="Calibri"/>
                <a:ea typeface="Noto Sans KR"/>
                <a:cs typeface="Calibri"/>
              </a:rPr>
              <a:t>2</a:t>
            </a:r>
          </a:p>
        </p:txBody>
      </p:sp>
      <p:sp>
        <p:nvSpPr>
          <p:cNvPr id="28" name="Oval 27"/>
          <p:cNvSpPr/>
          <p:nvPr/>
        </p:nvSpPr>
        <p:spPr>
          <a:xfrm>
            <a:off x="3840480" y="4754880"/>
            <a:ext cx="256032" cy="256032"/>
          </a:xfrm>
          <a:prstGeom prst="ellipse">
            <a:avLst/>
          </a:prstGeom>
          <a:solidFill>
            <a:srgbClr val="EA4335"/>
          </a:solidFill>
          <a:ln>
            <a:noFill/>
          </a:ln>
        </p:spPr>
        <p:txBody>
          <a:bodyPr rtlCol="0" anchor="ctr" wrap="square" lIns="0" tIns="0" rIns="0" bIns="0"/>
          <a:lstStyle/>
          <a:p>
            <a:pPr algn="ctr">
              <a:spcBef>
                <a:spcPts val="0"/>
              </a:spcBef>
              <a:spcAft>
                <a:spcPts val="0"/>
              </a:spcAft>
              <a:buNone/>
            </a:pPr>
            <a:r>
              <a:rPr sz="1000" b="1" lang="ko-KR">
                <a:solidFill>
                  <a:srgbClr val="FFFFFF"/>
                </a:solidFill>
                <a:latin typeface="Calibri"/>
                <a:ea typeface="Noto Sans KR"/>
                <a:cs typeface="Calibri"/>
              </a:rPr>
              <a:t>3</a:t>
            </a:r>
          </a:p>
        </p:txBody>
      </p:sp>
      <p:sp>
        <p:nvSpPr>
          <p:cNvPr id="29" name="Oval 28"/>
          <p:cNvSpPr/>
          <p:nvPr/>
        </p:nvSpPr>
        <p:spPr>
          <a:xfrm>
            <a:off x="3840480" y="4050792"/>
            <a:ext cx="256032" cy="256032"/>
          </a:xfrm>
          <a:prstGeom prst="ellipse">
            <a:avLst/>
          </a:prstGeom>
          <a:solidFill>
            <a:srgbClr val="EA4335"/>
          </a:solidFill>
          <a:ln>
            <a:noFill/>
          </a:ln>
        </p:spPr>
        <p:txBody>
          <a:bodyPr rtlCol="0" anchor="ctr" wrap="square" lIns="0" tIns="0" rIns="0" bIns="0"/>
          <a:lstStyle/>
          <a:p>
            <a:pPr algn="ctr">
              <a:spcBef>
                <a:spcPts val="0"/>
              </a:spcBef>
              <a:spcAft>
                <a:spcPts val="0"/>
              </a:spcAft>
              <a:buNone/>
            </a:pPr>
            <a:r>
              <a:rPr sz="1000" b="1" lang="ko-KR">
                <a:solidFill>
                  <a:srgbClr val="FFFFFF"/>
                </a:solidFill>
                <a:latin typeface="Calibri"/>
                <a:ea typeface="Noto Sans KR"/>
                <a:cs typeface="Calibri"/>
              </a:rPr>
              <a:t>4</a:t>
            </a:r>
          </a:p>
        </p:txBody>
      </p:sp>
      <p:sp>
        <p:nvSpPr>
          <p:cNvPr id="30" name="Rounded Rectangle 29"/>
          <p:cNvSpPr/>
          <p:nvPr/>
        </p:nvSpPr>
        <p:spPr>
          <a:xfrm>
            <a:off x="4343400" y="2395728"/>
            <a:ext cx="4160520" cy="658368"/>
          </a:xfrm>
          <a:prstGeom prst="roundRect">
            <a:avLst>
              <a:gd name="adj" fmla="val 10000"/>
            </a:avLst>
          </a:prstGeom>
          <a:solidFill>
            <a:srgbClr val="F8F9FA"/>
          </a:solidFill>
          <a:ln w="9525">
            <a:solidFill>
              <a:srgbClr val="DADCE0"/>
            </a:solidFill>
          </a:ln>
        </p:spPr>
        <p:txBody>
          <a:bodyPr rtlCol="0" anchor="ctr" wrap="square" lIns="73152" rIns="73152"/>
          <a:lstStyle/>
          <a:p>
            <a:pPr algn="ctr"/>
          </a:p>
        </p:txBody>
      </p:sp>
      <p:sp>
        <p:nvSpPr>
          <p:cNvPr id="31" name="Oval 30"/>
          <p:cNvSpPr/>
          <p:nvPr/>
        </p:nvSpPr>
        <p:spPr>
          <a:xfrm>
            <a:off x="4462272" y="2578608"/>
            <a:ext cx="292608" cy="292608"/>
          </a:xfrm>
          <a:prstGeom prst="ellipse">
            <a:avLst/>
          </a:prstGeom>
          <a:solidFill>
            <a:srgbClr val="EA4335"/>
          </a:solidFill>
          <a:ln>
            <a:noFill/>
          </a:ln>
        </p:spPr>
        <p:txBody>
          <a:bodyPr rtlCol="0" anchor="ctr" wrap="square" lIns="0" tIns="0" rIns="0" bIns="0"/>
          <a:lstStyle/>
          <a:p>
            <a:pPr algn="ctr">
              <a:spcBef>
                <a:spcPts val="0"/>
              </a:spcBef>
              <a:spcAft>
                <a:spcPts val="0"/>
              </a:spcAft>
              <a:buNone/>
            </a:pPr>
            <a:r>
              <a:rPr sz="1100" b="1" lang="ko-KR">
                <a:solidFill>
                  <a:srgbClr val="FFFFFF"/>
                </a:solidFill>
                <a:latin typeface="Calibri"/>
                <a:ea typeface="Noto Sans KR"/>
                <a:cs typeface="Calibri"/>
              </a:rPr>
              <a:t>1</a:t>
            </a:r>
          </a:p>
        </p:txBody>
      </p:sp>
      <p:sp>
        <p:nvSpPr>
          <p:cNvPr id="32" name="TextBox 31"/>
          <p:cNvSpPr txBox="1"/>
          <p:nvPr/>
        </p:nvSpPr>
        <p:spPr>
          <a:xfrm>
            <a:off x="4846320" y="2432304"/>
            <a:ext cx="3611880" cy="603504"/>
          </a:xfrm>
          <a:prstGeom prst="rect">
            <a:avLst/>
          </a:prstGeom>
          <a:noFill/>
        </p:spPr>
        <p:txBody>
          <a:bodyPr wrap="square" lIns="36576" tIns="18288" rIns="36576" bIns="18288" anchor="ctr">
            <a:noAutofit/>
          </a:bodyPr>
          <a:lstStyle/>
          <a:p>
            <a:pPr algn="l">
              <a:spcBef>
                <a:spcPts val="0"/>
              </a:spcBef>
              <a:spcAft>
                <a:spcPts val="0"/>
              </a:spcAft>
              <a:buNone/>
            </a:pPr>
            <a:r>
              <a:rPr sz="1250" b="1" lang="ko-KR">
                <a:solidFill>
                  <a:srgbClr val="202124"/>
                </a:solidFill>
                <a:latin typeface="Calibri"/>
                <a:ea typeface="Noto Sans KR"/>
                <a:cs typeface="Calibri"/>
              </a:rPr>
              <a:t>단일 장애점</a:t>
            </a:r>
          </a:p>
          <a:p>
            <a:pPr algn="l">
              <a:spcBef>
                <a:spcPts val="0"/>
              </a:spcBef>
              <a:spcAft>
                <a:spcPts val="0"/>
              </a:spcAft>
              <a:buNone/>
            </a:pPr>
            <a:r>
              <a:rPr sz="1100" b="0" lang="ko-KR">
                <a:solidFill>
                  <a:srgbClr val="3C4043"/>
                </a:solidFill>
                <a:latin typeface="Calibri"/>
                <a:ea typeface="Noto Sans KR"/>
                <a:cs typeface="Calibri"/>
              </a:rPr>
              <a:t>서버 1대가 멈추면 예약·진료 조회가 모두 중단</a:t>
            </a:r>
          </a:p>
        </p:txBody>
      </p:sp>
      <p:sp>
        <p:nvSpPr>
          <p:cNvPr id="33" name="Rounded Rectangle 32"/>
          <p:cNvSpPr/>
          <p:nvPr/>
        </p:nvSpPr>
        <p:spPr>
          <a:xfrm>
            <a:off x="4343400" y="3163824"/>
            <a:ext cx="4160520" cy="658368"/>
          </a:xfrm>
          <a:prstGeom prst="roundRect">
            <a:avLst>
              <a:gd name="adj" fmla="val 10000"/>
            </a:avLst>
          </a:prstGeom>
          <a:solidFill>
            <a:srgbClr val="F8F9FA"/>
          </a:solidFill>
          <a:ln w="9525">
            <a:solidFill>
              <a:srgbClr val="DADCE0"/>
            </a:solidFill>
          </a:ln>
        </p:spPr>
        <p:txBody>
          <a:bodyPr rtlCol="0" anchor="ctr" wrap="square" lIns="73152" rIns="73152"/>
          <a:lstStyle/>
          <a:p>
            <a:pPr algn="ctr"/>
          </a:p>
        </p:txBody>
      </p:sp>
      <p:sp>
        <p:nvSpPr>
          <p:cNvPr id="34" name="Oval 33"/>
          <p:cNvSpPr/>
          <p:nvPr/>
        </p:nvSpPr>
        <p:spPr>
          <a:xfrm>
            <a:off x="4462272" y="3346704"/>
            <a:ext cx="292608" cy="292608"/>
          </a:xfrm>
          <a:prstGeom prst="ellipse">
            <a:avLst/>
          </a:prstGeom>
          <a:solidFill>
            <a:srgbClr val="EA4335"/>
          </a:solidFill>
          <a:ln>
            <a:noFill/>
          </a:ln>
        </p:spPr>
        <p:txBody>
          <a:bodyPr rtlCol="0" anchor="ctr" wrap="square" lIns="0" tIns="0" rIns="0" bIns="0"/>
          <a:lstStyle/>
          <a:p>
            <a:pPr algn="ctr">
              <a:spcBef>
                <a:spcPts val="0"/>
              </a:spcBef>
              <a:spcAft>
                <a:spcPts val="0"/>
              </a:spcAft>
              <a:buNone/>
            </a:pPr>
            <a:r>
              <a:rPr sz="1100" b="1" lang="ko-KR">
                <a:solidFill>
                  <a:srgbClr val="FFFFFF"/>
                </a:solidFill>
                <a:latin typeface="Calibri"/>
                <a:ea typeface="Noto Sans KR"/>
                <a:cs typeface="Calibri"/>
              </a:rPr>
              <a:t>2</a:t>
            </a:r>
          </a:p>
        </p:txBody>
      </p:sp>
      <p:sp>
        <p:nvSpPr>
          <p:cNvPr id="35" name="TextBox 34"/>
          <p:cNvSpPr txBox="1"/>
          <p:nvPr/>
        </p:nvSpPr>
        <p:spPr>
          <a:xfrm>
            <a:off x="4846320" y="3200400"/>
            <a:ext cx="3611880" cy="603504"/>
          </a:xfrm>
          <a:prstGeom prst="rect">
            <a:avLst/>
          </a:prstGeom>
          <a:noFill/>
        </p:spPr>
        <p:txBody>
          <a:bodyPr wrap="square" lIns="36576" tIns="18288" rIns="36576" bIns="18288" anchor="ctr">
            <a:noAutofit/>
          </a:bodyPr>
          <a:lstStyle/>
          <a:p>
            <a:pPr algn="l">
              <a:spcBef>
                <a:spcPts val="0"/>
              </a:spcBef>
              <a:spcAft>
                <a:spcPts val="0"/>
              </a:spcAft>
              <a:buNone/>
            </a:pPr>
            <a:r>
              <a:rPr sz="1250" b="1" lang="ko-KR">
                <a:solidFill>
                  <a:srgbClr val="202124"/>
                </a:solidFill>
                <a:latin typeface="Calibri"/>
                <a:ea typeface="Noto Sans KR"/>
                <a:cs typeface="Calibri"/>
              </a:rPr>
              <a:t>확장 불가</a:t>
            </a:r>
          </a:p>
          <a:p>
            <a:pPr algn="l">
              <a:spcBef>
                <a:spcPts val="0"/>
              </a:spcBef>
              <a:spcAft>
                <a:spcPts val="0"/>
              </a:spcAft>
              <a:buNone/>
            </a:pPr>
            <a:r>
              <a:rPr sz="1100" b="0" lang="ko-KR">
                <a:solidFill>
                  <a:srgbClr val="3C4043"/>
                </a:solidFill>
                <a:latin typeface="Calibri"/>
                <a:ea typeface="Noto Sans KR"/>
                <a:cs typeface="Calibri"/>
              </a:rPr>
              <a:t>예방접종 예약 오픈처럼 접속이 몰려도 서버를 늘릴 수 없음</a:t>
            </a:r>
          </a:p>
        </p:txBody>
      </p:sp>
      <p:sp>
        <p:nvSpPr>
          <p:cNvPr id="36" name="Rounded Rectangle 35"/>
          <p:cNvSpPr/>
          <p:nvPr/>
        </p:nvSpPr>
        <p:spPr>
          <a:xfrm>
            <a:off x="4343400" y="3931920"/>
            <a:ext cx="4160520" cy="658368"/>
          </a:xfrm>
          <a:prstGeom prst="roundRect">
            <a:avLst>
              <a:gd name="adj" fmla="val 10000"/>
            </a:avLst>
          </a:prstGeom>
          <a:solidFill>
            <a:srgbClr val="F8F9FA"/>
          </a:solidFill>
          <a:ln w="9525">
            <a:solidFill>
              <a:srgbClr val="DADCE0"/>
            </a:solidFill>
          </a:ln>
        </p:spPr>
        <p:txBody>
          <a:bodyPr rtlCol="0" anchor="ctr" wrap="square" lIns="73152" rIns="73152"/>
          <a:lstStyle/>
          <a:p>
            <a:pPr algn="ctr"/>
          </a:p>
        </p:txBody>
      </p:sp>
      <p:sp>
        <p:nvSpPr>
          <p:cNvPr id="37" name="Oval 36"/>
          <p:cNvSpPr/>
          <p:nvPr/>
        </p:nvSpPr>
        <p:spPr>
          <a:xfrm>
            <a:off x="4462272" y="4114800"/>
            <a:ext cx="292608" cy="292608"/>
          </a:xfrm>
          <a:prstGeom prst="ellipse">
            <a:avLst/>
          </a:prstGeom>
          <a:solidFill>
            <a:srgbClr val="EA4335"/>
          </a:solidFill>
          <a:ln>
            <a:noFill/>
          </a:ln>
        </p:spPr>
        <p:txBody>
          <a:bodyPr rtlCol="0" anchor="ctr" wrap="square" lIns="0" tIns="0" rIns="0" bIns="0"/>
          <a:lstStyle/>
          <a:p>
            <a:pPr algn="ctr">
              <a:spcBef>
                <a:spcPts val="0"/>
              </a:spcBef>
              <a:spcAft>
                <a:spcPts val="0"/>
              </a:spcAft>
              <a:buNone/>
            </a:pPr>
            <a:r>
              <a:rPr sz="1100" b="1" lang="ko-KR">
                <a:solidFill>
                  <a:srgbClr val="FFFFFF"/>
                </a:solidFill>
                <a:latin typeface="Calibri"/>
                <a:ea typeface="Noto Sans KR"/>
                <a:cs typeface="Calibri"/>
              </a:rPr>
              <a:t>3</a:t>
            </a:r>
          </a:p>
        </p:txBody>
      </p:sp>
      <p:sp>
        <p:nvSpPr>
          <p:cNvPr id="38" name="TextBox 37"/>
          <p:cNvSpPr txBox="1"/>
          <p:nvPr/>
        </p:nvSpPr>
        <p:spPr>
          <a:xfrm>
            <a:off x="4846320" y="3968496"/>
            <a:ext cx="3611880" cy="603504"/>
          </a:xfrm>
          <a:prstGeom prst="rect">
            <a:avLst/>
          </a:prstGeom>
          <a:noFill/>
        </p:spPr>
        <p:txBody>
          <a:bodyPr wrap="square" lIns="36576" tIns="18288" rIns="36576" bIns="18288" anchor="ctr">
            <a:noAutofit/>
          </a:bodyPr>
          <a:lstStyle/>
          <a:p>
            <a:pPr algn="l">
              <a:spcBef>
                <a:spcPts val="0"/>
              </a:spcBef>
              <a:spcAft>
                <a:spcPts val="0"/>
              </a:spcAft>
              <a:buNone/>
            </a:pPr>
            <a:r>
              <a:rPr sz="1250" b="1" lang="ko-KR">
                <a:solidFill>
                  <a:srgbClr val="202124"/>
                </a:solidFill>
                <a:latin typeface="Calibri"/>
                <a:ea typeface="Noto Sans KR"/>
                <a:cs typeface="Calibri"/>
              </a:rPr>
              <a:t>보안 부재</a:t>
            </a:r>
          </a:p>
          <a:p>
            <a:pPr algn="l">
              <a:spcBef>
                <a:spcPts val="0"/>
              </a:spcBef>
              <a:spcAft>
                <a:spcPts val="0"/>
              </a:spcAft>
              <a:buNone/>
            </a:pPr>
            <a:r>
              <a:rPr sz="1100" b="0" lang="ko-KR">
                <a:solidFill>
                  <a:srgbClr val="3C4043"/>
                </a:solidFill>
                <a:latin typeface="Calibri"/>
                <a:ea typeface="Noto Sans KR"/>
                <a:cs typeface="Calibri"/>
              </a:rPr>
              <a:t>서버가 인터넷에 직접 노출, 공격·과다 요청을 걸러낼 WAF 없음</a:t>
            </a:r>
          </a:p>
        </p:txBody>
      </p:sp>
      <p:sp>
        <p:nvSpPr>
          <p:cNvPr id="39" name="Rounded Rectangle 38"/>
          <p:cNvSpPr/>
          <p:nvPr/>
        </p:nvSpPr>
        <p:spPr>
          <a:xfrm>
            <a:off x="4343400" y="4700016"/>
            <a:ext cx="4160520" cy="658368"/>
          </a:xfrm>
          <a:prstGeom prst="roundRect">
            <a:avLst>
              <a:gd name="adj" fmla="val 10000"/>
            </a:avLst>
          </a:prstGeom>
          <a:solidFill>
            <a:srgbClr val="F8F9FA"/>
          </a:solidFill>
          <a:ln w="9525">
            <a:solidFill>
              <a:srgbClr val="DADCE0"/>
            </a:solidFill>
          </a:ln>
        </p:spPr>
        <p:txBody>
          <a:bodyPr rtlCol="0" anchor="ctr" wrap="square" lIns="73152" rIns="73152"/>
          <a:lstStyle/>
          <a:p>
            <a:pPr algn="ctr"/>
          </a:p>
        </p:txBody>
      </p:sp>
      <p:sp>
        <p:nvSpPr>
          <p:cNvPr id="40" name="Oval 39"/>
          <p:cNvSpPr/>
          <p:nvPr/>
        </p:nvSpPr>
        <p:spPr>
          <a:xfrm>
            <a:off x="4462272" y="4882896"/>
            <a:ext cx="292608" cy="292608"/>
          </a:xfrm>
          <a:prstGeom prst="ellipse">
            <a:avLst/>
          </a:prstGeom>
          <a:solidFill>
            <a:srgbClr val="EA4335"/>
          </a:solidFill>
          <a:ln>
            <a:noFill/>
          </a:ln>
        </p:spPr>
        <p:txBody>
          <a:bodyPr rtlCol="0" anchor="ctr" wrap="square" lIns="0" tIns="0" rIns="0" bIns="0"/>
          <a:lstStyle/>
          <a:p>
            <a:pPr algn="ctr">
              <a:spcBef>
                <a:spcPts val="0"/>
              </a:spcBef>
              <a:spcAft>
                <a:spcPts val="0"/>
              </a:spcAft>
              <a:buNone/>
            </a:pPr>
            <a:r>
              <a:rPr sz="1100" b="1" lang="ko-KR">
                <a:solidFill>
                  <a:srgbClr val="FFFFFF"/>
                </a:solidFill>
                <a:latin typeface="Calibri"/>
                <a:ea typeface="Noto Sans KR"/>
                <a:cs typeface="Calibri"/>
              </a:rPr>
              <a:t>4</a:t>
            </a:r>
          </a:p>
        </p:txBody>
      </p:sp>
      <p:sp>
        <p:nvSpPr>
          <p:cNvPr id="41" name="TextBox 40"/>
          <p:cNvSpPr txBox="1"/>
          <p:nvPr/>
        </p:nvSpPr>
        <p:spPr>
          <a:xfrm>
            <a:off x="4846320" y="4736592"/>
            <a:ext cx="3611880" cy="603504"/>
          </a:xfrm>
          <a:prstGeom prst="rect">
            <a:avLst/>
          </a:prstGeom>
          <a:noFill/>
        </p:spPr>
        <p:txBody>
          <a:bodyPr wrap="square" lIns="36576" tIns="18288" rIns="36576" bIns="18288" anchor="ctr">
            <a:noAutofit/>
          </a:bodyPr>
          <a:lstStyle/>
          <a:p>
            <a:pPr algn="l">
              <a:spcBef>
                <a:spcPts val="0"/>
              </a:spcBef>
              <a:spcAft>
                <a:spcPts val="0"/>
              </a:spcAft>
              <a:buNone/>
            </a:pPr>
            <a:r>
              <a:rPr sz="1250" b="1" lang="ko-KR">
                <a:solidFill>
                  <a:srgbClr val="202124"/>
                </a:solidFill>
                <a:latin typeface="Calibri"/>
                <a:ea typeface="Noto Sans KR"/>
                <a:cs typeface="Calibri"/>
              </a:rPr>
              <a:t>수작업 운영</a:t>
            </a:r>
          </a:p>
          <a:p>
            <a:pPr algn="l">
              <a:spcBef>
                <a:spcPts val="0"/>
              </a:spcBef>
              <a:spcAft>
                <a:spcPts val="0"/>
              </a:spcAft>
              <a:buNone/>
            </a:pPr>
            <a:r>
              <a:rPr sz="1100" b="0" lang="ko-KR">
                <a:solidFill>
                  <a:srgbClr val="3C4043"/>
                </a:solidFill>
                <a:latin typeface="Calibri"/>
                <a:ea typeface="Noto Sans KR"/>
                <a:cs typeface="Calibri"/>
              </a:rPr>
              <a:t>백업·복구·장애 감지를 사람이 직접 → 데이터 유실·대응 지연 위험</a:t>
            </a:r>
          </a:p>
        </p:txBody>
      </p:sp>
      <p:sp>
        <p:nvSpPr>
          <p:cNvPr id="42" name="Rounded Rectangle 41"/>
          <p:cNvSpPr/>
          <p:nvPr/>
        </p:nvSpPr>
        <p:spPr>
          <a:xfrm>
            <a:off x="603504" y="5596128"/>
            <a:ext cx="7936992" cy="603504"/>
          </a:xfrm>
          <a:prstGeom prst="roundRect">
            <a:avLst>
              <a:gd name="adj" fmla="val 12000"/>
            </a:avLst>
          </a:prstGeom>
          <a:solidFill>
            <a:srgbClr val="E8F0FE"/>
          </a:solidFill>
          <a:ln>
            <a:noFill/>
          </a:ln>
        </p:spPr>
        <p:txBody>
          <a:bodyPr rtlCol="0" anchor="ctr" wrap="square" lIns="137160" tIns="36576" rIns="109728" bIns="36576"/>
          <a:lstStyle/>
          <a:p>
            <a:pPr algn="l">
              <a:spcBef>
                <a:spcPts val="0"/>
              </a:spcBef>
              <a:spcAft>
                <a:spcPts val="0"/>
              </a:spcAft>
              <a:buNone/>
            </a:pPr>
            <a:r>
              <a:rPr sz="1200" b="1" lang="ko-KR">
                <a:solidFill>
                  <a:srgbClr val="1967D2"/>
                </a:solidFill>
                <a:latin typeface="Calibri"/>
                <a:ea typeface="Noto Sans KR"/>
                <a:cs typeface="Calibri"/>
              </a:rPr>
              <a:t>목표  </a:t>
            </a:r>
            <a:r>
              <a:rPr sz="1200" b="0" lang="ko-KR">
                <a:solidFill>
                  <a:srgbClr val="202124"/>
                </a:solidFill>
                <a:latin typeface="Calibri"/>
                <a:ea typeface="Noto Sans KR"/>
                <a:cs typeface="Calibri"/>
              </a:rPr>
              <a:t>애플리케이션(PetClinic)은 그대로 옮기고(Lift &amp; Shift), 인프라는 가용성·확장성·보안·운영 자동화를 갖춘 GCP 3-Tier로 전환</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요구사항 · 해결 방향</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nav-active"/>
          <p:cNvSpPr/>
          <p:nvPr/>
        </p:nvSpPr>
        <p:spPr>
          <a:xfrm>
            <a:off x="809244"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4가지 문제를 요구사항으로 바꾸고 GCP 기능으로 대응했습니다</a:t>
            </a:r>
          </a:p>
        </p:txBody>
      </p:sp>
      <p:graphicFrame>
        <p:nvGraphicFramePr>
          <p:cNvPr id="16" name="Table 15"/>
          <p:cNvGraphicFramePr>
            <a:graphicFrameLocks noGrp="1"/>
          </p:cNvGraphicFramePr>
          <p:nvPr/>
        </p:nvGraphicFramePr>
        <p:xfrm>
          <a:off x="603504" y="2066544"/>
          <a:ext cx="7936992" cy="3493008"/>
        </p:xfrm>
        <a:graphic>
          <a:graphicData uri="http://schemas.openxmlformats.org/drawingml/2006/table">
            <a:tbl>
              <a:tblPr firstRow="0" bandRow="0">
                <a:tableStyleId>{2D5ABB26-0587-4C30-8999-92F81FD0307C}</a:tableStyleId>
              </a:tblPr>
              <a:tblGrid>
                <a:gridCol w="1325880"/>
                <a:gridCol w="2148840"/>
                <a:gridCol w="2834640"/>
                <a:gridCol w="1627632"/>
              </a:tblGrid>
              <a:tr h="347472">
                <a:tc>
                  <a:txBody>
                    <a:bodyPr wrap="square"/>
                    <a:lstStyle/>
                    <a:p>
                      <a:pPr algn="l">
                        <a:spcBef>
                          <a:spcPts val="0"/>
                        </a:spcBef>
                        <a:spcAft>
                          <a:spcPts val="0"/>
                        </a:spcAft>
                        <a:buNone/>
                      </a:pPr>
                      <a:r>
                        <a:rPr sz="1250" b="1" lang="ko-KR">
                          <a:solidFill>
                            <a:srgbClr val="202124"/>
                          </a:solidFill>
                          <a:latin typeface="Calibri"/>
                          <a:ea typeface="Noto Sans KR"/>
                          <a:cs typeface="Calibri"/>
                        </a:rPr>
                        <a:t>문제</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250" b="1" lang="ko-KR">
                          <a:solidFill>
                            <a:srgbClr val="202124"/>
                          </a:solidFill>
                          <a:latin typeface="Calibri"/>
                          <a:ea typeface="Noto Sans KR"/>
                          <a:cs typeface="Calibri"/>
                        </a:rPr>
                        <a:t>요구사항</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250" b="1" lang="ko-KR">
                          <a:solidFill>
                            <a:srgbClr val="202124"/>
                          </a:solidFill>
                          <a:latin typeface="Calibri"/>
                          <a:ea typeface="Noto Sans KR"/>
                          <a:cs typeface="Calibri"/>
                        </a:rPr>
                        <a:t>적용한 GCP 구성</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250" b="1" lang="ko-KR">
                          <a:solidFill>
                            <a:srgbClr val="202124"/>
                          </a:solidFill>
                          <a:latin typeface="Calibri"/>
                          <a:ea typeface="Noto Sans KR"/>
                          <a:cs typeface="Calibri"/>
                        </a:rPr>
                        <a:t>검증 방법</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r>
              <a:tr h="786384">
                <a:tc>
                  <a:txBody>
                    <a:bodyPr wrap="square"/>
                    <a:lstStyle/>
                    <a:p>
                      <a:pPr algn="l">
                        <a:spcBef>
                          <a:spcPts val="0"/>
                        </a:spcBef>
                        <a:spcAft>
                          <a:spcPts val="0"/>
                        </a:spcAft>
                        <a:buNone/>
                      </a:pPr>
                      <a:r>
                        <a:rPr sz="1200" b="1" lang="ko-KR">
                          <a:solidFill>
                            <a:srgbClr val="3C4043"/>
                          </a:solidFill>
                          <a:latin typeface="Calibri"/>
                          <a:ea typeface="Noto Sans KR"/>
                          <a:cs typeface="Calibri"/>
                        </a:rPr>
                        <a:t>① 단일 장애점</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1" lang="ko-KR">
                          <a:solidFill>
                            <a:srgbClr val="202124"/>
                          </a:solidFill>
                          <a:latin typeface="Calibri"/>
                          <a:ea typeface="Noto Sans KR"/>
                          <a:cs typeface="Calibri"/>
                        </a:rPr>
                        <a:t>가용성</a:t>
                      </a:r>
                      <a:r>
                        <a:rPr sz="1200" b="0" lang="ko-KR">
                          <a:solidFill>
                            <a:srgbClr val="3C4043"/>
                          </a:solidFill>
                          <a:latin typeface="Calibri"/>
                          <a:ea typeface="Noto Sans KR"/>
                          <a:cs typeface="Calibri"/>
                        </a:rPr>
                        <a:t>  서버·존 장애에도 서비스 유지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0" lang="ko-KR">
                          <a:solidFill>
                            <a:srgbClr val="3C4043"/>
                          </a:solidFill>
                          <a:latin typeface="Calibri"/>
                          <a:ea typeface="Noto Sans KR"/>
                          <a:cs typeface="Calibri"/>
                        </a:rPr>
                        <a:t>3개 존 MIG + LB 헬스체크 · 오토힐링</a:t>
                      </a:r>
                    </a:p>
                    <a:p>
                      <a:pPr algn="l">
                        <a:spcBef>
                          <a:spcPts val="0"/>
                        </a:spcBef>
                        <a:spcAft>
                          <a:spcPts val="0"/>
                        </a:spcAft>
                        <a:buNone/>
                      </a:pPr>
                      <a:r>
                        <a:rPr sz="1200" b="0" lang="ko-KR">
                          <a:solidFill>
                            <a:srgbClr val="3C4043"/>
                          </a:solidFill>
                          <a:latin typeface="Calibri"/>
                          <a:ea typeface="Noto Sans KR"/>
                          <a:cs typeface="Calibri"/>
                        </a:rPr>
                        <a:t>Cloud SQL HA (자동 Failover)</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0" lang="ko-KR">
                          <a:solidFill>
                            <a:srgbClr val="3C4043"/>
                          </a:solidFill>
                          <a:latin typeface="Calibri"/>
                          <a:ea typeface="Noto Sans KR"/>
                          <a:cs typeface="Calibri"/>
                        </a:rPr>
                        <a:t>인스턴스 중지·삭제</a:t>
                      </a:r>
                    </a:p>
                    <a:p>
                      <a:pPr algn="l">
                        <a:spcBef>
                          <a:spcPts val="0"/>
                        </a:spcBef>
                        <a:spcAft>
                          <a:spcPts val="0"/>
                        </a:spcAft>
                        <a:buNone/>
                      </a:pPr>
                      <a:r>
                        <a:rPr sz="1200" b="0" lang="ko-KR">
                          <a:solidFill>
                            <a:srgbClr val="3C4043"/>
                          </a:solidFill>
                          <a:latin typeface="Calibri"/>
                          <a:ea typeface="Noto Sans KR"/>
                          <a:cs typeface="Calibri"/>
                        </a:rPr>
                        <a:t>DB 수동 Failover</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786384">
                <a:tc>
                  <a:txBody>
                    <a:bodyPr wrap="square"/>
                    <a:lstStyle/>
                    <a:p>
                      <a:pPr algn="l">
                        <a:spcBef>
                          <a:spcPts val="0"/>
                        </a:spcBef>
                        <a:spcAft>
                          <a:spcPts val="0"/>
                        </a:spcAft>
                        <a:buNone/>
                      </a:pPr>
                      <a:r>
                        <a:rPr sz="1200" b="1" lang="ko-KR">
                          <a:solidFill>
                            <a:srgbClr val="3C4043"/>
                          </a:solidFill>
                          <a:latin typeface="Calibri"/>
                          <a:ea typeface="Noto Sans KR"/>
                          <a:cs typeface="Calibri"/>
                        </a:rPr>
                        <a:t>② 확장 불가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1" lang="ko-KR">
                          <a:solidFill>
                            <a:srgbClr val="202124"/>
                          </a:solidFill>
                          <a:latin typeface="Calibri"/>
                          <a:ea typeface="Noto Sans KR"/>
                          <a:cs typeface="Calibri"/>
                        </a:rPr>
                        <a:t>확장성</a:t>
                      </a:r>
                      <a:r>
                        <a:rPr sz="1200" b="0" lang="ko-KR">
                          <a:solidFill>
                            <a:srgbClr val="3C4043"/>
                          </a:solidFill>
                          <a:latin typeface="Calibri"/>
                          <a:ea typeface="Noto Sans KR"/>
                          <a:cs typeface="Calibri"/>
                        </a:rPr>
                        <a:t>  부하에 맞춰 자동 증설·축소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0" lang="ko-KR">
                          <a:solidFill>
                            <a:srgbClr val="3C4043"/>
                          </a:solidFill>
                          <a:latin typeface="Calibri"/>
                          <a:ea typeface="Noto Sans KR"/>
                          <a:cs typeface="Calibri"/>
                        </a:rPr>
                        <a:t>오토스케일 2~6대</a:t>
                      </a:r>
                    </a:p>
                    <a:p>
                      <a:pPr algn="l">
                        <a:spcBef>
                          <a:spcPts val="0"/>
                        </a:spcBef>
                        <a:spcAft>
                          <a:spcPts val="0"/>
                        </a:spcAft>
                        <a:buNone/>
                      </a:pPr>
                      <a:r>
                        <a:rPr sz="1200" b="0" lang="ko-KR">
                          <a:solidFill>
                            <a:srgbClr val="3C4043"/>
                          </a:solidFill>
                          <a:latin typeface="Calibri"/>
                          <a:ea typeface="Noto Sans KR"/>
                          <a:cs typeface="Calibri"/>
                        </a:rPr>
                        <a:t>골든 이미지로 빠른 기동</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0" lang="ko-KR">
                          <a:solidFill>
                            <a:srgbClr val="3C4043"/>
                          </a:solidFill>
                          <a:latin typeface="Calibri"/>
                          <a:ea typeface="Noto Sans KR"/>
                          <a:cs typeface="Calibri"/>
                        </a:rPr>
                        <a:t>Locust 부하 테스트</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786384">
                <a:tc>
                  <a:txBody>
                    <a:bodyPr wrap="square"/>
                    <a:lstStyle/>
                    <a:p>
                      <a:pPr algn="l">
                        <a:spcBef>
                          <a:spcPts val="0"/>
                        </a:spcBef>
                        <a:spcAft>
                          <a:spcPts val="0"/>
                        </a:spcAft>
                        <a:buNone/>
                      </a:pPr>
                      <a:r>
                        <a:rPr sz="1200" b="1" lang="ko-KR">
                          <a:solidFill>
                            <a:srgbClr val="3C4043"/>
                          </a:solidFill>
                          <a:latin typeface="Calibri"/>
                          <a:ea typeface="Noto Sans KR"/>
                          <a:cs typeface="Calibri"/>
                        </a:rPr>
                        <a:t>③ 보안 부재</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1" lang="ko-KR">
                          <a:solidFill>
                            <a:srgbClr val="202124"/>
                          </a:solidFill>
                          <a:latin typeface="Calibri"/>
                          <a:ea typeface="Noto Sans KR"/>
                          <a:cs typeface="Calibri"/>
                        </a:rPr>
                        <a:t>보안</a:t>
                      </a:r>
                      <a:r>
                        <a:rPr sz="1200" b="0" lang="ko-KR">
                          <a:solidFill>
                            <a:srgbClr val="3C4043"/>
                          </a:solidFill>
                          <a:latin typeface="Calibri"/>
                          <a:ea typeface="Noto Sans KR"/>
                          <a:cs typeface="Calibri"/>
                        </a:rPr>
                        <a:t>  공격 차단 · 계층 격리</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0" lang="ko-KR">
                          <a:solidFill>
                            <a:srgbClr val="3C4043"/>
                          </a:solidFill>
                          <a:latin typeface="Calibri"/>
                          <a:ea typeface="Noto Sans KR"/>
                          <a:cs typeface="Calibri"/>
                        </a:rPr>
                        <a:t>Cloud Armor (WAF · 요청 제한) · HTTPS</a:t>
                      </a:r>
                    </a:p>
                    <a:p>
                      <a:pPr algn="l">
                        <a:spcBef>
                          <a:spcPts val="0"/>
                        </a:spcBef>
                        <a:spcAft>
                          <a:spcPts val="0"/>
                        </a:spcAft>
                        <a:buNone/>
                      </a:pPr>
                      <a:r>
                        <a:rPr sz="1200" b="0" lang="ko-KR">
                          <a:solidFill>
                            <a:srgbClr val="3C4043"/>
                          </a:solidFill>
                          <a:latin typeface="Calibri"/>
                          <a:ea typeface="Noto Sans KR"/>
                          <a:cs typeface="Calibri"/>
                        </a:rPr>
                        <a:t>방화벽 계층 격리 · VM 외부 IP 제거 (IAP · NAT)</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0" lang="ko-KR">
                          <a:solidFill>
                            <a:srgbClr val="3C4043"/>
                          </a:solidFill>
                          <a:latin typeface="Calibri"/>
                          <a:ea typeface="Noto Sans KR"/>
                          <a:cs typeface="Calibri"/>
                        </a:rPr>
                        <a:t>공격·과다 요청 차단 로그</a:t>
                      </a:r>
                    </a:p>
                    <a:p>
                      <a:pPr algn="l">
                        <a:spcBef>
                          <a:spcPts val="0"/>
                        </a:spcBef>
                        <a:spcAft>
                          <a:spcPts val="0"/>
                        </a:spcAft>
                        <a:buNone/>
                      </a:pPr>
                      <a:r>
                        <a:rPr sz="1200" b="0" lang="ko-KR">
                          <a:solidFill>
                            <a:srgbClr val="3C4043"/>
                          </a:solidFill>
                          <a:latin typeface="Calibri"/>
                          <a:ea typeface="Noto Sans KR"/>
                          <a:cs typeface="Calibri"/>
                        </a:rPr>
                        <a:t>계층 간 호출 차단 확인</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786384">
                <a:tc>
                  <a:txBody>
                    <a:bodyPr wrap="square"/>
                    <a:lstStyle/>
                    <a:p>
                      <a:pPr algn="l">
                        <a:spcBef>
                          <a:spcPts val="0"/>
                        </a:spcBef>
                        <a:spcAft>
                          <a:spcPts val="0"/>
                        </a:spcAft>
                        <a:buNone/>
                      </a:pPr>
                      <a:r>
                        <a:rPr sz="1200" b="1" lang="ko-KR">
                          <a:solidFill>
                            <a:srgbClr val="3C4043"/>
                          </a:solidFill>
                          <a:latin typeface="Calibri"/>
                          <a:ea typeface="Noto Sans KR"/>
                          <a:cs typeface="Calibri"/>
                        </a:rPr>
                        <a:t>④ 수작업 운영</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1" lang="ko-KR">
                          <a:solidFill>
                            <a:srgbClr val="202124"/>
                          </a:solidFill>
                          <a:latin typeface="Calibri"/>
                          <a:ea typeface="Noto Sans KR"/>
                          <a:cs typeface="Calibri"/>
                        </a:rPr>
                        <a:t>운영</a:t>
                      </a:r>
                      <a:r>
                        <a:rPr sz="1200" b="0" lang="ko-KR">
                          <a:solidFill>
                            <a:srgbClr val="3C4043"/>
                          </a:solidFill>
                          <a:latin typeface="Calibri"/>
                          <a:ea typeface="Noto Sans KR"/>
                          <a:cs typeface="Calibri"/>
                        </a:rPr>
                        <a:t>  데이터 보호 · 장애 자동 감지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0" lang="ko-KR">
                          <a:solidFill>
                            <a:srgbClr val="3C4043"/>
                          </a:solidFill>
                          <a:latin typeface="Calibri"/>
                          <a:ea typeface="Noto Sans KR"/>
                          <a:cs typeface="Calibri"/>
                        </a:rPr>
                        <a:t>자동 백업 · PITR</a:t>
                      </a:r>
                    </a:p>
                    <a:p>
                      <a:pPr algn="l">
                        <a:spcBef>
                          <a:spcPts val="0"/>
                        </a:spcBef>
                        <a:spcAft>
                          <a:spcPts val="0"/>
                        </a:spcAft>
                        <a:buNone/>
                      </a:pPr>
                      <a:r>
                        <a:rPr sz="1200" b="0" lang="ko-KR">
                          <a:solidFill>
                            <a:srgbClr val="3C4043"/>
                          </a:solidFill>
                          <a:latin typeface="Calibri"/>
                          <a:ea typeface="Noto Sans KR"/>
                          <a:cs typeface="Calibri"/>
                        </a:rPr>
                        <a:t>Logging · Monitoring · Slack 알림</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200" b="0" lang="ko-KR">
                          <a:solidFill>
                            <a:srgbClr val="3C4043"/>
                          </a:solidFill>
                          <a:latin typeface="Calibri"/>
                          <a:ea typeface="Noto Sans KR"/>
                          <a:cs typeface="Calibri"/>
                        </a:rPr>
                        <a:t>PITR 복구</a:t>
                      </a:r>
                    </a:p>
                    <a:p>
                      <a:pPr algn="l">
                        <a:spcBef>
                          <a:spcPts val="0"/>
                        </a:spcBef>
                        <a:spcAft>
                          <a:spcPts val="0"/>
                        </a:spcAft>
                        <a:buNone/>
                      </a:pPr>
                      <a:r>
                        <a:rPr sz="1200" b="0" lang="ko-KR">
                          <a:solidFill>
                            <a:srgbClr val="3C4043"/>
                          </a:solidFill>
                          <a:latin typeface="Calibri"/>
                          <a:ea typeface="Noto Sans KR"/>
                          <a:cs typeface="Calibri"/>
                        </a:rPr>
                        <a:t>알림 수신 확인</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
        <p:nvSpPr>
          <p:cNvPr id="17" name="TextBox 16"/>
          <p:cNvSpPr txBox="1"/>
          <p:nvPr/>
        </p:nvSpPr>
        <p:spPr>
          <a:xfrm>
            <a:off x="603504" y="5742432"/>
            <a:ext cx="7936992" cy="411480"/>
          </a:xfrm>
          <a:prstGeom prst="rect">
            <a:avLst/>
          </a:prstGeom>
          <a:noFill/>
        </p:spPr>
        <p:txBody>
          <a:bodyPr wrap="square" lIns="36576" tIns="18288" rIns="36576" bIns="18288" anchor="ctr">
            <a:noAutofit/>
          </a:bodyPr>
          <a:lstStyle/>
          <a:p>
            <a:pPr algn="l">
              <a:spcBef>
                <a:spcPts val="0"/>
              </a:spcBef>
              <a:spcAft>
                <a:spcPts val="0"/>
              </a:spcAft>
              <a:buNone/>
            </a:pPr>
            <a:r>
              <a:rPr sz="1150" b="1" lang="ko-KR">
                <a:solidFill>
                  <a:srgbClr val="1967D2"/>
                </a:solidFill>
                <a:latin typeface="Calibri"/>
                <a:ea typeface="Noto Sans KR"/>
                <a:cs typeface="Calibri"/>
              </a:rPr>
              <a:t>→ </a:t>
            </a:r>
            <a:r>
              <a:rPr sz="1150" b="0" lang="ko-KR">
                <a:solidFill>
                  <a:srgbClr val="5F6368"/>
                </a:solidFill>
                <a:latin typeface="Calibri"/>
                <a:ea typeface="Noto Sans KR"/>
                <a:cs typeface="Calibri"/>
              </a:rPr>
              <a:t>다음 장: 이 요구사항을 가장 적은 변경으로 충족하는 구조를 비교해 3-Tier를 선택했습니다</a:t>
            </a:r>
          </a:p>
        </p:txBody>
      </p:sp>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설계 · 왜 3-Tier인가</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nav-active"/>
          <p:cNvSpPr/>
          <p:nvPr/>
        </p:nvSpPr>
        <p:spPr>
          <a:xfrm>
            <a:off x="809244"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3-Tier는 목적이 아니라 요구사항을 충족하는 수단입니다</a:t>
            </a:r>
          </a:p>
        </p:txBody>
      </p:sp>
      <p:sp>
        <p:nvSpPr>
          <p:cNvPr id="16" name="Rounded Rectangle 15"/>
          <p:cNvSpPr/>
          <p:nvPr/>
        </p:nvSpPr>
        <p:spPr>
          <a:xfrm>
            <a:off x="603504" y="2066544"/>
            <a:ext cx="2542032" cy="3310128"/>
          </a:xfrm>
          <a:prstGeom prst="roundRect">
            <a:avLst>
              <a:gd name="adj" fmla="val 5000"/>
            </a:avLst>
          </a:prstGeom>
          <a:solidFill>
            <a:srgbClr val="FFFFFF"/>
          </a:solidFill>
          <a:ln w="9525">
            <a:solidFill>
              <a:srgbClr val="DADCE0"/>
            </a:solidFill>
          </a:ln>
        </p:spPr>
        <p:txBody>
          <a:bodyPr rtlCol="0" anchor="ctr" wrap="square" lIns="73152" rIns="73152"/>
          <a:lstStyle/>
          <a:p>
            <a:pPr algn="ctr"/>
          </a:p>
        </p:txBody>
      </p:sp>
      <p:sp>
        <p:nvSpPr>
          <p:cNvPr id="17" name="TextBox 16"/>
          <p:cNvSpPr txBox="1"/>
          <p:nvPr/>
        </p:nvSpPr>
        <p:spPr>
          <a:xfrm>
            <a:off x="731520" y="2157984"/>
            <a:ext cx="1645920" cy="292608"/>
          </a:xfrm>
          <a:prstGeom prst="rect">
            <a:avLst/>
          </a:prstGeom>
          <a:noFill/>
        </p:spPr>
        <p:txBody>
          <a:bodyPr wrap="square" lIns="36576" tIns="18288" rIns="36576" bIns="18288" anchor="t">
            <a:noAutofit/>
          </a:bodyPr>
          <a:lstStyle/>
          <a:p>
            <a:pPr algn="l">
              <a:spcBef>
                <a:spcPts val="0"/>
              </a:spcBef>
              <a:spcAft>
                <a:spcPts val="0"/>
              </a:spcAft>
              <a:buNone/>
            </a:pPr>
            <a:r>
              <a:rPr sz="1100" b="1" lang="ko-KR">
                <a:solidFill>
                  <a:srgbClr val="5F6368"/>
                </a:solidFill>
                <a:latin typeface="Calibri"/>
                <a:ea typeface="Noto Sans KR"/>
                <a:cs typeface="Calibri"/>
              </a:rPr>
              <a:t>안 A</a:t>
            </a:r>
          </a:p>
        </p:txBody>
      </p:sp>
      <p:sp>
        <p:nvSpPr>
          <p:cNvPr id="18" name="Rounded Rectangle 17"/>
          <p:cNvSpPr/>
          <p:nvPr/>
        </p:nvSpPr>
        <p:spPr>
          <a:xfrm>
            <a:off x="2249424" y="2176272"/>
            <a:ext cx="786384" cy="256032"/>
          </a:xfrm>
          <a:prstGeom prst="roundRect">
            <a:avLst>
              <a:gd name="adj" fmla="val 50000"/>
            </a:avLst>
          </a:prstGeom>
          <a:solidFill>
            <a:srgbClr val="9AA0A6"/>
          </a:solidFill>
          <a:ln>
            <a:noFill/>
          </a:ln>
        </p:spPr>
        <p:txBody>
          <a:bodyPr rtlCol="0" anchor="ctr" wrap="square" lIns="27432" tIns="0" rIns="27432" bIns="0"/>
          <a:lstStyle/>
          <a:p>
            <a:pPr algn="ctr">
              <a:spcBef>
                <a:spcPts val="0"/>
              </a:spcBef>
              <a:spcAft>
                <a:spcPts val="0"/>
              </a:spcAft>
              <a:buNone/>
            </a:pPr>
            <a:r>
              <a:rPr sz="1000" b="1" lang="ko-KR">
                <a:solidFill>
                  <a:srgbClr val="FFFFFF"/>
                </a:solidFill>
                <a:latin typeface="Calibri"/>
                <a:ea typeface="Noto Sans KR"/>
                <a:cs typeface="Calibri"/>
              </a:rPr>
              <a:t>탈락</a:t>
            </a:r>
          </a:p>
        </p:txBody>
      </p:sp>
      <p:sp>
        <p:nvSpPr>
          <p:cNvPr id="19" name="TextBox 18"/>
          <p:cNvSpPr txBox="1"/>
          <p:nvPr/>
        </p:nvSpPr>
        <p:spPr>
          <a:xfrm>
            <a:off x="731520" y="2468880"/>
            <a:ext cx="2331720" cy="566928"/>
          </a:xfrm>
          <a:prstGeom prst="rect">
            <a:avLst/>
          </a:prstGeom>
          <a:noFill/>
        </p:spPr>
        <p:txBody>
          <a:bodyPr wrap="square" lIns="36576" tIns="18288" rIns="36576" bIns="18288" anchor="ctr">
            <a:noAutofit/>
          </a:bodyPr>
          <a:lstStyle/>
          <a:p>
            <a:pPr algn="l">
              <a:spcBef>
                <a:spcPts val="0"/>
              </a:spcBef>
              <a:spcAft>
                <a:spcPts val="0"/>
              </a:spcAft>
              <a:buNone/>
            </a:pPr>
            <a:r>
              <a:rPr sz="1400" b="1" lang="ko-KR">
                <a:solidFill>
                  <a:srgbClr val="202124"/>
                </a:solidFill>
                <a:latin typeface="Calibri"/>
                <a:ea typeface="Noto Sans KR"/>
                <a:cs typeface="Calibri"/>
              </a:rPr>
              <a:t>VM 1대로 그대로 이전</a:t>
            </a:r>
          </a:p>
        </p:txBody>
      </p:sp>
      <p:sp>
        <p:nvSpPr>
          <p:cNvPr id="20" name="TextBox 19"/>
          <p:cNvSpPr txBox="1"/>
          <p:nvPr/>
        </p:nvSpPr>
        <p:spPr>
          <a:xfrm>
            <a:off x="731520" y="3108960"/>
            <a:ext cx="2304288" cy="2194560"/>
          </a:xfrm>
          <a:prstGeom prst="rect">
            <a:avLst/>
          </a:prstGeom>
          <a:noFill/>
        </p:spPr>
        <p:txBody>
          <a:bodyPr wrap="square" lIns="36576" tIns="18288" rIns="36576" bIns="18288" anchor="t">
            <a:noAutofit/>
          </a:bodyPr>
          <a:lstStyle/>
          <a:p>
            <a:pPr algn="l">
              <a:spcBef>
                <a:spcPts val="0"/>
              </a:spcBef>
              <a:spcAft>
                <a:spcPts val="500"/>
              </a:spcAft>
              <a:buNone/>
            </a:pPr>
            <a:r>
              <a:rPr sz="1250" b="1" lang="ko-KR">
                <a:solidFill>
                  <a:srgbClr val="188038"/>
                </a:solidFill>
                <a:latin typeface="Calibri"/>
                <a:ea typeface="Noto Sans KR"/>
                <a:cs typeface="Calibri"/>
              </a:rPr>
              <a:t>+ </a:t>
            </a:r>
            <a:r>
              <a:rPr sz="1250" b="0" lang="ko-KR">
                <a:solidFill>
                  <a:srgbClr val="3C4043"/>
                </a:solidFill>
                <a:latin typeface="Calibri"/>
                <a:ea typeface="Noto Sans KR"/>
                <a:cs typeface="Calibri"/>
              </a:rPr>
              <a:t>가장 빠르고 비용이 적음</a:t>
            </a:r>
          </a:p>
          <a:p>
            <a:pPr algn="l">
              <a:spcBef>
                <a:spcPts val="0"/>
              </a:spcBef>
              <a:spcAft>
                <a:spcPts val="500"/>
              </a:spcAft>
              <a:buNone/>
            </a:pPr>
            <a:r>
              <a:rPr sz="1250" b="1" lang="ko-KR">
                <a:solidFill>
                  <a:srgbClr val="C5221F"/>
                </a:solidFill>
                <a:latin typeface="Calibri"/>
                <a:ea typeface="Noto Sans KR"/>
                <a:cs typeface="Calibri"/>
              </a:rPr>
              <a:t>− </a:t>
            </a:r>
            <a:r>
              <a:rPr sz="1250" b="0" lang="ko-KR">
                <a:solidFill>
                  <a:srgbClr val="3C4043"/>
                </a:solidFill>
                <a:latin typeface="Calibri"/>
                <a:ea typeface="Noto Sans KR"/>
                <a:cs typeface="Calibri"/>
              </a:rPr>
              <a:t>단일 장애점 · 확장 불가 · 직접 노출이 그대로 남음</a:t>
            </a:r>
          </a:p>
        </p:txBody>
      </p:sp>
      <p:sp>
        <p:nvSpPr>
          <p:cNvPr id="21" name="Rounded Rectangle 20"/>
          <p:cNvSpPr/>
          <p:nvPr/>
        </p:nvSpPr>
        <p:spPr>
          <a:xfrm>
            <a:off x="3282696" y="2066544"/>
            <a:ext cx="2542032" cy="3310128"/>
          </a:xfrm>
          <a:prstGeom prst="roundRect">
            <a:avLst>
              <a:gd name="adj" fmla="val 5000"/>
            </a:avLst>
          </a:prstGeom>
          <a:solidFill>
            <a:srgbClr val="E8F0FE"/>
          </a:solidFill>
          <a:ln w="25400">
            <a:solidFill>
              <a:srgbClr val="4084F4"/>
            </a:solidFill>
          </a:ln>
        </p:spPr>
        <p:txBody>
          <a:bodyPr rtlCol="0" anchor="ctr" wrap="square" lIns="73152" rIns="73152"/>
          <a:lstStyle/>
          <a:p>
            <a:pPr algn="ctr"/>
          </a:p>
        </p:txBody>
      </p:sp>
      <p:sp>
        <p:nvSpPr>
          <p:cNvPr id="22" name="TextBox 21"/>
          <p:cNvSpPr txBox="1"/>
          <p:nvPr/>
        </p:nvSpPr>
        <p:spPr>
          <a:xfrm>
            <a:off x="3410712" y="2157984"/>
            <a:ext cx="1645920" cy="292608"/>
          </a:xfrm>
          <a:prstGeom prst="rect">
            <a:avLst/>
          </a:prstGeom>
          <a:noFill/>
        </p:spPr>
        <p:txBody>
          <a:bodyPr wrap="square" lIns="36576" tIns="18288" rIns="36576" bIns="18288" anchor="t">
            <a:noAutofit/>
          </a:bodyPr>
          <a:lstStyle/>
          <a:p>
            <a:pPr algn="l">
              <a:spcBef>
                <a:spcPts val="0"/>
              </a:spcBef>
              <a:spcAft>
                <a:spcPts val="0"/>
              </a:spcAft>
              <a:buNone/>
            </a:pPr>
            <a:r>
              <a:rPr sz="1100" b="1" lang="ko-KR">
                <a:solidFill>
                  <a:srgbClr val="5F6368"/>
                </a:solidFill>
                <a:latin typeface="Calibri"/>
                <a:ea typeface="Noto Sans KR"/>
                <a:cs typeface="Calibri"/>
              </a:rPr>
              <a:t>안 B</a:t>
            </a:r>
          </a:p>
        </p:txBody>
      </p:sp>
      <p:sp>
        <p:nvSpPr>
          <p:cNvPr id="23" name="Rounded Rectangle 22"/>
          <p:cNvSpPr/>
          <p:nvPr/>
        </p:nvSpPr>
        <p:spPr>
          <a:xfrm>
            <a:off x="4928616" y="2176272"/>
            <a:ext cx="786384" cy="256032"/>
          </a:xfrm>
          <a:prstGeom prst="roundRect">
            <a:avLst>
              <a:gd name="adj" fmla="val 50000"/>
            </a:avLst>
          </a:prstGeom>
          <a:solidFill>
            <a:srgbClr val="4084F4"/>
          </a:solidFill>
          <a:ln>
            <a:noFill/>
          </a:ln>
        </p:spPr>
        <p:txBody>
          <a:bodyPr rtlCol="0" anchor="ctr" wrap="square" lIns="27432" tIns="0" rIns="27432" bIns="0"/>
          <a:lstStyle/>
          <a:p>
            <a:pPr algn="ctr">
              <a:spcBef>
                <a:spcPts val="0"/>
              </a:spcBef>
              <a:spcAft>
                <a:spcPts val="0"/>
              </a:spcAft>
              <a:buNone/>
            </a:pPr>
            <a:r>
              <a:rPr sz="1000" b="1" lang="ko-KR">
                <a:solidFill>
                  <a:srgbClr val="FFFFFF"/>
                </a:solidFill>
                <a:latin typeface="Calibri"/>
                <a:ea typeface="Noto Sans KR"/>
                <a:cs typeface="Calibri"/>
              </a:rPr>
              <a:t>채택</a:t>
            </a:r>
          </a:p>
        </p:txBody>
      </p:sp>
      <p:sp>
        <p:nvSpPr>
          <p:cNvPr id="24" name="TextBox 23"/>
          <p:cNvSpPr txBox="1"/>
          <p:nvPr/>
        </p:nvSpPr>
        <p:spPr>
          <a:xfrm>
            <a:off x="3410712" y="2468880"/>
            <a:ext cx="2331720" cy="566928"/>
          </a:xfrm>
          <a:prstGeom prst="rect">
            <a:avLst/>
          </a:prstGeom>
          <a:noFill/>
        </p:spPr>
        <p:txBody>
          <a:bodyPr wrap="square" lIns="36576" tIns="18288" rIns="36576" bIns="18288" anchor="ctr">
            <a:noAutofit/>
          </a:bodyPr>
          <a:lstStyle/>
          <a:p>
            <a:pPr algn="l">
              <a:spcBef>
                <a:spcPts val="0"/>
              </a:spcBef>
              <a:spcAft>
                <a:spcPts val="0"/>
              </a:spcAft>
              <a:buNone/>
            </a:pPr>
            <a:r>
              <a:rPr sz="1400" b="1" lang="ko-KR">
                <a:solidFill>
                  <a:srgbClr val="202124"/>
                </a:solidFill>
                <a:latin typeface="Calibri"/>
                <a:ea typeface="Noto Sans KR"/>
                <a:cs typeface="Calibri"/>
              </a:rPr>
              <a:t>3-Tier + 관리형 DB</a:t>
            </a:r>
          </a:p>
        </p:txBody>
      </p:sp>
      <p:sp>
        <p:nvSpPr>
          <p:cNvPr id="25" name="TextBox 24"/>
          <p:cNvSpPr txBox="1"/>
          <p:nvPr/>
        </p:nvSpPr>
        <p:spPr>
          <a:xfrm>
            <a:off x="3410712" y="3108960"/>
            <a:ext cx="2304288" cy="2194560"/>
          </a:xfrm>
          <a:prstGeom prst="rect">
            <a:avLst/>
          </a:prstGeom>
          <a:noFill/>
        </p:spPr>
        <p:txBody>
          <a:bodyPr wrap="square" lIns="36576" tIns="18288" rIns="36576" bIns="18288" anchor="t">
            <a:noAutofit/>
          </a:bodyPr>
          <a:lstStyle/>
          <a:p>
            <a:pPr algn="l">
              <a:spcBef>
                <a:spcPts val="0"/>
              </a:spcBef>
              <a:spcAft>
                <a:spcPts val="500"/>
              </a:spcAft>
              <a:buNone/>
            </a:pPr>
            <a:r>
              <a:rPr sz="1250" b="1" lang="ko-KR">
                <a:solidFill>
                  <a:srgbClr val="188038"/>
                </a:solidFill>
                <a:latin typeface="Calibri"/>
                <a:ea typeface="Noto Sans KR"/>
                <a:cs typeface="Calibri"/>
              </a:rPr>
              <a:t>+ </a:t>
            </a:r>
            <a:r>
              <a:rPr sz="1250" b="0" lang="ko-KR">
                <a:solidFill>
                  <a:srgbClr val="3C4043"/>
                </a:solidFill>
                <a:latin typeface="Calibri"/>
                <a:ea typeface="Noto Sans KR"/>
                <a:cs typeface="Calibri"/>
              </a:rPr>
              <a:t>코드 수정 없이 PetClinic(WAR) 그대로 이전</a:t>
            </a:r>
          </a:p>
          <a:p>
            <a:pPr algn="l">
              <a:spcBef>
                <a:spcPts val="0"/>
              </a:spcBef>
              <a:spcAft>
                <a:spcPts val="500"/>
              </a:spcAft>
              <a:buNone/>
            </a:pPr>
            <a:r>
              <a:rPr sz="1250" b="1" lang="ko-KR">
                <a:solidFill>
                  <a:srgbClr val="188038"/>
                </a:solidFill>
                <a:latin typeface="Calibri"/>
                <a:ea typeface="Noto Sans KR"/>
                <a:cs typeface="Calibri"/>
              </a:rPr>
              <a:t>+ </a:t>
            </a:r>
            <a:r>
              <a:rPr sz="1250" b="0" lang="ko-KR">
                <a:solidFill>
                  <a:srgbClr val="3C4043"/>
                </a:solidFill>
                <a:latin typeface="Calibri"/>
                <a:ea typeface="Noto Sans KR"/>
                <a:cs typeface="Calibri"/>
              </a:rPr>
              <a:t>WEB · WAS · DB를 계층별로 확장·격리</a:t>
            </a:r>
          </a:p>
          <a:p>
            <a:pPr algn="l">
              <a:spcBef>
                <a:spcPts val="0"/>
              </a:spcBef>
              <a:spcAft>
                <a:spcPts val="500"/>
              </a:spcAft>
              <a:buNone/>
            </a:pPr>
            <a:r>
              <a:rPr sz="1250" b="1" lang="ko-KR">
                <a:solidFill>
                  <a:srgbClr val="188038"/>
                </a:solidFill>
                <a:latin typeface="Calibri"/>
                <a:ea typeface="Noto Sans KR"/>
                <a:cs typeface="Calibri"/>
              </a:rPr>
              <a:t>+ </a:t>
            </a:r>
            <a:r>
              <a:rPr sz="1250" b="0" lang="ko-KR">
                <a:solidFill>
                  <a:srgbClr val="3C4043"/>
                </a:solidFill>
                <a:latin typeface="Calibri"/>
                <a:ea typeface="Noto Sans KR"/>
                <a:cs typeface="Calibri"/>
              </a:rPr>
              <a:t>백업 · HA는 Cloud SQL에 위임</a:t>
            </a:r>
          </a:p>
          <a:p>
            <a:pPr algn="l">
              <a:spcBef>
                <a:spcPts val="0"/>
              </a:spcBef>
              <a:spcAft>
                <a:spcPts val="500"/>
              </a:spcAft>
              <a:buNone/>
            </a:pPr>
            <a:r>
              <a:rPr sz="1250" b="1" lang="ko-KR">
                <a:solidFill>
                  <a:srgbClr val="C5221F"/>
                </a:solidFill>
                <a:latin typeface="Calibri"/>
                <a:ea typeface="Noto Sans KR"/>
                <a:cs typeface="Calibri"/>
              </a:rPr>
              <a:t>− </a:t>
            </a:r>
            <a:r>
              <a:rPr sz="1250" b="0" lang="ko-KR">
                <a:solidFill>
                  <a:srgbClr val="3C4043"/>
                </a:solidFill>
                <a:latin typeface="Calibri"/>
                <a:ea typeface="Noto Sans KR"/>
                <a:cs typeface="Calibri"/>
              </a:rPr>
              <a:t>LB 2개 · MIG 등 구성 요소 증가</a:t>
            </a:r>
          </a:p>
        </p:txBody>
      </p:sp>
      <p:sp>
        <p:nvSpPr>
          <p:cNvPr id="26" name="Rounded Rectangle 25"/>
          <p:cNvSpPr/>
          <p:nvPr/>
        </p:nvSpPr>
        <p:spPr>
          <a:xfrm>
            <a:off x="5961888" y="2066544"/>
            <a:ext cx="2542032" cy="3310128"/>
          </a:xfrm>
          <a:prstGeom prst="roundRect">
            <a:avLst>
              <a:gd name="adj" fmla="val 5000"/>
            </a:avLst>
          </a:prstGeom>
          <a:solidFill>
            <a:srgbClr val="FFFFFF"/>
          </a:solidFill>
          <a:ln w="9525">
            <a:solidFill>
              <a:srgbClr val="DADCE0"/>
            </a:solidFill>
          </a:ln>
        </p:spPr>
        <p:txBody>
          <a:bodyPr rtlCol="0" anchor="ctr" wrap="square" lIns="73152" rIns="73152"/>
          <a:lstStyle/>
          <a:p>
            <a:pPr algn="ctr"/>
          </a:p>
        </p:txBody>
      </p:sp>
      <p:sp>
        <p:nvSpPr>
          <p:cNvPr id="27" name="TextBox 26"/>
          <p:cNvSpPr txBox="1"/>
          <p:nvPr/>
        </p:nvSpPr>
        <p:spPr>
          <a:xfrm>
            <a:off x="6089904" y="2157984"/>
            <a:ext cx="1645920" cy="292608"/>
          </a:xfrm>
          <a:prstGeom prst="rect">
            <a:avLst/>
          </a:prstGeom>
          <a:noFill/>
        </p:spPr>
        <p:txBody>
          <a:bodyPr wrap="square" lIns="36576" tIns="18288" rIns="36576" bIns="18288" anchor="t">
            <a:noAutofit/>
          </a:bodyPr>
          <a:lstStyle/>
          <a:p>
            <a:pPr algn="l">
              <a:spcBef>
                <a:spcPts val="0"/>
              </a:spcBef>
              <a:spcAft>
                <a:spcPts val="0"/>
              </a:spcAft>
              <a:buNone/>
            </a:pPr>
            <a:r>
              <a:rPr sz="1100" b="1" lang="ko-KR">
                <a:solidFill>
                  <a:srgbClr val="5F6368"/>
                </a:solidFill>
                <a:latin typeface="Calibri"/>
                <a:ea typeface="Noto Sans KR"/>
                <a:cs typeface="Calibri"/>
              </a:rPr>
              <a:t>안 C</a:t>
            </a:r>
          </a:p>
        </p:txBody>
      </p:sp>
      <p:sp>
        <p:nvSpPr>
          <p:cNvPr id="28" name="Rounded Rectangle 27"/>
          <p:cNvSpPr/>
          <p:nvPr/>
        </p:nvSpPr>
        <p:spPr>
          <a:xfrm>
            <a:off x="7607808" y="2176272"/>
            <a:ext cx="786384" cy="256032"/>
          </a:xfrm>
          <a:prstGeom prst="roundRect">
            <a:avLst>
              <a:gd name="adj" fmla="val 50000"/>
            </a:avLst>
          </a:prstGeom>
          <a:solidFill>
            <a:srgbClr val="F9AB00"/>
          </a:solidFill>
          <a:ln>
            <a:noFill/>
          </a:ln>
        </p:spPr>
        <p:txBody>
          <a:bodyPr rtlCol="0" anchor="ctr" wrap="square" lIns="27432" tIns="0" rIns="27432" bIns="0"/>
          <a:lstStyle/>
          <a:p>
            <a:pPr algn="ctr">
              <a:spcBef>
                <a:spcPts val="0"/>
              </a:spcBef>
              <a:spcAft>
                <a:spcPts val="0"/>
              </a:spcAft>
              <a:buNone/>
            </a:pPr>
            <a:r>
              <a:rPr sz="1000" b="1" lang="ko-KR">
                <a:solidFill>
                  <a:srgbClr val="FFFFFF"/>
                </a:solidFill>
                <a:latin typeface="Calibri"/>
                <a:ea typeface="Noto Sans KR"/>
                <a:cs typeface="Calibri"/>
              </a:rPr>
              <a:t>향후 검토</a:t>
            </a:r>
          </a:p>
        </p:txBody>
      </p:sp>
      <p:sp>
        <p:nvSpPr>
          <p:cNvPr id="29" name="TextBox 28"/>
          <p:cNvSpPr txBox="1"/>
          <p:nvPr/>
        </p:nvSpPr>
        <p:spPr>
          <a:xfrm>
            <a:off x="6089904" y="2468880"/>
            <a:ext cx="2331720" cy="566928"/>
          </a:xfrm>
          <a:prstGeom prst="rect">
            <a:avLst/>
          </a:prstGeom>
          <a:noFill/>
        </p:spPr>
        <p:txBody>
          <a:bodyPr wrap="square" lIns="36576" tIns="18288" rIns="36576" bIns="18288" anchor="ctr">
            <a:noAutofit/>
          </a:bodyPr>
          <a:lstStyle/>
          <a:p>
            <a:pPr algn="l">
              <a:spcBef>
                <a:spcPts val="0"/>
              </a:spcBef>
              <a:spcAft>
                <a:spcPts val="0"/>
              </a:spcAft>
              <a:buNone/>
            </a:pPr>
            <a:r>
              <a:rPr sz="1400" b="1" lang="ko-KR">
                <a:solidFill>
                  <a:srgbClr val="202124"/>
                </a:solidFill>
                <a:latin typeface="Calibri"/>
                <a:ea typeface="Noto Sans KR"/>
                <a:cs typeface="Calibri"/>
              </a:rPr>
              <a:t>컨테이너 · 서버리스 재구성</a:t>
            </a:r>
          </a:p>
        </p:txBody>
      </p:sp>
      <p:sp>
        <p:nvSpPr>
          <p:cNvPr id="30" name="TextBox 29"/>
          <p:cNvSpPr txBox="1"/>
          <p:nvPr/>
        </p:nvSpPr>
        <p:spPr>
          <a:xfrm>
            <a:off x="6089904" y="3108960"/>
            <a:ext cx="2304288" cy="2194560"/>
          </a:xfrm>
          <a:prstGeom prst="rect">
            <a:avLst/>
          </a:prstGeom>
          <a:noFill/>
        </p:spPr>
        <p:txBody>
          <a:bodyPr wrap="square" lIns="36576" tIns="18288" rIns="36576" bIns="18288" anchor="t">
            <a:noAutofit/>
          </a:bodyPr>
          <a:lstStyle/>
          <a:p>
            <a:pPr algn="l">
              <a:spcBef>
                <a:spcPts val="0"/>
              </a:spcBef>
              <a:spcAft>
                <a:spcPts val="500"/>
              </a:spcAft>
              <a:buNone/>
            </a:pPr>
            <a:r>
              <a:rPr sz="1250" b="1" lang="ko-KR">
                <a:solidFill>
                  <a:srgbClr val="188038"/>
                </a:solidFill>
                <a:latin typeface="Calibri"/>
                <a:ea typeface="Noto Sans KR"/>
                <a:cs typeface="Calibri"/>
              </a:rPr>
              <a:t>+ </a:t>
            </a:r>
            <a:r>
              <a:rPr sz="1250" b="0" lang="ko-KR">
                <a:solidFill>
                  <a:srgbClr val="3C4043"/>
                </a:solidFill>
                <a:latin typeface="Calibri"/>
                <a:ea typeface="Noto Sans KR"/>
                <a:cs typeface="Calibri"/>
              </a:rPr>
              <a:t>GKE · Cloud Run으로 확장·운영 자동화 유리</a:t>
            </a:r>
          </a:p>
          <a:p>
            <a:pPr algn="l">
              <a:spcBef>
                <a:spcPts val="0"/>
              </a:spcBef>
              <a:spcAft>
                <a:spcPts val="500"/>
              </a:spcAft>
              <a:buNone/>
            </a:pPr>
            <a:r>
              <a:rPr sz="1250" b="1" lang="ko-KR">
                <a:solidFill>
                  <a:srgbClr val="C5221F"/>
                </a:solidFill>
                <a:latin typeface="Calibri"/>
                <a:ea typeface="Noto Sans KR"/>
                <a:cs typeface="Calibri"/>
              </a:rPr>
              <a:t>− </a:t>
            </a:r>
            <a:r>
              <a:rPr sz="1250" b="0" lang="ko-KR">
                <a:solidFill>
                  <a:srgbClr val="3C4043"/>
                </a:solidFill>
                <a:latin typeface="Calibri"/>
                <a:ea typeface="Noto Sans KR"/>
                <a:cs typeface="Calibri"/>
              </a:rPr>
              <a:t>컨테이너화 · 재설계 필요, 11일 일정에 부담</a:t>
            </a:r>
          </a:p>
        </p:txBody>
      </p:sp>
      <p:sp>
        <p:nvSpPr>
          <p:cNvPr id="31" name="TextBox 30"/>
          <p:cNvSpPr txBox="1"/>
          <p:nvPr/>
        </p:nvSpPr>
        <p:spPr>
          <a:xfrm>
            <a:off x="603504" y="5486400"/>
            <a:ext cx="1188720" cy="658368"/>
          </a:xfrm>
          <a:prstGeom prst="rect">
            <a:avLst/>
          </a:prstGeom>
          <a:noFill/>
        </p:spPr>
        <p:txBody>
          <a:bodyPr wrap="square" lIns="36576" tIns="18288" rIns="36576" bIns="18288" anchor="ctr">
            <a:noAutofit/>
          </a:bodyPr>
          <a:lstStyle/>
          <a:p>
            <a:pPr algn="l">
              <a:spcBef>
                <a:spcPts val="0"/>
              </a:spcBef>
              <a:spcAft>
                <a:spcPts val="0"/>
              </a:spcAft>
              <a:buNone/>
            </a:pPr>
            <a:r>
              <a:rPr sz="1250" b="1" lang="ko-KR">
                <a:solidFill>
                  <a:srgbClr val="202124"/>
                </a:solidFill>
                <a:latin typeface="Calibri"/>
                <a:ea typeface="Noto Sans KR"/>
                <a:cs typeface="Calibri"/>
              </a:rPr>
              <a:t>설계 원칙</a:t>
            </a:r>
          </a:p>
        </p:txBody>
      </p:sp>
      <p:sp>
        <p:nvSpPr>
          <p:cNvPr id="32" name="Rounded Rectangle 31"/>
          <p:cNvSpPr/>
          <p:nvPr/>
        </p:nvSpPr>
        <p:spPr>
          <a:xfrm>
            <a:off x="1783080" y="5559552"/>
            <a:ext cx="1609344" cy="512064"/>
          </a:xfrm>
          <a:prstGeom prst="roundRect">
            <a:avLst>
              <a:gd name="adj" fmla="val 20000"/>
            </a:avLst>
          </a:prstGeom>
          <a:solidFill>
            <a:srgbClr val="F8F9FA"/>
          </a:solidFill>
          <a:ln w="9525">
            <a:solidFill>
              <a:srgbClr val="DADCE0"/>
            </a:solidFill>
          </a:ln>
        </p:spPr>
        <p:txBody>
          <a:bodyPr rtlCol="0" anchor="ctr" wrap="square" lIns="73152" rIns="73152"/>
          <a:lstStyle/>
          <a:p>
            <a:pPr algn="ctr">
              <a:spcBef>
                <a:spcPts val="0"/>
              </a:spcBef>
              <a:spcAft>
                <a:spcPts val="0"/>
              </a:spcAft>
              <a:buNone/>
            </a:pPr>
            <a:r>
              <a:rPr sz="1150" b="1" lang="ko-KR">
                <a:solidFill>
                  <a:srgbClr val="4084F4"/>
                </a:solidFill>
                <a:latin typeface="Calibri"/>
                <a:ea typeface="Noto Sans KR"/>
                <a:cs typeface="Calibri"/>
              </a:rPr>
              <a:t>1  </a:t>
            </a:r>
            <a:r>
              <a:rPr sz="1150" b="1" lang="ko-KR">
                <a:solidFill>
                  <a:srgbClr val="202124"/>
                </a:solidFill>
                <a:latin typeface="Calibri"/>
                <a:ea typeface="Noto Sans KR"/>
                <a:cs typeface="Calibri"/>
              </a:rPr>
              <a:t>앱은 그대로</a:t>
            </a:r>
          </a:p>
        </p:txBody>
      </p:sp>
      <p:sp>
        <p:nvSpPr>
          <p:cNvPr id="33" name="Rounded Rectangle 32"/>
          <p:cNvSpPr/>
          <p:nvPr/>
        </p:nvSpPr>
        <p:spPr>
          <a:xfrm>
            <a:off x="3483864" y="5559552"/>
            <a:ext cx="1609344" cy="512064"/>
          </a:xfrm>
          <a:prstGeom prst="roundRect">
            <a:avLst>
              <a:gd name="adj" fmla="val 20000"/>
            </a:avLst>
          </a:prstGeom>
          <a:solidFill>
            <a:srgbClr val="F8F9FA"/>
          </a:solidFill>
          <a:ln w="9525">
            <a:solidFill>
              <a:srgbClr val="DADCE0"/>
            </a:solidFill>
          </a:ln>
        </p:spPr>
        <p:txBody>
          <a:bodyPr rtlCol="0" anchor="ctr" wrap="square" lIns="73152" rIns="73152"/>
          <a:lstStyle/>
          <a:p>
            <a:pPr algn="ctr">
              <a:spcBef>
                <a:spcPts val="0"/>
              </a:spcBef>
              <a:spcAft>
                <a:spcPts val="0"/>
              </a:spcAft>
              <a:buNone/>
            </a:pPr>
            <a:r>
              <a:rPr sz="1150" b="1" lang="ko-KR">
                <a:solidFill>
                  <a:srgbClr val="4084F4"/>
                </a:solidFill>
                <a:latin typeface="Calibri"/>
                <a:ea typeface="Noto Sans KR"/>
                <a:cs typeface="Calibri"/>
              </a:rPr>
              <a:t>2  </a:t>
            </a:r>
            <a:r>
              <a:rPr sz="1150" b="1" lang="ko-KR">
                <a:solidFill>
                  <a:srgbClr val="202124"/>
                </a:solidFill>
                <a:latin typeface="Calibri"/>
                <a:ea typeface="Noto Sans KR"/>
                <a:cs typeface="Calibri"/>
              </a:rPr>
              <a:t>계층마다 이중화</a:t>
            </a:r>
          </a:p>
        </p:txBody>
      </p:sp>
      <p:sp>
        <p:nvSpPr>
          <p:cNvPr id="34" name="Rounded Rectangle 33"/>
          <p:cNvSpPr/>
          <p:nvPr/>
        </p:nvSpPr>
        <p:spPr>
          <a:xfrm>
            <a:off x="5184648" y="5559552"/>
            <a:ext cx="1609344" cy="512064"/>
          </a:xfrm>
          <a:prstGeom prst="roundRect">
            <a:avLst>
              <a:gd name="adj" fmla="val 20000"/>
            </a:avLst>
          </a:prstGeom>
          <a:solidFill>
            <a:srgbClr val="F8F9FA"/>
          </a:solidFill>
          <a:ln w="9525">
            <a:solidFill>
              <a:srgbClr val="DADCE0"/>
            </a:solidFill>
          </a:ln>
        </p:spPr>
        <p:txBody>
          <a:bodyPr rtlCol="0" anchor="ctr" wrap="square" lIns="73152" rIns="73152"/>
          <a:lstStyle/>
          <a:p>
            <a:pPr algn="ctr">
              <a:spcBef>
                <a:spcPts val="0"/>
              </a:spcBef>
              <a:spcAft>
                <a:spcPts val="0"/>
              </a:spcAft>
              <a:buNone/>
            </a:pPr>
            <a:r>
              <a:rPr sz="1150" b="1" lang="ko-KR">
                <a:solidFill>
                  <a:srgbClr val="4084F4"/>
                </a:solidFill>
                <a:latin typeface="Calibri"/>
                <a:ea typeface="Noto Sans KR"/>
                <a:cs typeface="Calibri"/>
              </a:rPr>
              <a:t>3  </a:t>
            </a:r>
            <a:r>
              <a:rPr sz="1150" b="1" lang="ko-KR">
                <a:solidFill>
                  <a:srgbClr val="202124"/>
                </a:solidFill>
                <a:latin typeface="Calibri"/>
                <a:ea typeface="Noto Sans KR"/>
                <a:cs typeface="Calibri"/>
              </a:rPr>
              <a:t>진입점은 LB 하나</a:t>
            </a:r>
          </a:p>
        </p:txBody>
      </p:sp>
      <p:sp>
        <p:nvSpPr>
          <p:cNvPr id="35" name="Rounded Rectangle 34"/>
          <p:cNvSpPr/>
          <p:nvPr/>
        </p:nvSpPr>
        <p:spPr>
          <a:xfrm>
            <a:off x="6885432" y="5559552"/>
            <a:ext cx="1609344" cy="512064"/>
          </a:xfrm>
          <a:prstGeom prst="roundRect">
            <a:avLst>
              <a:gd name="adj" fmla="val 20000"/>
            </a:avLst>
          </a:prstGeom>
          <a:solidFill>
            <a:srgbClr val="F8F9FA"/>
          </a:solidFill>
          <a:ln w="9525">
            <a:solidFill>
              <a:srgbClr val="DADCE0"/>
            </a:solidFill>
          </a:ln>
        </p:spPr>
        <p:txBody>
          <a:bodyPr rtlCol="0" anchor="ctr" wrap="square" lIns="73152" rIns="73152"/>
          <a:lstStyle/>
          <a:p>
            <a:pPr algn="ctr">
              <a:spcBef>
                <a:spcPts val="0"/>
              </a:spcBef>
              <a:spcAft>
                <a:spcPts val="0"/>
              </a:spcAft>
              <a:buNone/>
            </a:pPr>
            <a:r>
              <a:rPr sz="1150" b="1" lang="ko-KR">
                <a:solidFill>
                  <a:srgbClr val="4084F4"/>
                </a:solidFill>
                <a:latin typeface="Calibri"/>
                <a:ea typeface="Noto Sans KR"/>
                <a:cs typeface="Calibri"/>
              </a:rPr>
              <a:t>4  </a:t>
            </a:r>
            <a:r>
              <a:rPr sz="1150" b="1" lang="ko-KR">
                <a:solidFill>
                  <a:srgbClr val="202124"/>
                </a:solidFill>
                <a:latin typeface="Calibri"/>
                <a:ea typeface="Noto Sans KR"/>
                <a:cs typeface="Calibri"/>
              </a:rPr>
              <a:t>운영은 관리형으로</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전체 아키텍처</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nav-active"/>
          <p:cNvSpPr/>
          <p:nvPr/>
        </p:nvSpPr>
        <p:spPr>
          <a:xfrm>
            <a:off x="809244"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사용자 요청은 외부 LB → WEB → 내부 LB → WAS → DB로 흐릅니다</a:t>
            </a:r>
          </a:p>
        </p:txBody>
      </p:sp>
      <p:pic>
        <p:nvPicPr>
          <p:cNvPr id="16" name="Picture 15" descr="arch.png"/>
          <p:cNvPicPr>
            <a:picLocks noChangeAspect="1"/>
          </p:cNvPicPr>
          <p:nvPr/>
        </p:nvPicPr>
        <p:blipFill>
          <a:blip r:embed="rId3"/>
          <a:stretch>
            <a:fillRect/>
          </a:stretch>
        </p:blipFill>
        <p:spPr>
          <a:xfrm>
            <a:off x="603504" y="2011680"/>
            <a:ext cx="7936992" cy="4228357"/>
          </a:xfrm>
          <a:prstGeom prst="rect">
            <a:avLst/>
          </a:prstGeom>
        </p:spPr>
      </p:pic>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구축 ① 네트워크</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nav-active"/>
          <p:cNvSpPr/>
          <p:nvPr/>
        </p:nvSpPr>
        <p:spPr>
          <a:xfrm>
            <a:off x="2034540"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VPC를 계층별 서브넷으로 나누고, VM에서 외부 IP를 없앴습니다</a:t>
            </a:r>
          </a:p>
        </p:txBody>
      </p:sp>
      <p:sp>
        <p:nvSpPr>
          <p:cNvPr id="16" name="Rounded Rectangle 15"/>
          <p:cNvSpPr/>
          <p:nvPr/>
        </p:nvSpPr>
        <p:spPr>
          <a:xfrm>
            <a:off x="603504" y="2048256"/>
            <a:ext cx="4617720" cy="4169664"/>
          </a:xfrm>
          <a:prstGeom prst="roundRect">
            <a:avLst>
              <a:gd name="adj" fmla="val 3000"/>
            </a:avLst>
          </a:prstGeom>
          <a:solidFill>
            <a:srgbClr val="FFFFFF"/>
          </a:solidFill>
          <a:ln w="15875">
            <a:solidFill>
              <a:srgbClr val="4084F4"/>
            </a:solidFill>
            <a:prstDash val="dash"/>
          </a:ln>
        </p:spPr>
        <p:txBody>
          <a:bodyPr rtlCol="0" anchor="ctr" wrap="square" lIns="73152" rIns="73152"/>
          <a:lstStyle/>
          <a:p>
            <a:pPr algn="ctr"/>
          </a:p>
        </p:txBody>
      </p:sp>
      <p:sp>
        <p:nvSpPr>
          <p:cNvPr id="17" name="TextBox 16"/>
          <p:cNvSpPr txBox="1"/>
          <p:nvPr/>
        </p:nvSpPr>
        <p:spPr>
          <a:xfrm>
            <a:off x="713232" y="2084832"/>
            <a:ext cx="4389120" cy="310896"/>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1967D2"/>
                </a:solidFill>
                <a:latin typeface="Calibri"/>
                <a:ea typeface="Noto Sans KR"/>
                <a:cs typeface="Calibri"/>
              </a:rPr>
              <a:t>VPC  npc-vpc</a:t>
            </a:r>
            <a:r>
              <a:rPr sz="1200" b="0" lang="ko-KR">
                <a:solidFill>
                  <a:srgbClr val="5F6368"/>
                </a:solidFill>
                <a:latin typeface="Calibri"/>
                <a:ea typeface="Noto Sans KR"/>
                <a:cs typeface="Calibri"/>
              </a:rPr>
              <a:t>  ·  asia-northeast3  ·  10.0.0.0/16</a:t>
            </a:r>
          </a:p>
        </p:txBody>
      </p:sp>
      <p:sp>
        <p:nvSpPr>
          <p:cNvPr id="18" name="Rounded Rectangle 17"/>
          <p:cNvSpPr/>
          <p:nvPr/>
        </p:nvSpPr>
        <p:spPr>
          <a:xfrm>
            <a:off x="731520" y="2468880"/>
            <a:ext cx="3310128" cy="786384"/>
          </a:xfrm>
          <a:prstGeom prst="roundRect">
            <a:avLst>
              <a:gd name="adj" fmla="val 8000"/>
            </a:avLst>
          </a:prstGeom>
          <a:solidFill>
            <a:srgbClr val="E6F4EA"/>
          </a:solidFill>
          <a:ln w="9525">
            <a:solidFill>
              <a:srgbClr val="81C995"/>
            </a:solidFill>
          </a:ln>
        </p:spPr>
        <p:txBody>
          <a:bodyPr rtlCol="0" anchor="ctr" wrap="square" lIns="73152" rIns="73152"/>
          <a:lstStyle/>
          <a:p>
            <a:pPr algn="ctr"/>
          </a:p>
        </p:txBody>
      </p:sp>
      <p:pic>
        <p:nvPicPr>
          <p:cNvPr id="19" name="Picture 18" descr="gce.png"/>
          <p:cNvPicPr>
            <a:picLocks noChangeAspect="1"/>
          </p:cNvPicPr>
          <p:nvPr/>
        </p:nvPicPr>
        <p:blipFill>
          <a:blip r:embed="rId3"/>
          <a:stretch>
            <a:fillRect/>
          </a:stretch>
        </p:blipFill>
        <p:spPr>
          <a:xfrm>
            <a:off x="841248" y="2651760"/>
            <a:ext cx="420624" cy="420624"/>
          </a:xfrm>
          <a:prstGeom prst="rect">
            <a:avLst/>
          </a:prstGeom>
        </p:spPr>
      </p:pic>
      <p:sp>
        <p:nvSpPr>
          <p:cNvPr id="20" name="TextBox 19"/>
          <p:cNvSpPr txBox="1"/>
          <p:nvPr/>
        </p:nvSpPr>
        <p:spPr>
          <a:xfrm>
            <a:off x="1335024" y="2505456"/>
            <a:ext cx="2670048" cy="731520"/>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188038"/>
                </a:solidFill>
                <a:latin typeface="Calibri"/>
                <a:ea typeface="Noto Sans KR"/>
                <a:cs typeface="Calibri"/>
              </a:rPr>
              <a:t>WEB 서브넷</a:t>
            </a:r>
          </a:p>
          <a:p>
            <a:pPr algn="l">
              <a:spcBef>
                <a:spcPts val="0"/>
              </a:spcBef>
              <a:spcAft>
                <a:spcPts val="0"/>
              </a:spcAft>
              <a:buNone/>
            </a:pPr>
            <a:r>
              <a:rPr sz="1050" b="0" lang="ko-KR">
                <a:solidFill>
                  <a:srgbClr val="3C4043"/>
                </a:solidFill>
                <a:latin typeface="Calibri"/>
                <a:ea typeface="Noto Sans KR"/>
                <a:cs typeface="Calibri"/>
              </a:rPr>
              <a:t>npc-subnet-web · 10.0.10.0/24</a:t>
            </a:r>
          </a:p>
          <a:p>
            <a:pPr algn="l">
              <a:spcBef>
                <a:spcPts val="0"/>
              </a:spcBef>
              <a:spcAft>
                <a:spcPts val="0"/>
              </a:spcAft>
              <a:buNone/>
            </a:pPr>
            <a:r>
              <a:rPr sz="1050" b="0" lang="ko-KR">
                <a:solidFill>
                  <a:srgbClr val="5F6368"/>
                </a:solidFill>
                <a:latin typeface="Calibri"/>
                <a:ea typeface="Noto Sans KR"/>
                <a:cs typeface="Calibri"/>
              </a:rPr>
              <a:t>Apache WEB MIG</a:t>
            </a:r>
          </a:p>
        </p:txBody>
      </p:sp>
      <p:sp>
        <p:nvSpPr>
          <p:cNvPr id="21" name="Rounded Rectangle 20"/>
          <p:cNvSpPr/>
          <p:nvPr/>
        </p:nvSpPr>
        <p:spPr>
          <a:xfrm>
            <a:off x="731520" y="3355848"/>
            <a:ext cx="3310128" cy="786384"/>
          </a:xfrm>
          <a:prstGeom prst="roundRect">
            <a:avLst>
              <a:gd name="adj" fmla="val 8000"/>
            </a:avLst>
          </a:prstGeom>
          <a:solidFill>
            <a:srgbClr val="FEF7E0"/>
          </a:solidFill>
          <a:ln w="9525">
            <a:solidFill>
              <a:srgbClr val="FDD663"/>
            </a:solidFill>
          </a:ln>
        </p:spPr>
        <p:txBody>
          <a:bodyPr rtlCol="0" anchor="ctr" wrap="square" lIns="73152" rIns="73152"/>
          <a:lstStyle/>
          <a:p>
            <a:pPr algn="ctr"/>
          </a:p>
        </p:txBody>
      </p:sp>
      <p:pic>
        <p:nvPicPr>
          <p:cNvPr id="22" name="Picture 21" descr="gce.png"/>
          <p:cNvPicPr>
            <a:picLocks noChangeAspect="1"/>
          </p:cNvPicPr>
          <p:nvPr/>
        </p:nvPicPr>
        <p:blipFill>
          <a:blip r:embed="rId3"/>
          <a:stretch>
            <a:fillRect/>
          </a:stretch>
        </p:blipFill>
        <p:spPr>
          <a:xfrm>
            <a:off x="841248" y="3538728"/>
            <a:ext cx="420624" cy="420624"/>
          </a:xfrm>
          <a:prstGeom prst="rect">
            <a:avLst/>
          </a:prstGeom>
        </p:spPr>
      </p:pic>
      <p:sp>
        <p:nvSpPr>
          <p:cNvPr id="23" name="TextBox 22"/>
          <p:cNvSpPr txBox="1"/>
          <p:nvPr/>
        </p:nvSpPr>
        <p:spPr>
          <a:xfrm>
            <a:off x="1335024" y="3392424"/>
            <a:ext cx="2670048" cy="731520"/>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B06000"/>
                </a:solidFill>
                <a:latin typeface="Calibri"/>
                <a:ea typeface="Noto Sans KR"/>
                <a:cs typeface="Calibri"/>
              </a:rPr>
              <a:t>WAS 서브넷</a:t>
            </a:r>
          </a:p>
          <a:p>
            <a:pPr algn="l">
              <a:spcBef>
                <a:spcPts val="0"/>
              </a:spcBef>
              <a:spcAft>
                <a:spcPts val="0"/>
              </a:spcAft>
              <a:buNone/>
            </a:pPr>
            <a:r>
              <a:rPr sz="1050" b="0" lang="ko-KR">
                <a:solidFill>
                  <a:srgbClr val="3C4043"/>
                </a:solidFill>
                <a:latin typeface="Calibri"/>
                <a:ea typeface="Noto Sans KR"/>
                <a:cs typeface="Calibri"/>
              </a:rPr>
              <a:t>npc-subnet-was · 10.0.20.0/24</a:t>
            </a:r>
          </a:p>
          <a:p>
            <a:pPr algn="l">
              <a:spcBef>
                <a:spcPts val="0"/>
              </a:spcBef>
              <a:spcAft>
                <a:spcPts val="0"/>
              </a:spcAft>
              <a:buNone/>
            </a:pPr>
            <a:r>
              <a:rPr sz="1050" b="0" lang="ko-KR">
                <a:solidFill>
                  <a:srgbClr val="5F6368"/>
                </a:solidFill>
                <a:latin typeface="Calibri"/>
                <a:ea typeface="Noto Sans KR"/>
                <a:cs typeface="Calibri"/>
              </a:rPr>
              <a:t>Tomcat WAS MIG · 내부 LB 10.0.20.100</a:t>
            </a:r>
          </a:p>
        </p:txBody>
      </p:sp>
      <p:sp>
        <p:nvSpPr>
          <p:cNvPr id="24" name="Rounded Rectangle 23"/>
          <p:cNvSpPr/>
          <p:nvPr/>
        </p:nvSpPr>
        <p:spPr>
          <a:xfrm>
            <a:off x="731520" y="4242816"/>
            <a:ext cx="3310128" cy="786384"/>
          </a:xfrm>
          <a:prstGeom prst="roundRect">
            <a:avLst>
              <a:gd name="adj" fmla="val 8000"/>
            </a:avLst>
          </a:prstGeom>
          <a:solidFill>
            <a:srgbClr val="FCE8E6"/>
          </a:solidFill>
          <a:ln w="9525">
            <a:solidFill>
              <a:srgbClr val="F28B82"/>
            </a:solidFill>
          </a:ln>
        </p:spPr>
        <p:txBody>
          <a:bodyPr rtlCol="0" anchor="ctr" wrap="square" lIns="73152" rIns="73152"/>
          <a:lstStyle/>
          <a:p>
            <a:pPr algn="ctr"/>
          </a:p>
        </p:txBody>
      </p:sp>
      <p:pic>
        <p:nvPicPr>
          <p:cNvPr id="25" name="Picture 24" descr="network.png"/>
          <p:cNvPicPr>
            <a:picLocks noChangeAspect="1"/>
          </p:cNvPicPr>
          <p:nvPr/>
        </p:nvPicPr>
        <p:blipFill>
          <a:blip r:embed="rId4"/>
          <a:stretch>
            <a:fillRect/>
          </a:stretch>
        </p:blipFill>
        <p:spPr>
          <a:xfrm>
            <a:off x="841248" y="4425696"/>
            <a:ext cx="420624" cy="420624"/>
          </a:xfrm>
          <a:prstGeom prst="rect">
            <a:avLst/>
          </a:prstGeom>
        </p:spPr>
      </p:pic>
      <p:sp>
        <p:nvSpPr>
          <p:cNvPr id="26" name="TextBox 25"/>
          <p:cNvSpPr txBox="1"/>
          <p:nvPr/>
        </p:nvSpPr>
        <p:spPr>
          <a:xfrm>
            <a:off x="1335024" y="4279392"/>
            <a:ext cx="2670048" cy="731520"/>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C5221F"/>
                </a:solidFill>
                <a:latin typeface="Calibri"/>
                <a:ea typeface="Noto Sans KR"/>
                <a:cs typeface="Calibri"/>
              </a:rPr>
              <a:t>PSC 서브넷</a:t>
            </a:r>
          </a:p>
          <a:p>
            <a:pPr algn="l">
              <a:spcBef>
                <a:spcPts val="0"/>
              </a:spcBef>
              <a:spcAft>
                <a:spcPts val="0"/>
              </a:spcAft>
              <a:buNone/>
            </a:pPr>
            <a:r>
              <a:rPr sz="1050" b="0" lang="ko-KR">
                <a:solidFill>
                  <a:srgbClr val="3C4043"/>
                </a:solidFill>
                <a:latin typeface="Calibri"/>
                <a:ea typeface="Noto Sans KR"/>
                <a:cs typeface="Calibri"/>
              </a:rPr>
              <a:t>npc-subnet-psc · 10.0.32.0/20</a:t>
            </a:r>
          </a:p>
          <a:p>
            <a:pPr algn="l">
              <a:spcBef>
                <a:spcPts val="0"/>
              </a:spcBef>
              <a:spcAft>
                <a:spcPts val="0"/>
              </a:spcAft>
              <a:buNone/>
            </a:pPr>
            <a:r>
              <a:rPr sz="1050" b="0" lang="ko-KR">
                <a:solidFill>
                  <a:srgbClr val="5F6368"/>
                </a:solidFill>
                <a:latin typeface="Calibri"/>
                <a:ea typeface="Noto Sans KR"/>
                <a:cs typeface="Calibri"/>
              </a:rPr>
              <a:t>Cloud SQL 접속 엔드포인트 10.0.32.2</a:t>
            </a:r>
          </a:p>
        </p:txBody>
      </p:sp>
      <p:sp>
        <p:nvSpPr>
          <p:cNvPr id="27" name="Rounded Rectangle 26"/>
          <p:cNvSpPr/>
          <p:nvPr/>
        </p:nvSpPr>
        <p:spPr>
          <a:xfrm>
            <a:off x="731520" y="5129784"/>
            <a:ext cx="3310128" cy="786384"/>
          </a:xfrm>
          <a:prstGeom prst="roundRect">
            <a:avLst>
              <a:gd name="adj" fmla="val 8000"/>
            </a:avLst>
          </a:prstGeom>
          <a:solidFill>
            <a:srgbClr val="E8F0FE"/>
          </a:solidFill>
          <a:ln w="9525">
            <a:solidFill>
              <a:srgbClr val="AECBFA"/>
            </a:solidFill>
          </a:ln>
        </p:spPr>
        <p:txBody>
          <a:bodyPr rtlCol="0" anchor="ctr" wrap="square" lIns="73152" rIns="73152"/>
          <a:lstStyle/>
          <a:p>
            <a:pPr algn="ctr"/>
          </a:p>
        </p:txBody>
      </p:sp>
      <p:pic>
        <p:nvPicPr>
          <p:cNvPr id="28" name="Picture 27" descr="iap.png"/>
          <p:cNvPicPr>
            <a:picLocks noChangeAspect="1"/>
          </p:cNvPicPr>
          <p:nvPr/>
        </p:nvPicPr>
        <p:blipFill>
          <a:blip r:embed="rId5"/>
          <a:stretch>
            <a:fillRect/>
          </a:stretch>
        </p:blipFill>
        <p:spPr>
          <a:xfrm>
            <a:off x="841248" y="5312664"/>
            <a:ext cx="420624" cy="420624"/>
          </a:xfrm>
          <a:prstGeom prst="rect">
            <a:avLst/>
          </a:prstGeom>
        </p:spPr>
      </p:pic>
      <p:sp>
        <p:nvSpPr>
          <p:cNvPr id="29" name="TextBox 28"/>
          <p:cNvSpPr txBox="1"/>
          <p:nvPr/>
        </p:nvSpPr>
        <p:spPr>
          <a:xfrm>
            <a:off x="1335024" y="5166360"/>
            <a:ext cx="2670048" cy="731520"/>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1967D2"/>
                </a:solidFill>
                <a:latin typeface="Calibri"/>
                <a:ea typeface="Noto Sans KR"/>
                <a:cs typeface="Calibri"/>
              </a:rPr>
              <a:t>관리 서브넷</a:t>
            </a:r>
          </a:p>
          <a:p>
            <a:pPr algn="l">
              <a:spcBef>
                <a:spcPts val="0"/>
              </a:spcBef>
              <a:spcAft>
                <a:spcPts val="0"/>
              </a:spcAft>
              <a:buNone/>
            </a:pPr>
            <a:r>
              <a:rPr sz="1050" b="0" lang="ko-KR">
                <a:solidFill>
                  <a:srgbClr val="3C4043"/>
                </a:solidFill>
                <a:latin typeface="Calibri"/>
                <a:ea typeface="Noto Sans KR"/>
                <a:cs typeface="Calibri"/>
              </a:rPr>
              <a:t>npc-subnet-mgmt · 10.0.90.0/28</a:t>
            </a:r>
          </a:p>
          <a:p>
            <a:pPr algn="l">
              <a:spcBef>
                <a:spcPts val="0"/>
              </a:spcBef>
              <a:spcAft>
                <a:spcPts val="0"/>
              </a:spcAft>
              <a:buNone/>
            </a:pPr>
            <a:r>
              <a:rPr sz="1050" b="0" lang="ko-KR">
                <a:solidFill>
                  <a:srgbClr val="5F6368"/>
                </a:solidFill>
                <a:latin typeface="Calibri"/>
                <a:ea typeface="Noto Sans KR"/>
                <a:cs typeface="Calibri"/>
              </a:rPr>
              <a:t>IAP 경유 SSH 전용</a:t>
            </a:r>
          </a:p>
        </p:txBody>
      </p:sp>
      <p:sp>
        <p:nvSpPr>
          <p:cNvPr id="30" name="Rounded Rectangle 29"/>
          <p:cNvSpPr/>
          <p:nvPr/>
        </p:nvSpPr>
        <p:spPr>
          <a:xfrm>
            <a:off x="4133088" y="2468880"/>
            <a:ext cx="987552" cy="1691640"/>
          </a:xfrm>
          <a:prstGeom prst="roundRect">
            <a:avLst>
              <a:gd name="adj" fmla="val 8000"/>
            </a:avLst>
          </a:prstGeom>
          <a:solidFill>
            <a:srgbClr val="F8F9FA"/>
          </a:solidFill>
          <a:ln w="9525">
            <a:solidFill>
              <a:srgbClr val="DADCE0"/>
            </a:solidFill>
          </a:ln>
        </p:spPr>
        <p:txBody>
          <a:bodyPr rtlCol="0" anchor="ctr" wrap="square" lIns="73152" rIns="73152"/>
          <a:lstStyle/>
          <a:p>
            <a:pPr algn="ctr"/>
          </a:p>
        </p:txBody>
      </p:sp>
      <p:pic>
        <p:nvPicPr>
          <p:cNvPr id="31" name="Picture 30" descr="nat.png"/>
          <p:cNvPicPr>
            <a:picLocks noChangeAspect="1"/>
          </p:cNvPicPr>
          <p:nvPr/>
        </p:nvPicPr>
        <p:blipFill>
          <a:blip r:embed="rId6"/>
          <a:stretch>
            <a:fillRect/>
          </a:stretch>
        </p:blipFill>
        <p:spPr>
          <a:xfrm>
            <a:off x="4398264" y="2560320"/>
            <a:ext cx="457200" cy="457200"/>
          </a:xfrm>
          <a:prstGeom prst="rect">
            <a:avLst/>
          </a:prstGeom>
        </p:spPr>
      </p:pic>
      <p:sp>
        <p:nvSpPr>
          <p:cNvPr id="32" name="TextBox 31"/>
          <p:cNvSpPr txBox="1"/>
          <p:nvPr/>
        </p:nvSpPr>
        <p:spPr>
          <a:xfrm>
            <a:off x="4133088" y="3035808"/>
            <a:ext cx="987552" cy="1078992"/>
          </a:xfrm>
          <a:prstGeom prst="rect">
            <a:avLst/>
          </a:prstGeom>
          <a:noFill/>
        </p:spPr>
        <p:txBody>
          <a:bodyPr wrap="square" lIns="36576" tIns="18288" rIns="36576" bIns="18288" anchor="t">
            <a:noAutofit/>
          </a:bodyPr>
          <a:lstStyle/>
          <a:p>
            <a:pPr algn="ctr">
              <a:spcBef>
                <a:spcPts val="0"/>
              </a:spcBef>
              <a:spcAft>
                <a:spcPts val="0"/>
              </a:spcAft>
              <a:buNone/>
            </a:pPr>
            <a:r>
              <a:rPr sz="1000" b="1" lang="ko-KR">
                <a:solidFill>
                  <a:srgbClr val="202124"/>
                </a:solidFill>
                <a:latin typeface="Calibri"/>
                <a:ea typeface="Noto Sans KR"/>
                <a:cs typeface="Calibri"/>
              </a:rPr>
              <a:t>Cloud NAT</a:t>
            </a:r>
          </a:p>
          <a:p>
            <a:pPr algn="ctr">
              <a:spcBef>
                <a:spcPts val="0"/>
              </a:spcBef>
              <a:spcAft>
                <a:spcPts val="0"/>
              </a:spcAft>
              <a:buNone/>
            </a:pPr>
            <a:r>
              <a:rPr sz="1000" b="0" lang="ko-KR">
                <a:solidFill>
                  <a:srgbClr val="5F6368"/>
                </a:solidFill>
                <a:latin typeface="Calibri"/>
                <a:ea typeface="Noto Sans KR"/>
                <a:cs typeface="Calibri"/>
              </a:rPr>
              <a:t>+ Cloud Router</a:t>
            </a:r>
          </a:p>
          <a:p>
            <a:pPr algn="ctr">
              <a:spcBef>
                <a:spcPts val="0"/>
              </a:spcBef>
              <a:spcAft>
                <a:spcPts val="0"/>
              </a:spcAft>
              <a:buNone/>
            </a:pPr>
            <a:r>
              <a:rPr sz="1000" b="0" lang="ko-KR">
                <a:solidFill>
                  <a:srgbClr val="5F6368"/>
                </a:solidFill>
                <a:latin typeface="Calibri"/>
                <a:ea typeface="Noto Sans KR"/>
                <a:cs typeface="Calibri"/>
              </a:rPr>
              <a:t>나가는 통신만</a:t>
            </a:r>
          </a:p>
        </p:txBody>
      </p:sp>
      <p:sp>
        <p:nvSpPr>
          <p:cNvPr id="33" name="Rounded Rectangle 32"/>
          <p:cNvSpPr/>
          <p:nvPr/>
        </p:nvSpPr>
        <p:spPr>
          <a:xfrm>
            <a:off x="4133088" y="4242816"/>
            <a:ext cx="987552" cy="1883664"/>
          </a:xfrm>
          <a:prstGeom prst="roundRect">
            <a:avLst>
              <a:gd name="adj" fmla="val 8000"/>
            </a:avLst>
          </a:prstGeom>
          <a:solidFill>
            <a:srgbClr val="F8F9FA"/>
          </a:solidFill>
          <a:ln w="9525">
            <a:solidFill>
              <a:srgbClr val="DADCE0"/>
            </a:solidFill>
          </a:ln>
        </p:spPr>
        <p:txBody>
          <a:bodyPr rtlCol="0" anchor="ctr" wrap="square" lIns="73152" rIns="73152"/>
          <a:lstStyle/>
          <a:p>
            <a:pPr algn="ctr"/>
          </a:p>
        </p:txBody>
      </p:sp>
      <p:pic>
        <p:nvPicPr>
          <p:cNvPr id="34" name="Picture 33" descr="gcs.png"/>
          <p:cNvPicPr>
            <a:picLocks noChangeAspect="1"/>
          </p:cNvPicPr>
          <p:nvPr/>
        </p:nvPicPr>
        <p:blipFill>
          <a:blip r:embed="rId7"/>
          <a:stretch>
            <a:fillRect/>
          </a:stretch>
        </p:blipFill>
        <p:spPr>
          <a:xfrm>
            <a:off x="4398264" y="4334256"/>
            <a:ext cx="457200" cy="457200"/>
          </a:xfrm>
          <a:prstGeom prst="rect">
            <a:avLst/>
          </a:prstGeom>
        </p:spPr>
      </p:pic>
      <p:sp>
        <p:nvSpPr>
          <p:cNvPr id="35" name="TextBox 34"/>
          <p:cNvSpPr txBox="1"/>
          <p:nvPr/>
        </p:nvSpPr>
        <p:spPr>
          <a:xfrm>
            <a:off x="4133088" y="4809744"/>
            <a:ext cx="987552" cy="1280160"/>
          </a:xfrm>
          <a:prstGeom prst="rect">
            <a:avLst/>
          </a:prstGeom>
          <a:noFill/>
        </p:spPr>
        <p:txBody>
          <a:bodyPr wrap="square" lIns="36576" tIns="18288" rIns="36576" bIns="18288" anchor="t">
            <a:noAutofit/>
          </a:bodyPr>
          <a:lstStyle/>
          <a:p>
            <a:pPr algn="ctr">
              <a:spcBef>
                <a:spcPts val="0"/>
              </a:spcBef>
              <a:spcAft>
                <a:spcPts val="0"/>
              </a:spcAft>
              <a:buNone/>
            </a:pPr>
            <a:r>
              <a:rPr sz="1000" b="1" lang="ko-KR">
                <a:solidFill>
                  <a:srgbClr val="202124"/>
                </a:solidFill>
                <a:latin typeface="Calibri"/>
                <a:ea typeface="Noto Sans KR"/>
                <a:cs typeface="Calibri"/>
              </a:rPr>
              <a:t>비공개 Google 액세스</a:t>
            </a:r>
          </a:p>
          <a:p>
            <a:pPr algn="ctr">
              <a:spcBef>
                <a:spcPts val="0"/>
              </a:spcBef>
              <a:spcAft>
                <a:spcPts val="0"/>
              </a:spcAft>
              <a:buNone/>
            </a:pPr>
            <a:r>
              <a:rPr sz="1000" b="0" lang="ko-KR">
                <a:solidFill>
                  <a:srgbClr val="5F6368"/>
                </a:solidFill>
                <a:latin typeface="Calibri"/>
                <a:ea typeface="Noto Sans KR"/>
                <a:cs typeface="Calibri"/>
              </a:rPr>
              <a:t>GCS · Secret</a:t>
            </a:r>
          </a:p>
          <a:p>
            <a:pPr algn="ctr">
              <a:spcBef>
                <a:spcPts val="0"/>
              </a:spcBef>
              <a:spcAft>
                <a:spcPts val="0"/>
              </a:spcAft>
              <a:buNone/>
            </a:pPr>
            <a:r>
              <a:rPr sz="1000" b="0" lang="ko-KR">
                <a:solidFill>
                  <a:srgbClr val="5F6368"/>
                </a:solidFill>
                <a:latin typeface="Calibri"/>
                <a:ea typeface="Noto Sans KR"/>
                <a:cs typeface="Calibri"/>
              </a:rPr>
              <a:t>Manager 내부 접근</a:t>
            </a:r>
          </a:p>
        </p:txBody>
      </p:sp>
      <p:sp>
        <p:nvSpPr>
          <p:cNvPr id="36" name="TextBox 35"/>
          <p:cNvSpPr txBox="1"/>
          <p:nvPr/>
        </p:nvSpPr>
        <p:spPr>
          <a:xfrm>
            <a:off x="5394960" y="2048256"/>
            <a:ext cx="3108960" cy="292608"/>
          </a:xfrm>
          <a:prstGeom prst="rect">
            <a:avLst/>
          </a:prstGeom>
          <a:noFill/>
        </p:spPr>
        <p:txBody>
          <a:bodyPr wrap="square" lIns="36576" tIns="18288" rIns="36576" bIns="18288" anchor="t">
            <a:noAutofit/>
          </a:bodyPr>
          <a:lstStyle/>
          <a:p>
            <a:pPr algn="l">
              <a:spcBef>
                <a:spcPts val="0"/>
              </a:spcBef>
              <a:spcAft>
                <a:spcPts val="0"/>
              </a:spcAft>
              <a:buNone/>
            </a:pPr>
            <a:r>
              <a:rPr sz="1250" b="1" lang="ko-KR">
                <a:solidFill>
                  <a:srgbClr val="202124"/>
                </a:solidFill>
                <a:latin typeface="Calibri"/>
                <a:ea typeface="Noto Sans KR"/>
                <a:cs typeface="Calibri"/>
              </a:rPr>
              <a:t>핵심 설정</a:t>
            </a:r>
          </a:p>
        </p:txBody>
      </p:sp>
      <p:graphicFrame>
        <p:nvGraphicFramePr>
          <p:cNvPr id="37" name="Table 36"/>
          <p:cNvGraphicFramePr>
            <a:graphicFrameLocks noGrp="1"/>
          </p:cNvGraphicFramePr>
          <p:nvPr/>
        </p:nvGraphicFramePr>
        <p:xfrm>
          <a:off x="5394960" y="2377440"/>
          <a:ext cx="3145536" cy="1700784"/>
        </p:xfrm>
        <a:graphic>
          <a:graphicData uri="http://schemas.openxmlformats.org/drawingml/2006/table">
            <a:tbl>
              <a:tblPr firstRow="0" bandRow="0">
                <a:tableStyleId>{2D5ABB26-0587-4C30-8999-92F81FD0307C}</a:tableStyleId>
              </a:tblPr>
              <a:tblGrid>
                <a:gridCol w="1234440"/>
                <a:gridCol w="1911096"/>
              </a:tblGrid>
              <a:tr h="283464">
                <a:tc>
                  <a:txBody>
                    <a:bodyPr wrap="square"/>
                    <a:lstStyle/>
                    <a:p>
                      <a:pPr algn="l">
                        <a:spcBef>
                          <a:spcPts val="0"/>
                        </a:spcBef>
                        <a:spcAft>
                          <a:spcPts val="0"/>
                        </a:spcAft>
                        <a:buNone/>
                      </a:pPr>
                      <a:r>
                        <a:rPr sz="1100" b="1" lang="ko-KR">
                          <a:solidFill>
                            <a:srgbClr val="3C4043"/>
                          </a:solidFill>
                          <a:latin typeface="Calibri"/>
                          <a:ea typeface="Noto Sans KR"/>
                          <a:cs typeface="Calibri"/>
                        </a:rPr>
                        <a:t>서브넷 모드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커스텀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283464">
                <a:tc>
                  <a:txBody>
                    <a:bodyPr wrap="square"/>
                    <a:lstStyle/>
                    <a:p>
                      <a:pPr algn="l">
                        <a:spcBef>
                          <a:spcPts val="0"/>
                        </a:spcBef>
                        <a:spcAft>
                          <a:spcPts val="0"/>
                        </a:spcAft>
                        <a:buNone/>
                      </a:pPr>
                      <a:r>
                        <a:rPr sz="1100" b="1" lang="ko-KR">
                          <a:solidFill>
                            <a:srgbClr val="3C4043"/>
                          </a:solidFill>
                          <a:latin typeface="Calibri"/>
                          <a:ea typeface="Noto Sans KR"/>
                          <a:cs typeface="Calibri"/>
                        </a:rPr>
                        <a:t>동적 라우팅</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리전(Regional)</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283464">
                <a:tc>
                  <a:txBody>
                    <a:bodyPr wrap="square"/>
                    <a:lstStyle/>
                    <a:p>
                      <a:pPr algn="l">
                        <a:spcBef>
                          <a:spcPts val="0"/>
                        </a:spcBef>
                        <a:spcAft>
                          <a:spcPts val="0"/>
                        </a:spcAft>
                        <a:buNone/>
                      </a:pPr>
                      <a:r>
                        <a:rPr sz="1100" b="1" lang="ko-KR">
                          <a:solidFill>
                            <a:srgbClr val="3C4043"/>
                          </a:solidFill>
                          <a:latin typeface="Calibri"/>
                          <a:ea typeface="Noto Sans KR"/>
                          <a:cs typeface="Calibri"/>
                        </a:rPr>
                        <a:t>VM 외부 IP</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없음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283464">
                <a:tc>
                  <a:txBody>
                    <a:bodyPr wrap="square"/>
                    <a:lstStyle/>
                    <a:p>
                      <a:pPr algn="l">
                        <a:spcBef>
                          <a:spcPts val="0"/>
                        </a:spcBef>
                        <a:spcAft>
                          <a:spcPts val="0"/>
                        </a:spcAft>
                        <a:buNone/>
                      </a:pPr>
                      <a:r>
                        <a:rPr sz="1100" b="1" lang="ko-KR">
                          <a:solidFill>
                            <a:srgbClr val="3C4043"/>
                          </a:solidFill>
                          <a:latin typeface="Calibri"/>
                          <a:ea typeface="Noto Sans KR"/>
                          <a:cs typeface="Calibri"/>
                        </a:rPr>
                        <a:t>들어오는 통신</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외부 LB · IAP만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283464">
                <a:tc>
                  <a:txBody>
                    <a:bodyPr wrap="square"/>
                    <a:lstStyle/>
                    <a:p>
                      <a:pPr algn="l">
                        <a:spcBef>
                          <a:spcPts val="0"/>
                        </a:spcBef>
                        <a:spcAft>
                          <a:spcPts val="0"/>
                        </a:spcAft>
                        <a:buNone/>
                      </a:pPr>
                      <a:r>
                        <a:rPr sz="1100" b="1" lang="ko-KR">
                          <a:solidFill>
                            <a:srgbClr val="3C4043"/>
                          </a:solidFill>
                          <a:latin typeface="Calibri"/>
                          <a:ea typeface="Noto Sans KR"/>
                          <a:cs typeface="Calibri"/>
                        </a:rPr>
                        <a:t>나가는 통신</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Cloud NAT</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283464">
                <a:tc>
                  <a:txBody>
                    <a:bodyPr wrap="square"/>
                    <a:lstStyle/>
                    <a:p>
                      <a:pPr algn="l">
                        <a:spcBef>
                          <a:spcPts val="0"/>
                        </a:spcBef>
                        <a:spcAft>
                          <a:spcPts val="0"/>
                        </a:spcAft>
                        <a:buNone/>
                      </a:pPr>
                      <a:r>
                        <a:rPr sz="1100" b="1" lang="ko-KR">
                          <a:solidFill>
                            <a:srgbClr val="3C4043"/>
                          </a:solidFill>
                          <a:latin typeface="Calibri"/>
                          <a:ea typeface="Noto Sans KR"/>
                          <a:cs typeface="Calibri"/>
                        </a:rPr>
                        <a:t>Google API</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비공개 Google 액세스</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
        <p:nvSpPr>
          <p:cNvPr id="38" name="TextBox 37"/>
          <p:cNvSpPr txBox="1"/>
          <p:nvPr/>
        </p:nvSpPr>
        <p:spPr>
          <a:xfrm>
            <a:off x="5394960" y="4224528"/>
            <a:ext cx="3108960" cy="292608"/>
          </a:xfrm>
          <a:prstGeom prst="rect">
            <a:avLst/>
          </a:prstGeom>
          <a:noFill/>
        </p:spPr>
        <p:txBody>
          <a:bodyPr wrap="square" lIns="36576" tIns="18288" rIns="36576" bIns="18288" anchor="t">
            <a:noAutofit/>
          </a:bodyPr>
          <a:lstStyle/>
          <a:p>
            <a:pPr algn="l">
              <a:spcBef>
                <a:spcPts val="0"/>
              </a:spcBef>
              <a:spcAft>
                <a:spcPts val="0"/>
              </a:spcAft>
              <a:buNone/>
            </a:pPr>
            <a:r>
              <a:rPr sz="1250" b="1" lang="ko-KR">
                <a:solidFill>
                  <a:srgbClr val="202124"/>
                </a:solidFill>
                <a:latin typeface="Calibri"/>
                <a:ea typeface="Noto Sans KR"/>
                <a:cs typeface="Calibri"/>
              </a:rPr>
              <a:t>왜 이렇게?</a:t>
            </a:r>
          </a:p>
        </p:txBody>
      </p:sp>
      <p:sp>
        <p:nvSpPr>
          <p:cNvPr id="39" name="TextBox 38"/>
          <p:cNvSpPr txBox="1"/>
          <p:nvPr/>
        </p:nvSpPr>
        <p:spPr>
          <a:xfrm>
            <a:off x="5394960" y="4535424"/>
            <a:ext cx="3145536" cy="1700784"/>
          </a:xfrm>
          <a:prstGeom prst="rect">
            <a:avLst/>
          </a:prstGeom>
          <a:noFill/>
        </p:spPr>
        <p:txBody>
          <a:bodyPr wrap="square" lIns="36576" tIns="18288" rIns="36576" bIns="18288" anchor="t">
            <a:noAutofit/>
          </a:bodyPr>
          <a:lstStyle/>
          <a:p>
            <a:pPr algn="l" marL="146304" indent="-146304">
              <a:spcBef>
                <a:spcPts val="0"/>
              </a:spcBef>
              <a:spcAft>
                <a:spcPts val="400"/>
              </a:spcAft>
              <a:buFont typeface="Arial"/>
              <a:buChar char="•"/>
            </a:pPr>
            <a:r>
              <a:rPr sz="1100" b="0" lang="ko-KR">
                <a:solidFill>
                  <a:srgbClr val="3C4043"/>
                </a:solidFill>
                <a:latin typeface="Calibri"/>
                <a:ea typeface="Noto Sans KR"/>
                <a:cs typeface="Calibri"/>
              </a:rPr>
              <a:t>서브넷 = 방화벽 규칙을 거는 경계 (출발지 CIDR로 계층 구분)</a:t>
            </a:r>
          </a:p>
          <a:p>
            <a:pPr algn="l" marL="146304" indent="-146304">
              <a:spcBef>
                <a:spcPts val="0"/>
              </a:spcBef>
              <a:spcAft>
                <a:spcPts val="400"/>
              </a:spcAft>
              <a:buFont typeface="Arial"/>
              <a:buChar char="•"/>
            </a:pPr>
            <a:r>
              <a:rPr sz="1100" b="0" lang="ko-KR">
                <a:solidFill>
                  <a:srgbClr val="3C4043"/>
                </a:solidFill>
                <a:latin typeface="Calibri"/>
                <a:ea typeface="Noto Sans KR"/>
                <a:cs typeface="Calibri"/>
              </a:rPr>
              <a:t>외부 IP를 없애 VM으로 향하는 직접 공격 경로 차단</a:t>
            </a:r>
          </a:p>
          <a:p>
            <a:pPr algn="l" marL="146304" indent="-146304">
              <a:spcBef>
                <a:spcPts val="0"/>
              </a:spcBef>
              <a:spcAft>
                <a:spcPts val="400"/>
              </a:spcAft>
              <a:buFont typeface="Arial"/>
              <a:buChar char="•"/>
            </a:pPr>
            <a:r>
              <a:rPr sz="1100" b="0" lang="ko-KR">
                <a:solidFill>
                  <a:srgbClr val="3C4043"/>
                </a:solidFill>
                <a:latin typeface="Calibri"/>
                <a:ea typeface="Noto Sans KR"/>
                <a:cs typeface="Calibri"/>
              </a:rPr>
              <a:t>DB는 PSC 내부 IP로만 접속 (공인 IP 없음)</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구축 ② 로드밸런싱</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nav-active"/>
          <p:cNvSpPr/>
          <p:nvPr/>
        </p:nvSpPr>
        <p:spPr>
          <a:xfrm>
            <a:off x="2034540"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외부는 HTTPS LB 한 곳으로 받고, WAS는 내부 LB 뒤에 숨겼습니다</a:t>
            </a:r>
          </a:p>
        </p:txBody>
      </p:sp>
      <p:sp>
        <p:nvSpPr>
          <p:cNvPr id="16" name="Rounded Rectangle 15"/>
          <p:cNvSpPr/>
          <p:nvPr/>
        </p:nvSpPr>
        <p:spPr>
          <a:xfrm>
            <a:off x="1559052" y="2048256"/>
            <a:ext cx="4041648" cy="256032"/>
          </a:xfrm>
          <a:prstGeom prst="roundRect">
            <a:avLst>
              <a:gd name="adj" fmla="val 30000"/>
            </a:avLst>
          </a:prstGeom>
          <a:solidFill>
            <a:srgbClr val="E8F0FE"/>
          </a:solidFill>
          <a:ln>
            <a:noFill/>
          </a:ln>
        </p:spPr>
        <p:txBody>
          <a:bodyPr rtlCol="0" anchor="ctr" wrap="square" lIns="73152" rIns="73152"/>
          <a:lstStyle/>
          <a:p>
            <a:pPr algn="ctr">
              <a:spcBef>
                <a:spcPts val="0"/>
              </a:spcBef>
              <a:spcAft>
                <a:spcPts val="0"/>
              </a:spcAft>
              <a:buNone/>
            </a:pPr>
            <a:r>
              <a:rPr sz="1000" b="1" lang="ko-KR">
                <a:solidFill>
                  <a:srgbClr val="1967D2"/>
                </a:solidFill>
                <a:latin typeface="Calibri"/>
                <a:ea typeface="Noto Sans KR"/>
                <a:cs typeface="Calibri"/>
              </a:rPr>
              <a:t>Global · 외부</a:t>
            </a:r>
          </a:p>
        </p:txBody>
      </p:sp>
      <p:sp>
        <p:nvSpPr>
          <p:cNvPr id="17" name="Rounded Rectangle 16"/>
          <p:cNvSpPr/>
          <p:nvPr/>
        </p:nvSpPr>
        <p:spPr>
          <a:xfrm>
            <a:off x="5527548" y="2048256"/>
            <a:ext cx="3049524" cy="256032"/>
          </a:xfrm>
          <a:prstGeom prst="roundRect">
            <a:avLst>
              <a:gd name="adj" fmla="val 30000"/>
            </a:avLst>
          </a:prstGeom>
          <a:solidFill>
            <a:srgbClr val="FEF7E0"/>
          </a:solidFill>
          <a:ln>
            <a:noFill/>
          </a:ln>
        </p:spPr>
        <p:txBody>
          <a:bodyPr rtlCol="0" anchor="ctr" wrap="square" lIns="73152" rIns="73152"/>
          <a:lstStyle/>
          <a:p>
            <a:pPr algn="ctr">
              <a:spcBef>
                <a:spcPts val="0"/>
              </a:spcBef>
              <a:spcAft>
                <a:spcPts val="0"/>
              </a:spcAft>
              <a:buNone/>
            </a:pPr>
            <a:r>
              <a:rPr sz="1000" b="1" lang="ko-KR">
                <a:solidFill>
                  <a:srgbClr val="B06000"/>
                </a:solidFill>
                <a:latin typeface="Calibri"/>
                <a:ea typeface="Noto Sans KR"/>
                <a:cs typeface="Calibri"/>
              </a:rPr>
              <a:t>Region · VPC 내부</a:t>
            </a:r>
          </a:p>
        </p:txBody>
      </p:sp>
      <p:sp>
        <p:nvSpPr>
          <p:cNvPr id="18" name="Oval 17"/>
          <p:cNvSpPr/>
          <p:nvPr/>
        </p:nvSpPr>
        <p:spPr>
          <a:xfrm>
            <a:off x="797814" y="2432304"/>
            <a:ext cx="603504" cy="603504"/>
          </a:xfrm>
          <a:prstGeom prst="ellipse">
            <a:avLst/>
          </a:prstGeom>
          <a:solidFill>
            <a:srgbClr val="F1F3F4"/>
          </a:solidFill>
          <a:ln>
            <a:noFill/>
          </a:ln>
        </p:spPr>
        <p:txBody>
          <a:bodyPr rtlCol="0" anchor="ctr" wrap="square" lIns="73152" rIns="73152"/>
          <a:lstStyle/>
          <a:p>
            <a:pPr algn="ctr"/>
          </a:p>
        </p:txBody>
      </p:sp>
      <p:pic>
        <p:nvPicPr>
          <p:cNvPr id="19" name="Picture 18" descr="users.png"/>
          <p:cNvPicPr>
            <a:picLocks noChangeAspect="1"/>
          </p:cNvPicPr>
          <p:nvPr/>
        </p:nvPicPr>
        <p:blipFill>
          <a:blip r:embed="rId3"/>
          <a:stretch>
            <a:fillRect/>
          </a:stretch>
        </p:blipFill>
        <p:spPr>
          <a:xfrm>
            <a:off x="900410" y="2534900"/>
            <a:ext cx="398313" cy="398313"/>
          </a:xfrm>
          <a:prstGeom prst="rect">
            <a:avLst/>
          </a:prstGeom>
        </p:spPr>
      </p:pic>
      <p:sp>
        <p:nvSpPr>
          <p:cNvPr id="20" name="TextBox 19"/>
          <p:cNvSpPr txBox="1"/>
          <p:nvPr/>
        </p:nvSpPr>
        <p:spPr>
          <a:xfrm>
            <a:off x="603504" y="3090672"/>
            <a:ext cx="992124" cy="566928"/>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202124"/>
                </a:solidFill>
                <a:latin typeface="Calibri"/>
                <a:ea typeface="Noto Sans KR"/>
                <a:cs typeface="Calibri"/>
              </a:rPr>
              <a:t>사용자</a:t>
            </a:r>
          </a:p>
          <a:p>
            <a:pPr algn="ctr">
              <a:spcBef>
                <a:spcPts val="0"/>
              </a:spcBef>
              <a:spcAft>
                <a:spcPts val="0"/>
              </a:spcAft>
              <a:buNone/>
            </a:pPr>
            <a:r>
              <a:rPr sz="950" b="0" lang="ko-KR">
                <a:solidFill>
                  <a:srgbClr val="5F6368"/>
                </a:solidFill>
                <a:latin typeface="Calibri"/>
                <a:ea typeface="Noto Sans KR"/>
                <a:cs typeface="Calibri"/>
              </a:rPr>
              <a:t/>
            </a:r>
          </a:p>
        </p:txBody>
      </p:sp>
      <p:cxnSp>
        <p:nvCxnSpPr>
          <p:cNvPr id="21" name="Connector 20"/>
          <p:cNvCxnSpPr/>
          <p:nvPr/>
        </p:nvCxnSpPr>
        <p:spPr>
          <a:xfrm>
            <a:off x="1428750" y="2734056"/>
            <a:ext cx="333756" cy="0"/>
          </a:xfrm>
          <a:prstGeom prst="line">
            <a:avLst/>
          </a:prstGeom>
          <a:ln w="22225">
            <a:solidFill>
              <a:srgbClr val="9AA0A6"/>
            </a:solidFill>
            <a:prstDash val="dash"/>
            <a:tailEnd type="triangle" w="med" len="med"/>
          </a:ln>
        </p:spPr>
      </p:cxnSp>
      <p:sp>
        <p:nvSpPr>
          <p:cNvPr id="22" name="Oval 21"/>
          <p:cNvSpPr/>
          <p:nvPr/>
        </p:nvSpPr>
        <p:spPr>
          <a:xfrm>
            <a:off x="1789938" y="2432304"/>
            <a:ext cx="603504" cy="603504"/>
          </a:xfrm>
          <a:prstGeom prst="ellipse">
            <a:avLst/>
          </a:prstGeom>
          <a:solidFill>
            <a:srgbClr val="E8F0FE"/>
          </a:solidFill>
          <a:ln>
            <a:noFill/>
          </a:ln>
        </p:spPr>
        <p:txBody>
          <a:bodyPr rtlCol="0" anchor="ctr" wrap="square" lIns="73152" rIns="73152"/>
          <a:lstStyle/>
          <a:p>
            <a:pPr algn="ctr"/>
          </a:p>
        </p:txBody>
      </p:sp>
      <p:pic>
        <p:nvPicPr>
          <p:cNvPr id="23" name="Picture 22" descr="dns.png"/>
          <p:cNvPicPr>
            <a:picLocks noChangeAspect="1"/>
          </p:cNvPicPr>
          <p:nvPr/>
        </p:nvPicPr>
        <p:blipFill>
          <a:blip r:embed="rId4"/>
          <a:stretch>
            <a:fillRect/>
          </a:stretch>
        </p:blipFill>
        <p:spPr>
          <a:xfrm>
            <a:off x="1892534" y="2534900"/>
            <a:ext cx="398313" cy="398313"/>
          </a:xfrm>
          <a:prstGeom prst="rect">
            <a:avLst/>
          </a:prstGeom>
        </p:spPr>
      </p:pic>
      <p:sp>
        <p:nvSpPr>
          <p:cNvPr id="24" name="TextBox 23"/>
          <p:cNvSpPr txBox="1"/>
          <p:nvPr/>
        </p:nvSpPr>
        <p:spPr>
          <a:xfrm>
            <a:off x="1595628" y="3090672"/>
            <a:ext cx="992124" cy="566928"/>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202124"/>
                </a:solidFill>
                <a:latin typeface="Calibri"/>
                <a:ea typeface="Noto Sans KR"/>
                <a:cs typeface="Calibri"/>
              </a:rPr>
              <a:t>Cloud DNS</a:t>
            </a:r>
          </a:p>
          <a:p>
            <a:pPr algn="ctr">
              <a:spcBef>
                <a:spcPts val="0"/>
              </a:spcBef>
              <a:spcAft>
                <a:spcPts val="0"/>
              </a:spcAft>
              <a:buNone/>
            </a:pPr>
            <a:r>
              <a:rPr sz="950" b="0" lang="ko-KR">
                <a:solidFill>
                  <a:srgbClr val="5F6368"/>
                </a:solidFill>
                <a:latin typeface="Calibri"/>
                <a:ea typeface="Noto Sans KR"/>
                <a:cs typeface="Calibri"/>
              </a:rPr>
              <a:t>도메인 → LB IP</a:t>
            </a:r>
          </a:p>
        </p:txBody>
      </p:sp>
      <p:cxnSp>
        <p:nvCxnSpPr>
          <p:cNvPr id="25" name="Connector 24"/>
          <p:cNvCxnSpPr/>
          <p:nvPr/>
        </p:nvCxnSpPr>
        <p:spPr>
          <a:xfrm>
            <a:off x="2420874" y="2734056"/>
            <a:ext cx="333756" cy="0"/>
          </a:xfrm>
          <a:prstGeom prst="line">
            <a:avLst/>
          </a:prstGeom>
          <a:ln w="22225">
            <a:solidFill>
              <a:srgbClr val="1A73E8"/>
            </a:solidFill>
            <a:tailEnd type="triangle" w="med" len="med"/>
          </a:ln>
        </p:spPr>
      </p:cxnSp>
      <p:sp>
        <p:nvSpPr>
          <p:cNvPr id="26" name="Oval 25"/>
          <p:cNvSpPr/>
          <p:nvPr/>
        </p:nvSpPr>
        <p:spPr>
          <a:xfrm>
            <a:off x="2782062" y="2432304"/>
            <a:ext cx="603504" cy="603504"/>
          </a:xfrm>
          <a:prstGeom prst="ellipse">
            <a:avLst/>
          </a:prstGeom>
          <a:solidFill>
            <a:srgbClr val="E8F0FE"/>
          </a:solidFill>
          <a:ln>
            <a:noFill/>
          </a:ln>
        </p:spPr>
        <p:txBody>
          <a:bodyPr rtlCol="0" anchor="ctr" wrap="square" lIns="73152" rIns="73152"/>
          <a:lstStyle/>
          <a:p>
            <a:pPr algn="ctr"/>
          </a:p>
        </p:txBody>
      </p:sp>
      <p:pic>
        <p:nvPicPr>
          <p:cNvPr id="27" name="Picture 26" descr="lb.png"/>
          <p:cNvPicPr>
            <a:picLocks noChangeAspect="1"/>
          </p:cNvPicPr>
          <p:nvPr/>
        </p:nvPicPr>
        <p:blipFill>
          <a:blip r:embed="rId5"/>
          <a:stretch>
            <a:fillRect/>
          </a:stretch>
        </p:blipFill>
        <p:spPr>
          <a:xfrm>
            <a:off x="2884658" y="2534900"/>
            <a:ext cx="398313" cy="398313"/>
          </a:xfrm>
          <a:prstGeom prst="rect">
            <a:avLst/>
          </a:prstGeom>
        </p:spPr>
      </p:pic>
      <p:sp>
        <p:nvSpPr>
          <p:cNvPr id="28" name="TextBox 27"/>
          <p:cNvSpPr txBox="1"/>
          <p:nvPr/>
        </p:nvSpPr>
        <p:spPr>
          <a:xfrm>
            <a:off x="2587752" y="3090672"/>
            <a:ext cx="992124" cy="566928"/>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202124"/>
                </a:solidFill>
                <a:latin typeface="Calibri"/>
                <a:ea typeface="Noto Sans KR"/>
                <a:cs typeface="Calibri"/>
              </a:rPr>
              <a:t>외부 HTTPS LB</a:t>
            </a:r>
          </a:p>
          <a:p>
            <a:pPr algn="ctr">
              <a:spcBef>
                <a:spcPts val="0"/>
              </a:spcBef>
              <a:spcAft>
                <a:spcPts val="0"/>
              </a:spcAft>
              <a:buNone/>
            </a:pPr>
            <a:r>
              <a:rPr sz="950" b="0" lang="ko-KR">
                <a:solidFill>
                  <a:srgbClr val="5F6368"/>
                </a:solidFill>
                <a:latin typeface="Calibri"/>
                <a:ea typeface="Noto Sans KR"/>
                <a:cs typeface="Calibri"/>
              </a:rPr>
              <a:t>SSL 종료 · 301</a:t>
            </a:r>
          </a:p>
        </p:txBody>
      </p:sp>
      <p:cxnSp>
        <p:nvCxnSpPr>
          <p:cNvPr id="29" name="Connector 28"/>
          <p:cNvCxnSpPr/>
          <p:nvPr/>
        </p:nvCxnSpPr>
        <p:spPr>
          <a:xfrm>
            <a:off x="3412998" y="2734056"/>
            <a:ext cx="333756" cy="0"/>
          </a:xfrm>
          <a:prstGeom prst="line">
            <a:avLst/>
          </a:prstGeom>
          <a:ln w="22225">
            <a:solidFill>
              <a:srgbClr val="1A73E8"/>
            </a:solidFill>
            <a:tailEnd type="triangle" w="med" len="med"/>
          </a:ln>
        </p:spPr>
      </p:cxnSp>
      <p:sp>
        <p:nvSpPr>
          <p:cNvPr id="30" name="Oval 29"/>
          <p:cNvSpPr/>
          <p:nvPr/>
        </p:nvSpPr>
        <p:spPr>
          <a:xfrm>
            <a:off x="3774186" y="2432304"/>
            <a:ext cx="603504" cy="603504"/>
          </a:xfrm>
          <a:prstGeom prst="ellipse">
            <a:avLst/>
          </a:prstGeom>
          <a:solidFill>
            <a:srgbClr val="E8F0FE"/>
          </a:solidFill>
          <a:ln>
            <a:noFill/>
          </a:ln>
        </p:spPr>
        <p:txBody>
          <a:bodyPr rtlCol="0" anchor="ctr" wrap="square" lIns="73152" rIns="73152"/>
          <a:lstStyle/>
          <a:p>
            <a:pPr algn="ctr"/>
          </a:p>
        </p:txBody>
      </p:sp>
      <p:pic>
        <p:nvPicPr>
          <p:cNvPr id="31" name="Picture 30" descr="cdn.png"/>
          <p:cNvPicPr>
            <a:picLocks noChangeAspect="1"/>
          </p:cNvPicPr>
          <p:nvPr/>
        </p:nvPicPr>
        <p:blipFill>
          <a:blip r:embed="rId6"/>
          <a:stretch>
            <a:fillRect/>
          </a:stretch>
        </p:blipFill>
        <p:spPr>
          <a:xfrm>
            <a:off x="3876782" y="2534900"/>
            <a:ext cx="398313" cy="398313"/>
          </a:xfrm>
          <a:prstGeom prst="rect">
            <a:avLst/>
          </a:prstGeom>
        </p:spPr>
      </p:pic>
      <p:sp>
        <p:nvSpPr>
          <p:cNvPr id="32" name="TextBox 31"/>
          <p:cNvSpPr txBox="1"/>
          <p:nvPr/>
        </p:nvSpPr>
        <p:spPr>
          <a:xfrm>
            <a:off x="3579876" y="3090672"/>
            <a:ext cx="992124" cy="566928"/>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202124"/>
                </a:solidFill>
                <a:latin typeface="Calibri"/>
                <a:ea typeface="Noto Sans KR"/>
                <a:cs typeface="Calibri"/>
              </a:rPr>
              <a:t>Cloud CDN</a:t>
            </a:r>
          </a:p>
          <a:p>
            <a:pPr algn="ctr">
              <a:spcBef>
                <a:spcPts val="0"/>
              </a:spcBef>
              <a:spcAft>
                <a:spcPts val="0"/>
              </a:spcAft>
              <a:buNone/>
            </a:pPr>
            <a:r>
              <a:rPr sz="950" b="0" lang="ko-KR">
                <a:solidFill>
                  <a:srgbClr val="5F6368"/>
                </a:solidFill>
                <a:latin typeface="Calibri"/>
                <a:ea typeface="Noto Sans KR"/>
                <a:cs typeface="Calibri"/>
              </a:rPr>
              <a:t>정적 캐시</a:t>
            </a:r>
          </a:p>
        </p:txBody>
      </p:sp>
      <p:cxnSp>
        <p:nvCxnSpPr>
          <p:cNvPr id="33" name="Connector 32"/>
          <p:cNvCxnSpPr/>
          <p:nvPr/>
        </p:nvCxnSpPr>
        <p:spPr>
          <a:xfrm>
            <a:off x="4405122" y="2734056"/>
            <a:ext cx="333756" cy="0"/>
          </a:xfrm>
          <a:prstGeom prst="line">
            <a:avLst/>
          </a:prstGeom>
          <a:ln w="22225">
            <a:solidFill>
              <a:srgbClr val="1A73E8"/>
            </a:solidFill>
            <a:tailEnd type="triangle" w="med" len="med"/>
          </a:ln>
        </p:spPr>
      </p:cxnSp>
      <p:sp>
        <p:nvSpPr>
          <p:cNvPr id="34" name="Oval 33"/>
          <p:cNvSpPr/>
          <p:nvPr/>
        </p:nvSpPr>
        <p:spPr>
          <a:xfrm>
            <a:off x="4766310" y="2432304"/>
            <a:ext cx="603504" cy="603504"/>
          </a:xfrm>
          <a:prstGeom prst="ellipse">
            <a:avLst/>
          </a:prstGeom>
          <a:solidFill>
            <a:srgbClr val="E8F0FE"/>
          </a:solidFill>
          <a:ln>
            <a:noFill/>
          </a:ln>
        </p:spPr>
        <p:txBody>
          <a:bodyPr rtlCol="0" anchor="ctr" wrap="square" lIns="73152" rIns="73152"/>
          <a:lstStyle/>
          <a:p>
            <a:pPr algn="ctr"/>
          </a:p>
        </p:txBody>
      </p:sp>
      <p:pic>
        <p:nvPicPr>
          <p:cNvPr id="35" name="Picture 34" descr="armor.png"/>
          <p:cNvPicPr>
            <a:picLocks noChangeAspect="1"/>
          </p:cNvPicPr>
          <p:nvPr/>
        </p:nvPicPr>
        <p:blipFill>
          <a:blip r:embed="rId7"/>
          <a:stretch>
            <a:fillRect/>
          </a:stretch>
        </p:blipFill>
        <p:spPr>
          <a:xfrm>
            <a:off x="4868906" y="2534900"/>
            <a:ext cx="398313" cy="398313"/>
          </a:xfrm>
          <a:prstGeom prst="rect">
            <a:avLst/>
          </a:prstGeom>
        </p:spPr>
      </p:pic>
      <p:sp>
        <p:nvSpPr>
          <p:cNvPr id="36" name="TextBox 35"/>
          <p:cNvSpPr txBox="1"/>
          <p:nvPr/>
        </p:nvSpPr>
        <p:spPr>
          <a:xfrm>
            <a:off x="4572000" y="3090672"/>
            <a:ext cx="992124" cy="566928"/>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202124"/>
                </a:solidFill>
                <a:latin typeface="Calibri"/>
                <a:ea typeface="Noto Sans KR"/>
                <a:cs typeface="Calibri"/>
              </a:rPr>
              <a:t>Cloud Armor</a:t>
            </a:r>
          </a:p>
          <a:p>
            <a:pPr algn="ctr">
              <a:spcBef>
                <a:spcPts val="0"/>
              </a:spcBef>
              <a:spcAft>
                <a:spcPts val="0"/>
              </a:spcAft>
              <a:buNone/>
            </a:pPr>
            <a:r>
              <a:rPr sz="950" b="0" lang="ko-KR">
                <a:solidFill>
                  <a:srgbClr val="5F6368"/>
                </a:solidFill>
                <a:latin typeface="Calibri"/>
                <a:ea typeface="Noto Sans KR"/>
                <a:cs typeface="Calibri"/>
              </a:rPr>
              <a:t>미적중 요청 검사</a:t>
            </a:r>
          </a:p>
        </p:txBody>
      </p:sp>
      <p:cxnSp>
        <p:nvCxnSpPr>
          <p:cNvPr id="37" name="Connector 36"/>
          <p:cNvCxnSpPr/>
          <p:nvPr/>
        </p:nvCxnSpPr>
        <p:spPr>
          <a:xfrm>
            <a:off x="5397246" y="2734056"/>
            <a:ext cx="333756" cy="0"/>
          </a:xfrm>
          <a:prstGeom prst="line">
            <a:avLst/>
          </a:prstGeom>
          <a:ln w="22225">
            <a:solidFill>
              <a:srgbClr val="1A73E8"/>
            </a:solidFill>
            <a:tailEnd type="triangle" w="med" len="med"/>
          </a:ln>
        </p:spPr>
      </p:cxnSp>
      <p:sp>
        <p:nvSpPr>
          <p:cNvPr id="38" name="Oval 37"/>
          <p:cNvSpPr/>
          <p:nvPr/>
        </p:nvSpPr>
        <p:spPr>
          <a:xfrm>
            <a:off x="5758434" y="2432304"/>
            <a:ext cx="603504" cy="603504"/>
          </a:xfrm>
          <a:prstGeom prst="ellipse">
            <a:avLst/>
          </a:prstGeom>
          <a:solidFill>
            <a:srgbClr val="E6F4EA"/>
          </a:solidFill>
          <a:ln>
            <a:noFill/>
          </a:ln>
        </p:spPr>
        <p:txBody>
          <a:bodyPr rtlCol="0" anchor="ctr" wrap="square" lIns="73152" rIns="73152"/>
          <a:lstStyle/>
          <a:p>
            <a:pPr algn="ctr"/>
          </a:p>
        </p:txBody>
      </p:sp>
      <p:pic>
        <p:nvPicPr>
          <p:cNvPr id="39" name="Picture 38" descr="gce.png"/>
          <p:cNvPicPr>
            <a:picLocks noChangeAspect="1"/>
          </p:cNvPicPr>
          <p:nvPr/>
        </p:nvPicPr>
        <p:blipFill>
          <a:blip r:embed="rId8"/>
          <a:stretch>
            <a:fillRect/>
          </a:stretch>
        </p:blipFill>
        <p:spPr>
          <a:xfrm>
            <a:off x="5861030" y="2534900"/>
            <a:ext cx="398313" cy="398313"/>
          </a:xfrm>
          <a:prstGeom prst="rect">
            <a:avLst/>
          </a:prstGeom>
        </p:spPr>
      </p:pic>
      <p:sp>
        <p:nvSpPr>
          <p:cNvPr id="40" name="TextBox 39"/>
          <p:cNvSpPr txBox="1"/>
          <p:nvPr/>
        </p:nvSpPr>
        <p:spPr>
          <a:xfrm>
            <a:off x="5564124" y="3090672"/>
            <a:ext cx="992124" cy="566928"/>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202124"/>
                </a:solidFill>
                <a:latin typeface="Calibri"/>
                <a:ea typeface="Noto Sans KR"/>
                <a:cs typeface="Calibri"/>
              </a:rPr>
              <a:t>WEB MIG</a:t>
            </a:r>
          </a:p>
          <a:p>
            <a:pPr algn="ctr">
              <a:spcBef>
                <a:spcPts val="0"/>
              </a:spcBef>
              <a:spcAft>
                <a:spcPts val="0"/>
              </a:spcAft>
              <a:buNone/>
            </a:pPr>
            <a:r>
              <a:rPr sz="950" b="0" lang="ko-KR">
                <a:solidFill>
                  <a:srgbClr val="5F6368"/>
                </a:solidFill>
                <a:latin typeface="Calibri"/>
                <a:ea typeface="Noto Sans KR"/>
                <a:cs typeface="Calibri"/>
              </a:rPr>
              <a:t>Apache :80</a:t>
            </a:r>
          </a:p>
        </p:txBody>
      </p:sp>
      <p:cxnSp>
        <p:nvCxnSpPr>
          <p:cNvPr id="41" name="Connector 40"/>
          <p:cNvCxnSpPr/>
          <p:nvPr/>
        </p:nvCxnSpPr>
        <p:spPr>
          <a:xfrm>
            <a:off x="6389370" y="2734056"/>
            <a:ext cx="333756" cy="0"/>
          </a:xfrm>
          <a:prstGeom prst="line">
            <a:avLst/>
          </a:prstGeom>
          <a:ln w="22225">
            <a:solidFill>
              <a:srgbClr val="1A73E8"/>
            </a:solidFill>
            <a:tailEnd type="triangle" w="med" len="med"/>
          </a:ln>
        </p:spPr>
      </p:cxnSp>
      <p:sp>
        <p:nvSpPr>
          <p:cNvPr id="42" name="Oval 41"/>
          <p:cNvSpPr/>
          <p:nvPr/>
        </p:nvSpPr>
        <p:spPr>
          <a:xfrm>
            <a:off x="6750558" y="2432304"/>
            <a:ext cx="603504" cy="603504"/>
          </a:xfrm>
          <a:prstGeom prst="ellipse">
            <a:avLst/>
          </a:prstGeom>
          <a:solidFill>
            <a:srgbClr val="FEF7E0"/>
          </a:solidFill>
          <a:ln>
            <a:noFill/>
          </a:ln>
        </p:spPr>
        <p:txBody>
          <a:bodyPr rtlCol="0" anchor="ctr" wrap="square" lIns="73152" rIns="73152"/>
          <a:lstStyle/>
          <a:p>
            <a:pPr algn="ctr"/>
          </a:p>
        </p:txBody>
      </p:sp>
      <p:pic>
        <p:nvPicPr>
          <p:cNvPr id="43" name="Picture 42" descr="lb.png"/>
          <p:cNvPicPr>
            <a:picLocks noChangeAspect="1"/>
          </p:cNvPicPr>
          <p:nvPr/>
        </p:nvPicPr>
        <p:blipFill>
          <a:blip r:embed="rId5"/>
          <a:stretch>
            <a:fillRect/>
          </a:stretch>
        </p:blipFill>
        <p:spPr>
          <a:xfrm>
            <a:off x="6853154" y="2534900"/>
            <a:ext cx="398313" cy="398313"/>
          </a:xfrm>
          <a:prstGeom prst="rect">
            <a:avLst/>
          </a:prstGeom>
        </p:spPr>
      </p:pic>
      <p:sp>
        <p:nvSpPr>
          <p:cNvPr id="44" name="TextBox 43"/>
          <p:cNvSpPr txBox="1"/>
          <p:nvPr/>
        </p:nvSpPr>
        <p:spPr>
          <a:xfrm>
            <a:off x="6556248" y="3090672"/>
            <a:ext cx="992124" cy="566928"/>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202124"/>
                </a:solidFill>
                <a:latin typeface="Calibri"/>
                <a:ea typeface="Noto Sans KR"/>
                <a:cs typeface="Calibri"/>
              </a:rPr>
              <a:t>내부 LB</a:t>
            </a:r>
          </a:p>
          <a:p>
            <a:pPr algn="ctr">
              <a:spcBef>
                <a:spcPts val="0"/>
              </a:spcBef>
              <a:spcAft>
                <a:spcPts val="0"/>
              </a:spcAft>
              <a:buNone/>
            </a:pPr>
            <a:r>
              <a:rPr sz="950" b="0" lang="ko-KR">
                <a:solidFill>
                  <a:srgbClr val="5F6368"/>
                </a:solidFill>
                <a:latin typeface="Calibri"/>
                <a:ea typeface="Noto Sans KR"/>
                <a:cs typeface="Calibri"/>
              </a:rPr>
              <a:t>TCP :8080</a:t>
            </a:r>
          </a:p>
        </p:txBody>
      </p:sp>
      <p:cxnSp>
        <p:nvCxnSpPr>
          <p:cNvPr id="45" name="Connector 44"/>
          <p:cNvCxnSpPr/>
          <p:nvPr/>
        </p:nvCxnSpPr>
        <p:spPr>
          <a:xfrm>
            <a:off x="7381494" y="2734056"/>
            <a:ext cx="333756" cy="0"/>
          </a:xfrm>
          <a:prstGeom prst="line">
            <a:avLst/>
          </a:prstGeom>
          <a:ln w="22225">
            <a:solidFill>
              <a:srgbClr val="1A73E8"/>
            </a:solidFill>
            <a:tailEnd type="triangle" w="med" len="med"/>
          </a:ln>
        </p:spPr>
      </p:cxnSp>
      <p:sp>
        <p:nvSpPr>
          <p:cNvPr id="46" name="Oval 45"/>
          <p:cNvSpPr/>
          <p:nvPr/>
        </p:nvSpPr>
        <p:spPr>
          <a:xfrm>
            <a:off x="7742682" y="2432304"/>
            <a:ext cx="603504" cy="603504"/>
          </a:xfrm>
          <a:prstGeom prst="ellipse">
            <a:avLst/>
          </a:prstGeom>
          <a:solidFill>
            <a:srgbClr val="FEF7E0"/>
          </a:solidFill>
          <a:ln>
            <a:noFill/>
          </a:ln>
        </p:spPr>
        <p:txBody>
          <a:bodyPr rtlCol="0" anchor="ctr" wrap="square" lIns="73152" rIns="73152"/>
          <a:lstStyle/>
          <a:p>
            <a:pPr algn="ctr"/>
          </a:p>
        </p:txBody>
      </p:sp>
      <p:pic>
        <p:nvPicPr>
          <p:cNvPr id="47" name="Picture 46" descr="gce.png"/>
          <p:cNvPicPr>
            <a:picLocks noChangeAspect="1"/>
          </p:cNvPicPr>
          <p:nvPr/>
        </p:nvPicPr>
        <p:blipFill>
          <a:blip r:embed="rId8"/>
          <a:stretch>
            <a:fillRect/>
          </a:stretch>
        </p:blipFill>
        <p:spPr>
          <a:xfrm>
            <a:off x="7845278" y="2534900"/>
            <a:ext cx="398313" cy="398313"/>
          </a:xfrm>
          <a:prstGeom prst="rect">
            <a:avLst/>
          </a:prstGeom>
        </p:spPr>
      </p:pic>
      <p:sp>
        <p:nvSpPr>
          <p:cNvPr id="48" name="TextBox 47"/>
          <p:cNvSpPr txBox="1"/>
          <p:nvPr/>
        </p:nvSpPr>
        <p:spPr>
          <a:xfrm>
            <a:off x="7548372" y="3090672"/>
            <a:ext cx="992124" cy="566928"/>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202124"/>
                </a:solidFill>
                <a:latin typeface="Calibri"/>
                <a:ea typeface="Noto Sans KR"/>
                <a:cs typeface="Calibri"/>
              </a:rPr>
              <a:t>WAS MIG</a:t>
            </a:r>
          </a:p>
          <a:p>
            <a:pPr algn="ctr">
              <a:spcBef>
                <a:spcPts val="0"/>
              </a:spcBef>
              <a:spcAft>
                <a:spcPts val="0"/>
              </a:spcAft>
              <a:buNone/>
            </a:pPr>
            <a:r>
              <a:rPr sz="950" b="0" lang="ko-KR">
                <a:solidFill>
                  <a:srgbClr val="5F6368"/>
                </a:solidFill>
                <a:latin typeface="Calibri"/>
                <a:ea typeface="Noto Sans KR"/>
                <a:cs typeface="Calibri"/>
              </a:rPr>
              <a:t>Tomcat :8080</a:t>
            </a:r>
          </a:p>
        </p:txBody>
      </p:sp>
      <p:sp>
        <p:nvSpPr>
          <p:cNvPr id="49" name="Rounded Rectangle 48"/>
          <p:cNvSpPr/>
          <p:nvPr/>
        </p:nvSpPr>
        <p:spPr>
          <a:xfrm>
            <a:off x="603504" y="3822192"/>
            <a:ext cx="3913632" cy="1783080"/>
          </a:xfrm>
          <a:prstGeom prst="roundRect">
            <a:avLst>
              <a:gd name="adj" fmla="val 5000"/>
            </a:avLst>
          </a:prstGeom>
          <a:solidFill>
            <a:srgbClr val="FFFFFF"/>
          </a:solidFill>
          <a:ln w="15875">
            <a:solidFill>
              <a:srgbClr val="AECBFA"/>
            </a:solidFill>
          </a:ln>
        </p:spPr>
        <p:txBody>
          <a:bodyPr rtlCol="0" anchor="ctr" wrap="square" lIns="73152" rIns="73152"/>
          <a:lstStyle/>
          <a:p>
            <a:pPr algn="ctr"/>
          </a:p>
        </p:txBody>
      </p:sp>
      <p:sp>
        <p:nvSpPr>
          <p:cNvPr id="50" name="TextBox 49"/>
          <p:cNvSpPr txBox="1"/>
          <p:nvPr/>
        </p:nvSpPr>
        <p:spPr>
          <a:xfrm>
            <a:off x="713232" y="3858768"/>
            <a:ext cx="3657600" cy="310896"/>
          </a:xfrm>
          <a:prstGeom prst="rect">
            <a:avLst/>
          </a:prstGeom>
          <a:noFill/>
        </p:spPr>
        <p:txBody>
          <a:bodyPr wrap="square" lIns="36576" tIns="18288" rIns="36576" bIns="18288" anchor="ctr">
            <a:noAutofit/>
          </a:bodyPr>
          <a:lstStyle/>
          <a:p>
            <a:pPr algn="l">
              <a:spcBef>
                <a:spcPts val="0"/>
              </a:spcBef>
              <a:spcAft>
                <a:spcPts val="0"/>
              </a:spcAft>
              <a:buNone/>
            </a:pPr>
            <a:r>
              <a:rPr sz="1250" b="1" lang="ko-KR">
                <a:solidFill>
                  <a:srgbClr val="1967D2"/>
                </a:solidFill>
                <a:latin typeface="Calibri"/>
                <a:ea typeface="Noto Sans KR"/>
                <a:cs typeface="Calibri"/>
              </a:rPr>
              <a:t>외부 HTTPS LB</a:t>
            </a:r>
          </a:p>
        </p:txBody>
      </p:sp>
      <p:graphicFrame>
        <p:nvGraphicFramePr>
          <p:cNvPr id="51" name="Table 50"/>
          <p:cNvGraphicFramePr>
            <a:graphicFrameLocks noGrp="1"/>
          </p:cNvGraphicFramePr>
          <p:nvPr/>
        </p:nvGraphicFramePr>
        <p:xfrm>
          <a:off x="694944" y="4187952"/>
          <a:ext cx="3730752" cy="1316736"/>
        </p:xfrm>
        <a:graphic>
          <a:graphicData uri="http://schemas.openxmlformats.org/drawingml/2006/table">
            <a:tbl>
              <a:tblPr firstRow="0" bandRow="0">
                <a:tableStyleId>{2D5ABB26-0587-4C30-8999-92F81FD0307C}</a:tableStyleId>
              </a:tblPr>
              <a:tblGrid>
                <a:gridCol w="914400"/>
                <a:gridCol w="2816352"/>
              </a:tblGrid>
              <a:tr h="329184">
                <a:tc>
                  <a:txBody>
                    <a:bodyPr wrap="square"/>
                    <a:lstStyle/>
                    <a:p>
                      <a:pPr algn="l">
                        <a:spcBef>
                          <a:spcPts val="0"/>
                        </a:spcBef>
                        <a:spcAft>
                          <a:spcPts val="0"/>
                        </a:spcAft>
                        <a:buNone/>
                      </a:pPr>
                      <a:r>
                        <a:rPr sz="1050" b="1" lang="ko-KR">
                          <a:solidFill>
                            <a:srgbClr val="3C4043"/>
                          </a:solidFill>
                          <a:latin typeface="Calibri"/>
                          <a:ea typeface="Noto Sans KR"/>
                          <a:cs typeface="Calibri"/>
                        </a:rPr>
                        <a:t>유형</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Global 외부 Application LB · Premium 티어</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29184">
                <a:tc>
                  <a:txBody>
                    <a:bodyPr wrap="square"/>
                    <a:lstStyle/>
                    <a:p>
                      <a:pPr algn="l">
                        <a:spcBef>
                          <a:spcPts val="0"/>
                        </a:spcBef>
                        <a:spcAft>
                          <a:spcPts val="0"/>
                        </a:spcAft>
                        <a:buNone/>
                      </a:pPr>
                      <a:r>
                        <a:rPr sz="1050" b="1" lang="ko-KR">
                          <a:solidFill>
                            <a:srgbClr val="3C4043"/>
                          </a:solidFill>
                          <a:latin typeface="Calibri"/>
                          <a:ea typeface="Noto Sans KR"/>
                          <a:cs typeface="Calibri"/>
                        </a:rPr>
                        <a:t>프런트엔드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HTTPS 443 + Google 관리형 SSL 인증서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29184">
                <a:tc>
                  <a:txBody>
                    <a:bodyPr wrap="square"/>
                    <a:lstStyle/>
                    <a:p>
                      <a:pPr algn="l">
                        <a:spcBef>
                          <a:spcPts val="0"/>
                        </a:spcBef>
                        <a:spcAft>
                          <a:spcPts val="0"/>
                        </a:spcAft>
                        <a:buNone/>
                      </a:pPr>
                      <a:r>
                        <a:rPr sz="1050" b="1" lang="ko-KR">
                          <a:solidFill>
                            <a:srgbClr val="3C4043"/>
                          </a:solidFill>
                          <a:latin typeface="Calibri"/>
                          <a:ea typeface="Noto Sans KR"/>
                          <a:cs typeface="Calibri"/>
                        </a:rPr>
                        <a:t>리다이렉트</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HTTP 80 → HTTPS 301</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29184">
                <a:tc>
                  <a:txBody>
                    <a:bodyPr wrap="square"/>
                    <a:lstStyle/>
                    <a:p>
                      <a:pPr algn="l">
                        <a:spcBef>
                          <a:spcPts val="0"/>
                        </a:spcBef>
                        <a:spcAft>
                          <a:spcPts val="0"/>
                        </a:spcAft>
                        <a:buNone/>
                      </a:pPr>
                      <a:r>
                        <a:rPr sz="1050" b="1" lang="ko-KR">
                          <a:solidFill>
                            <a:srgbClr val="3C4043"/>
                          </a:solidFill>
                          <a:latin typeface="Calibri"/>
                          <a:ea typeface="Noto Sans KR"/>
                          <a:cs typeface="Calibri"/>
                        </a:rPr>
                        <a:t>백엔드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WEB MIG :80 · 헬스체크 · CDN · Armor 정책</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
        <p:nvSpPr>
          <p:cNvPr id="52" name="Rounded Rectangle 51"/>
          <p:cNvSpPr/>
          <p:nvPr/>
        </p:nvSpPr>
        <p:spPr>
          <a:xfrm>
            <a:off x="4626864" y="3822192"/>
            <a:ext cx="3913632" cy="1783080"/>
          </a:xfrm>
          <a:prstGeom prst="roundRect">
            <a:avLst>
              <a:gd name="adj" fmla="val 5000"/>
            </a:avLst>
          </a:prstGeom>
          <a:solidFill>
            <a:srgbClr val="FFFFFF"/>
          </a:solidFill>
          <a:ln w="15875">
            <a:solidFill>
              <a:srgbClr val="FDD663"/>
            </a:solidFill>
          </a:ln>
        </p:spPr>
        <p:txBody>
          <a:bodyPr rtlCol="0" anchor="ctr" wrap="square" lIns="73152" rIns="73152"/>
          <a:lstStyle/>
          <a:p>
            <a:pPr algn="ctr"/>
          </a:p>
        </p:txBody>
      </p:sp>
      <p:sp>
        <p:nvSpPr>
          <p:cNvPr id="53" name="TextBox 52"/>
          <p:cNvSpPr txBox="1"/>
          <p:nvPr/>
        </p:nvSpPr>
        <p:spPr>
          <a:xfrm>
            <a:off x="4736592" y="3858768"/>
            <a:ext cx="3657600" cy="310896"/>
          </a:xfrm>
          <a:prstGeom prst="rect">
            <a:avLst/>
          </a:prstGeom>
          <a:noFill/>
        </p:spPr>
        <p:txBody>
          <a:bodyPr wrap="square" lIns="36576" tIns="18288" rIns="36576" bIns="18288" anchor="ctr">
            <a:noAutofit/>
          </a:bodyPr>
          <a:lstStyle/>
          <a:p>
            <a:pPr algn="l">
              <a:spcBef>
                <a:spcPts val="0"/>
              </a:spcBef>
              <a:spcAft>
                <a:spcPts val="0"/>
              </a:spcAft>
              <a:buNone/>
            </a:pPr>
            <a:r>
              <a:rPr sz="1250" b="1" lang="ko-KR">
                <a:solidFill>
                  <a:srgbClr val="B06000"/>
                </a:solidFill>
                <a:latin typeface="Calibri"/>
                <a:ea typeface="Noto Sans KR"/>
                <a:cs typeface="Calibri"/>
              </a:rPr>
              <a:t>내부 LB</a:t>
            </a:r>
          </a:p>
        </p:txBody>
      </p:sp>
      <p:graphicFrame>
        <p:nvGraphicFramePr>
          <p:cNvPr id="54" name="Table 53"/>
          <p:cNvGraphicFramePr>
            <a:graphicFrameLocks noGrp="1"/>
          </p:cNvGraphicFramePr>
          <p:nvPr/>
        </p:nvGraphicFramePr>
        <p:xfrm>
          <a:off x="4718304" y="4187952"/>
          <a:ext cx="3730752" cy="1316736"/>
        </p:xfrm>
        <a:graphic>
          <a:graphicData uri="http://schemas.openxmlformats.org/drawingml/2006/table">
            <a:tbl>
              <a:tblPr firstRow="0" bandRow="0">
                <a:tableStyleId>{2D5ABB26-0587-4C30-8999-92F81FD0307C}</a:tableStyleId>
              </a:tblPr>
              <a:tblGrid>
                <a:gridCol w="914400"/>
                <a:gridCol w="2816352"/>
              </a:tblGrid>
              <a:tr h="329184">
                <a:tc>
                  <a:txBody>
                    <a:bodyPr wrap="square"/>
                    <a:lstStyle/>
                    <a:p>
                      <a:pPr algn="l">
                        <a:spcBef>
                          <a:spcPts val="0"/>
                        </a:spcBef>
                        <a:spcAft>
                          <a:spcPts val="0"/>
                        </a:spcAft>
                        <a:buNone/>
                      </a:pPr>
                      <a:r>
                        <a:rPr sz="1050" b="1" lang="ko-KR">
                          <a:solidFill>
                            <a:srgbClr val="3C4043"/>
                          </a:solidFill>
                          <a:latin typeface="Calibri"/>
                          <a:ea typeface="Noto Sans KR"/>
                          <a:cs typeface="Calibri"/>
                        </a:rPr>
                        <a:t>유형</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리전 내부 패스스루 NLB (TCP)</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29184">
                <a:tc>
                  <a:txBody>
                    <a:bodyPr wrap="square"/>
                    <a:lstStyle/>
                    <a:p>
                      <a:pPr algn="l">
                        <a:spcBef>
                          <a:spcPts val="0"/>
                        </a:spcBef>
                        <a:spcAft>
                          <a:spcPts val="0"/>
                        </a:spcAft>
                        <a:buNone/>
                      </a:pPr>
                      <a:r>
                        <a:rPr sz="1050" b="1" lang="ko-KR">
                          <a:solidFill>
                            <a:srgbClr val="3C4043"/>
                          </a:solidFill>
                          <a:latin typeface="Calibri"/>
                          <a:ea typeface="Noto Sans KR"/>
                          <a:cs typeface="Calibri"/>
                        </a:rPr>
                        <a:t>주소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10.0.20.100:8080 · VPC 내부 전용</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29184">
                <a:tc>
                  <a:txBody>
                    <a:bodyPr wrap="square"/>
                    <a:lstStyle/>
                    <a:p>
                      <a:pPr algn="l">
                        <a:spcBef>
                          <a:spcPts val="0"/>
                        </a:spcBef>
                        <a:spcAft>
                          <a:spcPts val="0"/>
                        </a:spcAft>
                        <a:buNone/>
                      </a:pPr>
                      <a:r>
                        <a:rPr sz="1050" b="1" lang="ko-KR">
                          <a:solidFill>
                            <a:srgbClr val="3C4043"/>
                          </a:solidFill>
                          <a:latin typeface="Calibri"/>
                          <a:ea typeface="Noto Sans KR"/>
                          <a:cs typeface="Calibri"/>
                        </a:rPr>
                        <a:t>백엔드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WAS MIG :8080 · 헬스체크</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29184">
                <a:tc>
                  <a:txBody>
                    <a:bodyPr wrap="square"/>
                    <a:lstStyle/>
                    <a:p>
                      <a:pPr algn="l">
                        <a:spcBef>
                          <a:spcPts val="0"/>
                        </a:spcBef>
                        <a:spcAft>
                          <a:spcPts val="0"/>
                        </a:spcAft>
                        <a:buNone/>
                      </a:pPr>
                      <a:r>
                        <a:rPr sz="1050" b="1" lang="ko-KR">
                          <a:solidFill>
                            <a:srgbClr val="3C4043"/>
                          </a:solidFill>
                          <a:latin typeface="Calibri"/>
                          <a:ea typeface="Noto Sans KR"/>
                          <a:cs typeface="Calibri"/>
                        </a:rPr>
                        <a:t>역할</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WEB은 WAS 개별 IP 불필요 · 장애 WAS 자동 제외</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
        <p:nvSpPr>
          <p:cNvPr id="55" name="Rounded Rectangle 54"/>
          <p:cNvSpPr/>
          <p:nvPr/>
        </p:nvSpPr>
        <p:spPr>
          <a:xfrm>
            <a:off x="603504" y="5724144"/>
            <a:ext cx="7936992" cy="475488"/>
          </a:xfrm>
          <a:prstGeom prst="roundRect">
            <a:avLst>
              <a:gd name="adj" fmla="val 15000"/>
            </a:avLst>
          </a:prstGeom>
          <a:solidFill>
            <a:srgbClr val="E8F0FE"/>
          </a:solidFill>
          <a:ln>
            <a:noFill/>
          </a:ln>
        </p:spPr>
        <p:txBody>
          <a:bodyPr rtlCol="0" anchor="ctr" wrap="square" lIns="137160" tIns="27432" bIns="27432"/>
          <a:lstStyle/>
          <a:p>
            <a:pPr algn="l">
              <a:spcBef>
                <a:spcPts val="0"/>
              </a:spcBef>
              <a:spcAft>
                <a:spcPts val="0"/>
              </a:spcAft>
              <a:buNone/>
            </a:pPr>
            <a:r>
              <a:rPr sz="1100" b="1" lang="ko-KR">
                <a:solidFill>
                  <a:srgbClr val="1967D2"/>
                </a:solidFill>
                <a:latin typeface="Calibri"/>
                <a:ea typeface="Noto Sans KR"/>
                <a:cs typeface="Calibri"/>
              </a:rPr>
              <a:t>포인트  </a:t>
            </a:r>
            <a:r>
              <a:rPr sz="1100" b="0" lang="ko-KR">
                <a:solidFill>
                  <a:srgbClr val="202124"/>
                </a:solidFill>
                <a:latin typeface="Calibri"/>
                <a:ea typeface="Noto Sans KR"/>
                <a:cs typeface="Calibri"/>
              </a:rPr>
              <a:t>SSL 인증서는 외부 LB의 대상 HTTPS 프록시에 연결되고, Cloud DNS는 profitah.site를 LB 고정 IP로 연결합니다</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구축 ③ WEB · WAS</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nav-active"/>
          <p:cNvSpPr/>
          <p:nvPr/>
        </p:nvSpPr>
        <p:spPr>
          <a:xfrm>
            <a:off x="2034540"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WEB·WAS는 같은 MIG 구조로 만들고 역할만 나눴습니다</a:t>
            </a:r>
          </a:p>
        </p:txBody>
      </p:sp>
      <p:sp>
        <p:nvSpPr>
          <p:cNvPr id="16" name="Rounded Rectangle 15"/>
          <p:cNvSpPr/>
          <p:nvPr/>
        </p:nvSpPr>
        <p:spPr>
          <a:xfrm>
            <a:off x="603504" y="2048256"/>
            <a:ext cx="1778508" cy="932688"/>
          </a:xfrm>
          <a:prstGeom prst="roundRect">
            <a:avLst>
              <a:gd name="adj" fmla="val 10000"/>
            </a:avLst>
          </a:prstGeom>
          <a:solidFill>
            <a:srgbClr val="F8F9FA"/>
          </a:solidFill>
          <a:ln w="9525">
            <a:solidFill>
              <a:srgbClr val="DADCE0"/>
            </a:solidFill>
          </a:ln>
        </p:spPr>
        <p:txBody>
          <a:bodyPr rtlCol="0" anchor="ctr" wrap="square" lIns="73152" rIns="73152"/>
          <a:lstStyle/>
          <a:p>
            <a:pPr algn="ctr"/>
          </a:p>
        </p:txBody>
      </p:sp>
      <p:pic>
        <p:nvPicPr>
          <p:cNvPr id="17" name="Picture 16" descr="pd.png"/>
          <p:cNvPicPr>
            <a:picLocks noChangeAspect="1"/>
          </p:cNvPicPr>
          <p:nvPr/>
        </p:nvPicPr>
        <p:blipFill>
          <a:blip r:embed="rId3"/>
          <a:stretch>
            <a:fillRect/>
          </a:stretch>
        </p:blipFill>
        <p:spPr>
          <a:xfrm>
            <a:off x="694944" y="2304288"/>
            <a:ext cx="402336" cy="402336"/>
          </a:xfrm>
          <a:prstGeom prst="rect">
            <a:avLst/>
          </a:prstGeom>
        </p:spPr>
      </p:pic>
      <p:sp>
        <p:nvSpPr>
          <p:cNvPr id="18" name="TextBox 17"/>
          <p:cNvSpPr txBox="1"/>
          <p:nvPr/>
        </p:nvSpPr>
        <p:spPr>
          <a:xfrm>
            <a:off x="1115568" y="2084832"/>
            <a:ext cx="1229868" cy="859536"/>
          </a:xfrm>
          <a:prstGeom prst="rect">
            <a:avLst/>
          </a:prstGeom>
          <a:noFill/>
        </p:spPr>
        <p:txBody>
          <a:bodyPr wrap="square" lIns="36576" tIns="18288" rIns="36576" bIns="18288" anchor="ctr">
            <a:noAutofit/>
          </a:bodyPr>
          <a:lstStyle/>
          <a:p>
            <a:pPr algn="l">
              <a:spcBef>
                <a:spcPts val="0"/>
              </a:spcBef>
              <a:spcAft>
                <a:spcPts val="0"/>
              </a:spcAft>
              <a:buNone/>
            </a:pPr>
            <a:r>
              <a:rPr sz="1150" b="1" lang="ko-KR">
                <a:solidFill>
                  <a:srgbClr val="202124"/>
                </a:solidFill>
                <a:latin typeface="Calibri"/>
                <a:ea typeface="Noto Sans KR"/>
                <a:cs typeface="Calibri"/>
              </a:rPr>
              <a:t>1. 골든 이미지</a:t>
            </a:r>
          </a:p>
          <a:p>
            <a:pPr algn="l">
              <a:spcBef>
                <a:spcPts val="0"/>
              </a:spcBef>
              <a:spcAft>
                <a:spcPts val="0"/>
              </a:spcAft>
              <a:buNone/>
            </a:pPr>
            <a:r>
              <a:rPr sz="1050" b="0" lang="ko-KR">
                <a:solidFill>
                  <a:srgbClr val="5F6368"/>
                </a:solidFill>
                <a:latin typeface="Calibri"/>
                <a:ea typeface="Noto Sans KR"/>
                <a:cs typeface="Calibri"/>
              </a:rPr>
              <a:t>OS·SW 사전 설치</a:t>
            </a:r>
          </a:p>
        </p:txBody>
      </p:sp>
      <p:cxnSp>
        <p:nvCxnSpPr>
          <p:cNvPr id="19" name="Connector 18"/>
          <p:cNvCxnSpPr/>
          <p:nvPr/>
        </p:nvCxnSpPr>
        <p:spPr>
          <a:xfrm>
            <a:off x="2409444" y="2514600"/>
            <a:ext cx="219456" cy="0"/>
          </a:xfrm>
          <a:prstGeom prst="line">
            <a:avLst/>
          </a:prstGeom>
          <a:ln w="22225">
            <a:solidFill>
              <a:srgbClr val="1A73E8"/>
            </a:solidFill>
            <a:tailEnd type="triangle" w="med" len="med"/>
          </a:ln>
        </p:spPr>
      </p:cxnSp>
      <p:sp>
        <p:nvSpPr>
          <p:cNvPr id="20" name="Rounded Rectangle 19"/>
          <p:cNvSpPr/>
          <p:nvPr/>
        </p:nvSpPr>
        <p:spPr>
          <a:xfrm>
            <a:off x="2656332" y="2048256"/>
            <a:ext cx="1778508" cy="932688"/>
          </a:xfrm>
          <a:prstGeom prst="roundRect">
            <a:avLst>
              <a:gd name="adj" fmla="val 10000"/>
            </a:avLst>
          </a:prstGeom>
          <a:solidFill>
            <a:srgbClr val="F8F9FA"/>
          </a:solidFill>
          <a:ln w="9525">
            <a:solidFill>
              <a:srgbClr val="DADCE0"/>
            </a:solidFill>
          </a:ln>
        </p:spPr>
        <p:txBody>
          <a:bodyPr rtlCol="0" anchor="ctr" wrap="square" lIns="73152" rIns="73152"/>
          <a:lstStyle/>
          <a:p>
            <a:pPr algn="ctr"/>
          </a:p>
        </p:txBody>
      </p:sp>
      <p:pic>
        <p:nvPicPr>
          <p:cNvPr id="21" name="Picture 20" descr="gce.png"/>
          <p:cNvPicPr>
            <a:picLocks noChangeAspect="1"/>
          </p:cNvPicPr>
          <p:nvPr/>
        </p:nvPicPr>
        <p:blipFill>
          <a:blip r:embed="rId4"/>
          <a:stretch>
            <a:fillRect/>
          </a:stretch>
        </p:blipFill>
        <p:spPr>
          <a:xfrm>
            <a:off x="2747772" y="2304288"/>
            <a:ext cx="402336" cy="402336"/>
          </a:xfrm>
          <a:prstGeom prst="rect">
            <a:avLst/>
          </a:prstGeom>
        </p:spPr>
      </p:pic>
      <p:sp>
        <p:nvSpPr>
          <p:cNvPr id="22" name="TextBox 21"/>
          <p:cNvSpPr txBox="1"/>
          <p:nvPr/>
        </p:nvSpPr>
        <p:spPr>
          <a:xfrm>
            <a:off x="3168396" y="2084832"/>
            <a:ext cx="1229868" cy="859536"/>
          </a:xfrm>
          <a:prstGeom prst="rect">
            <a:avLst/>
          </a:prstGeom>
          <a:noFill/>
        </p:spPr>
        <p:txBody>
          <a:bodyPr wrap="square" lIns="36576" tIns="18288" rIns="36576" bIns="18288" anchor="ctr">
            <a:noAutofit/>
          </a:bodyPr>
          <a:lstStyle/>
          <a:p>
            <a:pPr algn="l">
              <a:spcBef>
                <a:spcPts val="0"/>
              </a:spcBef>
              <a:spcAft>
                <a:spcPts val="0"/>
              </a:spcAft>
              <a:buNone/>
            </a:pPr>
            <a:r>
              <a:rPr sz="1150" b="1" lang="ko-KR">
                <a:solidFill>
                  <a:srgbClr val="202124"/>
                </a:solidFill>
                <a:latin typeface="Calibri"/>
                <a:ea typeface="Noto Sans KR"/>
                <a:cs typeface="Calibri"/>
              </a:rPr>
              <a:t>2. 인스턴스 템플릿</a:t>
            </a:r>
          </a:p>
          <a:p>
            <a:pPr algn="l">
              <a:spcBef>
                <a:spcPts val="0"/>
              </a:spcBef>
              <a:spcAft>
                <a:spcPts val="0"/>
              </a:spcAft>
              <a:buNone/>
            </a:pPr>
            <a:r>
              <a:rPr sz="1050" b="0" lang="ko-KR">
                <a:solidFill>
                  <a:srgbClr val="5F6368"/>
                </a:solidFill>
                <a:latin typeface="Calibri"/>
                <a:ea typeface="Noto Sans KR"/>
                <a:cs typeface="Calibri"/>
              </a:rPr>
              <a:t>머신·디스크·계정</a:t>
            </a:r>
          </a:p>
        </p:txBody>
      </p:sp>
      <p:cxnSp>
        <p:nvCxnSpPr>
          <p:cNvPr id="23" name="Connector 22"/>
          <p:cNvCxnSpPr/>
          <p:nvPr/>
        </p:nvCxnSpPr>
        <p:spPr>
          <a:xfrm>
            <a:off x="4462272" y="2514600"/>
            <a:ext cx="219456" cy="0"/>
          </a:xfrm>
          <a:prstGeom prst="line">
            <a:avLst/>
          </a:prstGeom>
          <a:ln w="22225">
            <a:solidFill>
              <a:srgbClr val="1A73E8"/>
            </a:solidFill>
            <a:tailEnd type="triangle" w="med" len="med"/>
          </a:ln>
        </p:spPr>
      </p:cxnSp>
      <p:sp>
        <p:nvSpPr>
          <p:cNvPr id="24" name="Rounded Rectangle 23"/>
          <p:cNvSpPr/>
          <p:nvPr/>
        </p:nvSpPr>
        <p:spPr>
          <a:xfrm>
            <a:off x="4709160" y="2048256"/>
            <a:ext cx="1778508" cy="932688"/>
          </a:xfrm>
          <a:prstGeom prst="roundRect">
            <a:avLst>
              <a:gd name="adj" fmla="val 10000"/>
            </a:avLst>
          </a:prstGeom>
          <a:solidFill>
            <a:srgbClr val="F8F9FA"/>
          </a:solidFill>
          <a:ln w="9525">
            <a:solidFill>
              <a:srgbClr val="DADCE0"/>
            </a:solidFill>
          </a:ln>
        </p:spPr>
        <p:txBody>
          <a:bodyPr rtlCol="0" anchor="ctr" wrap="square" lIns="73152" rIns="73152"/>
          <a:lstStyle/>
          <a:p>
            <a:pPr algn="ctr"/>
          </a:p>
        </p:txBody>
      </p:sp>
      <p:pic>
        <p:nvPicPr>
          <p:cNvPr id="25" name="Picture 24" descr="network.png"/>
          <p:cNvPicPr>
            <a:picLocks noChangeAspect="1"/>
          </p:cNvPicPr>
          <p:nvPr/>
        </p:nvPicPr>
        <p:blipFill>
          <a:blip r:embed="rId5"/>
          <a:stretch>
            <a:fillRect/>
          </a:stretch>
        </p:blipFill>
        <p:spPr>
          <a:xfrm>
            <a:off x="4800600" y="2304288"/>
            <a:ext cx="402336" cy="402336"/>
          </a:xfrm>
          <a:prstGeom prst="rect">
            <a:avLst/>
          </a:prstGeom>
        </p:spPr>
      </p:pic>
      <p:sp>
        <p:nvSpPr>
          <p:cNvPr id="26" name="TextBox 25"/>
          <p:cNvSpPr txBox="1"/>
          <p:nvPr/>
        </p:nvSpPr>
        <p:spPr>
          <a:xfrm>
            <a:off x="5221224" y="2084832"/>
            <a:ext cx="1229868" cy="859536"/>
          </a:xfrm>
          <a:prstGeom prst="rect">
            <a:avLst/>
          </a:prstGeom>
          <a:noFill/>
        </p:spPr>
        <p:txBody>
          <a:bodyPr wrap="square" lIns="36576" tIns="18288" rIns="36576" bIns="18288" anchor="ctr">
            <a:noAutofit/>
          </a:bodyPr>
          <a:lstStyle/>
          <a:p>
            <a:pPr algn="l">
              <a:spcBef>
                <a:spcPts val="0"/>
              </a:spcBef>
              <a:spcAft>
                <a:spcPts val="0"/>
              </a:spcAft>
              <a:buNone/>
            </a:pPr>
            <a:r>
              <a:rPr sz="1150" b="1" lang="ko-KR">
                <a:solidFill>
                  <a:srgbClr val="202124"/>
                </a:solidFill>
                <a:latin typeface="Calibri"/>
                <a:ea typeface="Noto Sans KR"/>
                <a:cs typeface="Calibri"/>
              </a:rPr>
              <a:t>3. 리전 MIG</a:t>
            </a:r>
          </a:p>
          <a:p>
            <a:pPr algn="l">
              <a:spcBef>
                <a:spcPts val="0"/>
              </a:spcBef>
              <a:spcAft>
                <a:spcPts val="0"/>
              </a:spcAft>
              <a:buNone/>
            </a:pPr>
            <a:r>
              <a:rPr sz="1050" b="0" lang="ko-KR">
                <a:solidFill>
                  <a:srgbClr val="5F6368"/>
                </a:solidFill>
                <a:latin typeface="Calibri"/>
                <a:ea typeface="Noto Sans KR"/>
                <a:cs typeface="Calibri"/>
              </a:rPr>
              <a:t>3개 존에 분산</a:t>
            </a:r>
          </a:p>
        </p:txBody>
      </p:sp>
      <p:cxnSp>
        <p:nvCxnSpPr>
          <p:cNvPr id="27" name="Connector 26"/>
          <p:cNvCxnSpPr/>
          <p:nvPr/>
        </p:nvCxnSpPr>
        <p:spPr>
          <a:xfrm>
            <a:off x="6515100" y="2514600"/>
            <a:ext cx="219456" cy="0"/>
          </a:xfrm>
          <a:prstGeom prst="line">
            <a:avLst/>
          </a:prstGeom>
          <a:ln w="22225">
            <a:solidFill>
              <a:srgbClr val="1A73E8"/>
            </a:solidFill>
            <a:tailEnd type="triangle" w="med" len="med"/>
          </a:ln>
        </p:spPr>
      </p:cxnSp>
      <p:sp>
        <p:nvSpPr>
          <p:cNvPr id="28" name="Rounded Rectangle 27"/>
          <p:cNvSpPr/>
          <p:nvPr/>
        </p:nvSpPr>
        <p:spPr>
          <a:xfrm>
            <a:off x="6761988" y="2048256"/>
            <a:ext cx="1778508" cy="932688"/>
          </a:xfrm>
          <a:prstGeom prst="roundRect">
            <a:avLst>
              <a:gd name="adj" fmla="val 10000"/>
            </a:avLst>
          </a:prstGeom>
          <a:solidFill>
            <a:srgbClr val="F8F9FA"/>
          </a:solidFill>
          <a:ln w="9525">
            <a:solidFill>
              <a:srgbClr val="DADCE0"/>
            </a:solidFill>
          </a:ln>
        </p:spPr>
        <p:txBody>
          <a:bodyPr rtlCol="0" anchor="ctr" wrap="square" lIns="73152" rIns="73152"/>
          <a:lstStyle/>
          <a:p>
            <a:pPr algn="ctr"/>
          </a:p>
        </p:txBody>
      </p:sp>
      <p:pic>
        <p:nvPicPr>
          <p:cNvPr id="29" name="Picture 28" descr="autoscale.png"/>
          <p:cNvPicPr>
            <a:picLocks noChangeAspect="1"/>
          </p:cNvPicPr>
          <p:nvPr/>
        </p:nvPicPr>
        <p:blipFill>
          <a:blip r:embed="rId6"/>
          <a:stretch>
            <a:fillRect/>
          </a:stretch>
        </p:blipFill>
        <p:spPr>
          <a:xfrm>
            <a:off x="6853428" y="2304288"/>
            <a:ext cx="402336" cy="402336"/>
          </a:xfrm>
          <a:prstGeom prst="rect">
            <a:avLst/>
          </a:prstGeom>
        </p:spPr>
      </p:pic>
      <p:sp>
        <p:nvSpPr>
          <p:cNvPr id="30" name="TextBox 29"/>
          <p:cNvSpPr txBox="1"/>
          <p:nvPr/>
        </p:nvSpPr>
        <p:spPr>
          <a:xfrm>
            <a:off x="7274052" y="2084832"/>
            <a:ext cx="1229868" cy="859536"/>
          </a:xfrm>
          <a:prstGeom prst="rect">
            <a:avLst/>
          </a:prstGeom>
          <a:noFill/>
        </p:spPr>
        <p:txBody>
          <a:bodyPr wrap="square" lIns="36576" tIns="18288" rIns="36576" bIns="18288" anchor="ctr">
            <a:noAutofit/>
          </a:bodyPr>
          <a:lstStyle/>
          <a:p>
            <a:pPr algn="l">
              <a:spcBef>
                <a:spcPts val="0"/>
              </a:spcBef>
              <a:spcAft>
                <a:spcPts val="0"/>
              </a:spcAft>
              <a:buNone/>
            </a:pPr>
            <a:r>
              <a:rPr sz="1150" b="1" lang="ko-KR">
                <a:solidFill>
                  <a:srgbClr val="202124"/>
                </a:solidFill>
                <a:latin typeface="Calibri"/>
                <a:ea typeface="Noto Sans KR"/>
                <a:cs typeface="Calibri"/>
              </a:rPr>
              <a:t>4. 자동 운영</a:t>
            </a:r>
          </a:p>
          <a:p>
            <a:pPr algn="l">
              <a:spcBef>
                <a:spcPts val="0"/>
              </a:spcBef>
              <a:spcAft>
                <a:spcPts val="0"/>
              </a:spcAft>
              <a:buNone/>
            </a:pPr>
            <a:r>
              <a:rPr sz="1050" b="0" lang="ko-KR">
                <a:solidFill>
                  <a:srgbClr val="5F6368"/>
                </a:solidFill>
                <a:latin typeface="Calibri"/>
                <a:ea typeface="Noto Sans KR"/>
                <a:cs typeface="Calibri"/>
              </a:rPr>
              <a:t>2~6대 · 자동 복구</a:t>
            </a:r>
          </a:p>
        </p:txBody>
      </p:sp>
      <p:graphicFrame>
        <p:nvGraphicFramePr>
          <p:cNvPr id="31" name="Table 30"/>
          <p:cNvGraphicFramePr>
            <a:graphicFrameLocks noGrp="1"/>
          </p:cNvGraphicFramePr>
          <p:nvPr/>
        </p:nvGraphicFramePr>
        <p:xfrm>
          <a:off x="603504" y="3200400"/>
          <a:ext cx="7936992" cy="2962656"/>
        </p:xfrm>
        <a:graphic>
          <a:graphicData uri="http://schemas.openxmlformats.org/drawingml/2006/table">
            <a:tbl>
              <a:tblPr firstRow="0" bandRow="0">
                <a:tableStyleId>{2D5ABB26-0587-4C30-8999-92F81FD0307C}</a:tableStyleId>
              </a:tblPr>
              <a:tblGrid>
                <a:gridCol w="1371600"/>
                <a:gridCol w="3282696"/>
                <a:gridCol w="3282696"/>
              </a:tblGrid>
              <a:tr h="370332">
                <a:tc>
                  <a:txBody>
                    <a:bodyPr wrap="square"/>
                    <a:lstStyle/>
                    <a:p>
                      <a:pPr algn="l">
                        <a:spcBef>
                          <a:spcPts val="0"/>
                        </a:spcBef>
                        <a:spcAft>
                          <a:spcPts val="0"/>
                        </a:spcAft>
                        <a:buNone/>
                      </a:pPr>
                      <a:r>
                        <a:rPr sz="1200" b="1" lang="ko-KR">
                          <a:solidFill>
                            <a:srgbClr val="202124"/>
                          </a:solidFill>
                          <a:latin typeface="Calibri"/>
                          <a:ea typeface="Noto Sans KR"/>
                          <a:cs typeface="Calibri"/>
                        </a:rPr>
                        <a:t>항목</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200" b="1" lang="ko-KR">
                          <a:solidFill>
                            <a:srgbClr val="188038"/>
                          </a:solidFill>
                          <a:latin typeface="Calibri"/>
                          <a:ea typeface="Noto Sans KR"/>
                          <a:cs typeface="Calibri"/>
                        </a:rPr>
                        <a:t>WEB</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200" b="1" lang="ko-KR">
                          <a:solidFill>
                            <a:srgbClr val="B06000"/>
                          </a:solidFill>
                          <a:latin typeface="Calibri"/>
                          <a:ea typeface="Noto Sans KR"/>
                          <a:cs typeface="Calibri"/>
                        </a:rPr>
                        <a:t>WAS</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r>
              <a:tr h="370332">
                <a:tc>
                  <a:txBody>
                    <a:bodyPr wrap="square"/>
                    <a:lstStyle/>
                    <a:p>
                      <a:pPr algn="l">
                        <a:spcBef>
                          <a:spcPts val="0"/>
                        </a:spcBef>
                        <a:spcAft>
                          <a:spcPts val="0"/>
                        </a:spcAft>
                        <a:buNone/>
                      </a:pPr>
                      <a:r>
                        <a:rPr sz="1100" b="1" lang="ko-KR">
                          <a:solidFill>
                            <a:srgbClr val="3C4043"/>
                          </a:solidFill>
                          <a:latin typeface="Calibri"/>
                          <a:ea typeface="Noto Sans KR"/>
                          <a:cs typeface="Calibri"/>
                        </a:rPr>
                        <a:t>역할</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정적 콘텐츠 제공 · 동적 요청을 WAS로 전달</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PetClinic 비즈니스 로직 · DB 연동</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100" b="1" lang="ko-KR">
                          <a:solidFill>
                            <a:srgbClr val="3C4043"/>
                          </a:solidFill>
                          <a:latin typeface="Calibri"/>
                          <a:ea typeface="Noto Sans KR"/>
                          <a:cs typeface="Calibri"/>
                        </a:rPr>
                        <a:t>소프트웨어</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Apache 2.4 (리버스 프록시)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Tomcat 9 · OpenJDK 17 · PetClinic</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100" b="1" lang="ko-KR">
                          <a:solidFill>
                            <a:srgbClr val="3C4043"/>
                          </a:solidFill>
                          <a:latin typeface="Calibri"/>
                          <a:ea typeface="Noto Sans KR"/>
                          <a:cs typeface="Calibri"/>
                        </a:rPr>
                        <a:t>포트 · 앞단</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:80 · 외부 HTTPS LB</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:8080 · 내부 LB</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100" b="1" lang="ko-KR">
                          <a:solidFill>
                            <a:srgbClr val="3C4043"/>
                          </a:solidFill>
                          <a:latin typeface="Calibri"/>
                          <a:ea typeface="Noto Sans KR"/>
                          <a:cs typeface="Calibri"/>
                        </a:rPr>
                        <a:t>머신 · OS</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1" lang="ko-KR">
                          <a:solidFill>
                            <a:srgbClr val="C5221F"/>
                          </a:solidFill>
                          <a:latin typeface="Calibri"/>
                          <a:ea typeface="Noto Sans KR"/>
                          <a:cs typeface="Calibri"/>
                        </a:rPr>
                        <a:t>[머신 타입]</a:t>
                      </a:r>
                      <a:r>
                        <a:rPr sz="1100" b="0" lang="ko-KR">
                          <a:solidFill>
                            <a:srgbClr val="3C4043"/>
                          </a:solidFill>
                          <a:latin typeface="Calibri"/>
                          <a:ea typeface="Noto Sans KR"/>
                          <a:cs typeface="Calibri"/>
                        </a:rPr>
                        <a:t> · Rocky Linux</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e2-medium · Rocky Linux 9</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100" b="1" lang="ko-KR">
                          <a:solidFill>
                            <a:srgbClr val="3C4043"/>
                          </a:solidFill>
                          <a:latin typeface="Calibri"/>
                          <a:ea typeface="Noto Sans KR"/>
                          <a:cs typeface="Calibri"/>
                        </a:rPr>
                        <a:t>이미지 · 템플릿</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1" lang="ko-KR">
                          <a:solidFill>
                            <a:srgbClr val="C5221F"/>
                          </a:solidFill>
                          <a:latin typeface="Calibri"/>
                          <a:ea typeface="Noto Sans KR"/>
                          <a:cs typeface="Calibri"/>
                        </a:rPr>
                        <a:t>[WEB 이미지 · 템플릿명]</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npc-golden-was-v3 · npc-was-temp-v3</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100" b="1" lang="ko-KR">
                          <a:solidFill>
                            <a:srgbClr val="3C4043"/>
                          </a:solidFill>
                          <a:latin typeface="Calibri"/>
                          <a:ea typeface="Noto Sans KR"/>
                          <a:cs typeface="Calibri"/>
                        </a:rPr>
                        <a:t>인스턴스 수</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평소 2대 → 최대 6대 · 3개 존</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평소 2대 → 최대 6대 · 3개 존</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100" b="1" lang="ko-KR">
                          <a:solidFill>
                            <a:srgbClr val="3C4043"/>
                          </a:solidFill>
                          <a:latin typeface="Calibri"/>
                          <a:ea typeface="Noto Sans KR"/>
                          <a:cs typeface="Calibri"/>
                        </a:rPr>
                        <a:t>헬스체크</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HTTP :80 </a:t>
                      </a:r>
                      <a:r>
                        <a:rPr sz="1100" b="1" lang="ko-KR">
                          <a:solidFill>
                            <a:srgbClr val="C5221F"/>
                          </a:solidFill>
                          <a:latin typeface="Calibri"/>
                          <a:ea typeface="Noto Sans KR"/>
                          <a:cs typeface="Calibri"/>
                        </a:rPr>
                        <a:t>[경로]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npc-hc-was-app :8080 · 초기 지연 300초</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구축 ③ WEB · WAS</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nav-active"/>
          <p:cNvSpPr/>
          <p:nvPr/>
        </p:nvSpPr>
        <p:spPr>
          <a:xfrm>
            <a:off x="2034540"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부하엔 자동 확장, 장애엔 자동 교체로 서비스를 유지합니다</a:t>
            </a:r>
          </a:p>
        </p:txBody>
      </p:sp>
      <p:sp>
        <p:nvSpPr>
          <p:cNvPr id="16" name="TextBox 15"/>
          <p:cNvSpPr txBox="1"/>
          <p:nvPr/>
        </p:nvSpPr>
        <p:spPr>
          <a:xfrm>
            <a:off x="603504" y="2029968"/>
            <a:ext cx="3931920" cy="292608"/>
          </a:xfrm>
          <a:prstGeom prst="rect">
            <a:avLst/>
          </a:prstGeom>
          <a:noFill/>
        </p:spPr>
        <p:txBody>
          <a:bodyPr wrap="square" lIns="36576" tIns="18288" rIns="36576" bIns="18288" anchor="t">
            <a:noAutofit/>
          </a:bodyPr>
          <a:lstStyle/>
          <a:p>
            <a:pPr algn="l">
              <a:spcBef>
                <a:spcPts val="0"/>
              </a:spcBef>
              <a:spcAft>
                <a:spcPts val="0"/>
              </a:spcAft>
              <a:buNone/>
            </a:pPr>
            <a:r>
              <a:rPr sz="1200" b="1" lang="ko-KR">
                <a:solidFill>
                  <a:srgbClr val="202124"/>
                </a:solidFill>
                <a:latin typeface="Calibri"/>
                <a:ea typeface="Noto Sans KR"/>
                <a:cs typeface="Calibri"/>
              </a:rPr>
              <a:t>리전 MIG · 3개 존 균등(BALANCED) 분산</a:t>
            </a:r>
          </a:p>
        </p:txBody>
      </p:sp>
      <p:sp>
        <p:nvSpPr>
          <p:cNvPr id="17" name="TextBox 16"/>
          <p:cNvSpPr txBox="1"/>
          <p:nvPr/>
        </p:nvSpPr>
        <p:spPr>
          <a:xfrm>
            <a:off x="1472184" y="2340864"/>
            <a:ext cx="932688" cy="256032"/>
          </a:xfrm>
          <a:prstGeom prst="rect">
            <a:avLst/>
          </a:prstGeom>
          <a:noFill/>
        </p:spPr>
        <p:txBody>
          <a:bodyPr wrap="square" lIns="36576" tIns="18288" rIns="36576" bIns="18288" anchor="t">
            <a:noAutofit/>
          </a:bodyPr>
          <a:lstStyle/>
          <a:p>
            <a:pPr algn="ctr">
              <a:spcBef>
                <a:spcPts val="0"/>
              </a:spcBef>
              <a:spcAft>
                <a:spcPts val="0"/>
              </a:spcAft>
              <a:buNone/>
            </a:pPr>
            <a:r>
              <a:rPr sz="1050" b="1" lang="ko-KR">
                <a:solidFill>
                  <a:srgbClr val="5F6368"/>
                </a:solidFill>
                <a:latin typeface="Calibri"/>
                <a:ea typeface="Noto Sans KR"/>
                <a:cs typeface="Calibri"/>
              </a:rPr>
              <a:t>zone a</a:t>
            </a:r>
          </a:p>
        </p:txBody>
      </p:sp>
      <p:sp>
        <p:nvSpPr>
          <p:cNvPr id="18" name="TextBox 17"/>
          <p:cNvSpPr txBox="1"/>
          <p:nvPr/>
        </p:nvSpPr>
        <p:spPr>
          <a:xfrm>
            <a:off x="2496312" y="2340864"/>
            <a:ext cx="932688" cy="256032"/>
          </a:xfrm>
          <a:prstGeom prst="rect">
            <a:avLst/>
          </a:prstGeom>
          <a:noFill/>
        </p:spPr>
        <p:txBody>
          <a:bodyPr wrap="square" lIns="36576" tIns="18288" rIns="36576" bIns="18288" anchor="t">
            <a:noAutofit/>
          </a:bodyPr>
          <a:lstStyle/>
          <a:p>
            <a:pPr algn="ctr">
              <a:spcBef>
                <a:spcPts val="0"/>
              </a:spcBef>
              <a:spcAft>
                <a:spcPts val="0"/>
              </a:spcAft>
              <a:buNone/>
            </a:pPr>
            <a:r>
              <a:rPr sz="1050" b="1" lang="ko-KR">
                <a:solidFill>
                  <a:srgbClr val="5F6368"/>
                </a:solidFill>
                <a:latin typeface="Calibri"/>
                <a:ea typeface="Noto Sans KR"/>
                <a:cs typeface="Calibri"/>
              </a:rPr>
              <a:t>zone b</a:t>
            </a:r>
          </a:p>
        </p:txBody>
      </p:sp>
      <p:sp>
        <p:nvSpPr>
          <p:cNvPr id="19" name="TextBox 18"/>
          <p:cNvSpPr txBox="1"/>
          <p:nvPr/>
        </p:nvSpPr>
        <p:spPr>
          <a:xfrm>
            <a:off x="3520440" y="2340864"/>
            <a:ext cx="932688" cy="256032"/>
          </a:xfrm>
          <a:prstGeom prst="rect">
            <a:avLst/>
          </a:prstGeom>
          <a:noFill/>
        </p:spPr>
        <p:txBody>
          <a:bodyPr wrap="square" lIns="36576" tIns="18288" rIns="36576" bIns="18288" anchor="t">
            <a:noAutofit/>
          </a:bodyPr>
          <a:lstStyle/>
          <a:p>
            <a:pPr algn="ctr">
              <a:spcBef>
                <a:spcPts val="0"/>
              </a:spcBef>
              <a:spcAft>
                <a:spcPts val="0"/>
              </a:spcAft>
              <a:buNone/>
            </a:pPr>
            <a:r>
              <a:rPr sz="1050" b="1" lang="ko-KR">
                <a:solidFill>
                  <a:srgbClr val="5F6368"/>
                </a:solidFill>
                <a:latin typeface="Calibri"/>
                <a:ea typeface="Noto Sans KR"/>
                <a:cs typeface="Calibri"/>
              </a:rPr>
              <a:t>zone c</a:t>
            </a:r>
          </a:p>
        </p:txBody>
      </p:sp>
      <p:sp>
        <p:nvSpPr>
          <p:cNvPr id="20" name="TextBox 19"/>
          <p:cNvSpPr txBox="1"/>
          <p:nvPr/>
        </p:nvSpPr>
        <p:spPr>
          <a:xfrm>
            <a:off x="603504" y="2633472"/>
            <a:ext cx="841248" cy="804672"/>
          </a:xfrm>
          <a:prstGeom prst="rect">
            <a:avLst/>
          </a:prstGeom>
          <a:noFill/>
        </p:spPr>
        <p:txBody>
          <a:bodyPr wrap="square" lIns="36576" tIns="18288" rIns="36576" bIns="18288" anchor="ctr">
            <a:noAutofit/>
          </a:bodyPr>
          <a:lstStyle/>
          <a:p>
            <a:pPr algn="l">
              <a:spcBef>
                <a:spcPts val="0"/>
              </a:spcBef>
              <a:spcAft>
                <a:spcPts val="0"/>
              </a:spcAft>
              <a:buNone/>
            </a:pPr>
            <a:r>
              <a:rPr sz="1100" b="1" lang="ko-KR">
                <a:solidFill>
                  <a:srgbClr val="202124"/>
                </a:solidFill>
                <a:latin typeface="Calibri"/>
                <a:ea typeface="Noto Sans KR"/>
                <a:cs typeface="Calibri"/>
              </a:rPr>
              <a:t>평소</a:t>
            </a:r>
          </a:p>
          <a:p>
            <a:pPr algn="l">
              <a:spcBef>
                <a:spcPts val="0"/>
              </a:spcBef>
              <a:spcAft>
                <a:spcPts val="0"/>
              </a:spcAft>
              <a:buNone/>
            </a:pPr>
            <a:r>
              <a:rPr sz="1100" b="0" lang="ko-KR">
                <a:solidFill>
                  <a:srgbClr val="5F6368"/>
                </a:solidFill>
                <a:latin typeface="Calibri"/>
                <a:ea typeface="Noto Sans KR"/>
                <a:cs typeface="Calibri"/>
              </a:rPr>
              <a:t>2대</a:t>
            </a:r>
          </a:p>
        </p:txBody>
      </p:sp>
      <p:sp>
        <p:nvSpPr>
          <p:cNvPr id="21" name="Rounded Rectangle 20"/>
          <p:cNvSpPr/>
          <p:nvPr/>
        </p:nvSpPr>
        <p:spPr>
          <a:xfrm>
            <a:off x="1472184" y="2633472"/>
            <a:ext cx="932688" cy="804672"/>
          </a:xfrm>
          <a:prstGeom prst="roundRect">
            <a:avLst>
              <a:gd name="adj" fmla="val 8000"/>
            </a:avLst>
          </a:prstGeom>
          <a:solidFill>
            <a:srgbClr val="F8F9FA"/>
          </a:solidFill>
          <a:ln w="9525">
            <a:solidFill>
              <a:srgbClr val="DADCE0"/>
            </a:solidFill>
          </a:ln>
        </p:spPr>
        <p:txBody>
          <a:bodyPr rtlCol="0" anchor="ctr" wrap="square" lIns="73152" rIns="73152"/>
          <a:lstStyle/>
          <a:p>
            <a:pPr algn="ctr"/>
          </a:p>
        </p:txBody>
      </p:sp>
      <p:pic>
        <p:nvPicPr>
          <p:cNvPr id="22" name="Picture 21" descr="gce.png"/>
          <p:cNvPicPr>
            <a:picLocks noChangeAspect="1"/>
          </p:cNvPicPr>
          <p:nvPr/>
        </p:nvPicPr>
        <p:blipFill>
          <a:blip r:embed="rId3"/>
          <a:stretch>
            <a:fillRect/>
          </a:stretch>
        </p:blipFill>
        <p:spPr>
          <a:xfrm>
            <a:off x="1746504" y="2825496"/>
            <a:ext cx="402336" cy="402336"/>
          </a:xfrm>
          <a:prstGeom prst="rect">
            <a:avLst/>
          </a:prstGeom>
        </p:spPr>
      </p:pic>
      <p:sp>
        <p:nvSpPr>
          <p:cNvPr id="23" name="Rounded Rectangle 22"/>
          <p:cNvSpPr/>
          <p:nvPr/>
        </p:nvSpPr>
        <p:spPr>
          <a:xfrm>
            <a:off x="2496312" y="2633472"/>
            <a:ext cx="932688" cy="804672"/>
          </a:xfrm>
          <a:prstGeom prst="roundRect">
            <a:avLst>
              <a:gd name="adj" fmla="val 8000"/>
            </a:avLst>
          </a:prstGeom>
          <a:solidFill>
            <a:srgbClr val="F8F9FA"/>
          </a:solidFill>
          <a:ln w="9525">
            <a:solidFill>
              <a:srgbClr val="DADCE0"/>
            </a:solidFill>
          </a:ln>
        </p:spPr>
        <p:txBody>
          <a:bodyPr rtlCol="0" anchor="ctr" wrap="square" lIns="73152" rIns="73152"/>
          <a:lstStyle/>
          <a:p>
            <a:pPr algn="ctr"/>
          </a:p>
        </p:txBody>
      </p:sp>
      <p:pic>
        <p:nvPicPr>
          <p:cNvPr id="24" name="Picture 23" descr="gce.png"/>
          <p:cNvPicPr>
            <a:picLocks noChangeAspect="1"/>
          </p:cNvPicPr>
          <p:nvPr/>
        </p:nvPicPr>
        <p:blipFill>
          <a:blip r:embed="rId3"/>
          <a:stretch>
            <a:fillRect/>
          </a:stretch>
        </p:blipFill>
        <p:spPr>
          <a:xfrm>
            <a:off x="2770632" y="2825496"/>
            <a:ext cx="402336" cy="402336"/>
          </a:xfrm>
          <a:prstGeom prst="rect">
            <a:avLst/>
          </a:prstGeom>
        </p:spPr>
      </p:pic>
      <p:sp>
        <p:nvSpPr>
          <p:cNvPr id="25" name="Rounded Rectangle 24"/>
          <p:cNvSpPr/>
          <p:nvPr/>
        </p:nvSpPr>
        <p:spPr>
          <a:xfrm>
            <a:off x="3520440" y="2633472"/>
            <a:ext cx="932688" cy="804672"/>
          </a:xfrm>
          <a:prstGeom prst="roundRect">
            <a:avLst>
              <a:gd name="adj" fmla="val 8000"/>
            </a:avLst>
          </a:prstGeom>
          <a:solidFill>
            <a:srgbClr val="FFFFFF"/>
          </a:solidFill>
          <a:ln w="9525">
            <a:solidFill>
              <a:srgbClr val="DADCE0"/>
            </a:solidFill>
            <a:prstDash val="dash"/>
          </a:ln>
        </p:spPr>
        <p:txBody>
          <a:bodyPr rtlCol="0" anchor="ctr" wrap="square" lIns="73152" rIns="73152"/>
          <a:lstStyle/>
          <a:p>
            <a:pPr algn="ctr"/>
          </a:p>
        </p:txBody>
      </p:sp>
      <p:sp>
        <p:nvSpPr>
          <p:cNvPr id="26" name="TextBox 25"/>
          <p:cNvSpPr txBox="1"/>
          <p:nvPr/>
        </p:nvSpPr>
        <p:spPr>
          <a:xfrm>
            <a:off x="603504" y="3566160"/>
            <a:ext cx="841248" cy="804672"/>
          </a:xfrm>
          <a:prstGeom prst="rect">
            <a:avLst/>
          </a:prstGeom>
          <a:noFill/>
        </p:spPr>
        <p:txBody>
          <a:bodyPr wrap="square" lIns="36576" tIns="18288" rIns="36576" bIns="18288" anchor="ctr">
            <a:noAutofit/>
          </a:bodyPr>
          <a:lstStyle/>
          <a:p>
            <a:pPr algn="l">
              <a:spcBef>
                <a:spcPts val="0"/>
              </a:spcBef>
              <a:spcAft>
                <a:spcPts val="0"/>
              </a:spcAft>
              <a:buNone/>
            </a:pPr>
            <a:r>
              <a:rPr sz="1100" b="1" lang="ko-KR">
                <a:solidFill>
                  <a:srgbClr val="202124"/>
                </a:solidFill>
                <a:latin typeface="Calibri"/>
                <a:ea typeface="Noto Sans KR"/>
                <a:cs typeface="Calibri"/>
              </a:rPr>
              <a:t>부하 시</a:t>
            </a:r>
          </a:p>
          <a:p>
            <a:pPr algn="l">
              <a:spcBef>
                <a:spcPts val="0"/>
              </a:spcBef>
              <a:spcAft>
                <a:spcPts val="0"/>
              </a:spcAft>
              <a:buNone/>
            </a:pPr>
            <a:r>
              <a:rPr sz="1100" b="0" lang="ko-KR">
                <a:solidFill>
                  <a:srgbClr val="5F6368"/>
                </a:solidFill>
                <a:latin typeface="Calibri"/>
                <a:ea typeface="Noto Sans KR"/>
                <a:cs typeface="Calibri"/>
              </a:rPr>
              <a:t>6대</a:t>
            </a:r>
          </a:p>
        </p:txBody>
      </p:sp>
      <p:sp>
        <p:nvSpPr>
          <p:cNvPr id="27" name="Rounded Rectangle 26"/>
          <p:cNvSpPr/>
          <p:nvPr/>
        </p:nvSpPr>
        <p:spPr>
          <a:xfrm>
            <a:off x="1472184" y="3566160"/>
            <a:ext cx="932688" cy="804672"/>
          </a:xfrm>
          <a:prstGeom prst="roundRect">
            <a:avLst>
              <a:gd name="adj" fmla="val 8000"/>
            </a:avLst>
          </a:prstGeom>
          <a:solidFill>
            <a:srgbClr val="F8F9FA"/>
          </a:solidFill>
          <a:ln w="9525">
            <a:solidFill>
              <a:srgbClr val="DADCE0"/>
            </a:solidFill>
          </a:ln>
        </p:spPr>
        <p:txBody>
          <a:bodyPr rtlCol="0" anchor="ctr" wrap="square" lIns="73152" rIns="73152"/>
          <a:lstStyle/>
          <a:p>
            <a:pPr algn="ctr"/>
          </a:p>
        </p:txBody>
      </p:sp>
      <p:pic>
        <p:nvPicPr>
          <p:cNvPr id="28" name="Picture 27" descr="gce.png"/>
          <p:cNvPicPr>
            <a:picLocks noChangeAspect="1"/>
          </p:cNvPicPr>
          <p:nvPr/>
        </p:nvPicPr>
        <p:blipFill>
          <a:blip r:embed="rId3"/>
          <a:stretch>
            <a:fillRect/>
          </a:stretch>
        </p:blipFill>
        <p:spPr>
          <a:xfrm>
            <a:off x="1545336" y="3758184"/>
            <a:ext cx="402336" cy="402336"/>
          </a:xfrm>
          <a:prstGeom prst="rect">
            <a:avLst/>
          </a:prstGeom>
        </p:spPr>
      </p:pic>
      <p:pic>
        <p:nvPicPr>
          <p:cNvPr id="29" name="Picture 28" descr="gce.png"/>
          <p:cNvPicPr>
            <a:picLocks noChangeAspect="1"/>
          </p:cNvPicPr>
          <p:nvPr/>
        </p:nvPicPr>
        <p:blipFill>
          <a:blip r:embed="rId3"/>
          <a:stretch>
            <a:fillRect/>
          </a:stretch>
        </p:blipFill>
        <p:spPr>
          <a:xfrm>
            <a:off x="1965960" y="3758184"/>
            <a:ext cx="402336" cy="402336"/>
          </a:xfrm>
          <a:prstGeom prst="rect">
            <a:avLst/>
          </a:prstGeom>
        </p:spPr>
      </p:pic>
      <p:sp>
        <p:nvSpPr>
          <p:cNvPr id="30" name="Rounded Rectangle 29"/>
          <p:cNvSpPr/>
          <p:nvPr/>
        </p:nvSpPr>
        <p:spPr>
          <a:xfrm>
            <a:off x="2496312" y="3566160"/>
            <a:ext cx="932688" cy="804672"/>
          </a:xfrm>
          <a:prstGeom prst="roundRect">
            <a:avLst>
              <a:gd name="adj" fmla="val 8000"/>
            </a:avLst>
          </a:prstGeom>
          <a:solidFill>
            <a:srgbClr val="F8F9FA"/>
          </a:solidFill>
          <a:ln w="9525">
            <a:solidFill>
              <a:srgbClr val="DADCE0"/>
            </a:solidFill>
          </a:ln>
        </p:spPr>
        <p:txBody>
          <a:bodyPr rtlCol="0" anchor="ctr" wrap="square" lIns="73152" rIns="73152"/>
          <a:lstStyle/>
          <a:p>
            <a:pPr algn="ctr"/>
          </a:p>
        </p:txBody>
      </p:sp>
      <p:pic>
        <p:nvPicPr>
          <p:cNvPr id="31" name="Picture 30" descr="gce.png"/>
          <p:cNvPicPr>
            <a:picLocks noChangeAspect="1"/>
          </p:cNvPicPr>
          <p:nvPr/>
        </p:nvPicPr>
        <p:blipFill>
          <a:blip r:embed="rId3"/>
          <a:stretch>
            <a:fillRect/>
          </a:stretch>
        </p:blipFill>
        <p:spPr>
          <a:xfrm>
            <a:off x="2569464" y="3758184"/>
            <a:ext cx="402336" cy="402336"/>
          </a:xfrm>
          <a:prstGeom prst="rect">
            <a:avLst/>
          </a:prstGeom>
        </p:spPr>
      </p:pic>
      <p:pic>
        <p:nvPicPr>
          <p:cNvPr id="32" name="Picture 31" descr="gce.png"/>
          <p:cNvPicPr>
            <a:picLocks noChangeAspect="1"/>
          </p:cNvPicPr>
          <p:nvPr/>
        </p:nvPicPr>
        <p:blipFill>
          <a:blip r:embed="rId3"/>
          <a:stretch>
            <a:fillRect/>
          </a:stretch>
        </p:blipFill>
        <p:spPr>
          <a:xfrm>
            <a:off x="2990088" y="3758184"/>
            <a:ext cx="402336" cy="402336"/>
          </a:xfrm>
          <a:prstGeom prst="rect">
            <a:avLst/>
          </a:prstGeom>
        </p:spPr>
      </p:pic>
      <p:sp>
        <p:nvSpPr>
          <p:cNvPr id="33" name="Rounded Rectangle 32"/>
          <p:cNvSpPr/>
          <p:nvPr/>
        </p:nvSpPr>
        <p:spPr>
          <a:xfrm>
            <a:off x="3520440" y="3566160"/>
            <a:ext cx="932688" cy="804672"/>
          </a:xfrm>
          <a:prstGeom prst="roundRect">
            <a:avLst>
              <a:gd name="adj" fmla="val 8000"/>
            </a:avLst>
          </a:prstGeom>
          <a:solidFill>
            <a:srgbClr val="F8F9FA"/>
          </a:solidFill>
          <a:ln w="9525">
            <a:solidFill>
              <a:srgbClr val="DADCE0"/>
            </a:solidFill>
          </a:ln>
        </p:spPr>
        <p:txBody>
          <a:bodyPr rtlCol="0" anchor="ctr" wrap="square" lIns="73152" rIns="73152"/>
          <a:lstStyle/>
          <a:p>
            <a:pPr algn="ctr"/>
          </a:p>
        </p:txBody>
      </p:sp>
      <p:pic>
        <p:nvPicPr>
          <p:cNvPr id="34" name="Picture 33" descr="gce.png"/>
          <p:cNvPicPr>
            <a:picLocks noChangeAspect="1"/>
          </p:cNvPicPr>
          <p:nvPr/>
        </p:nvPicPr>
        <p:blipFill>
          <a:blip r:embed="rId3"/>
          <a:stretch>
            <a:fillRect/>
          </a:stretch>
        </p:blipFill>
        <p:spPr>
          <a:xfrm>
            <a:off x="3593592" y="3758184"/>
            <a:ext cx="402336" cy="402336"/>
          </a:xfrm>
          <a:prstGeom prst="rect">
            <a:avLst/>
          </a:prstGeom>
        </p:spPr>
      </p:pic>
      <p:pic>
        <p:nvPicPr>
          <p:cNvPr id="35" name="Picture 34" descr="gce.png"/>
          <p:cNvPicPr>
            <a:picLocks noChangeAspect="1"/>
          </p:cNvPicPr>
          <p:nvPr/>
        </p:nvPicPr>
        <p:blipFill>
          <a:blip r:embed="rId3"/>
          <a:stretch>
            <a:fillRect/>
          </a:stretch>
        </p:blipFill>
        <p:spPr>
          <a:xfrm>
            <a:off x="4014216" y="3758184"/>
            <a:ext cx="402336" cy="402336"/>
          </a:xfrm>
          <a:prstGeom prst="rect">
            <a:avLst/>
          </a:prstGeom>
        </p:spPr>
      </p:pic>
      <p:sp>
        <p:nvSpPr>
          <p:cNvPr id="36" name="TextBox 35"/>
          <p:cNvSpPr txBox="1"/>
          <p:nvPr/>
        </p:nvSpPr>
        <p:spPr>
          <a:xfrm>
            <a:off x="603504" y="4443984"/>
            <a:ext cx="3931920" cy="475488"/>
          </a:xfrm>
          <a:prstGeom prst="rect">
            <a:avLst/>
          </a:prstGeom>
          <a:noFill/>
        </p:spPr>
        <p:txBody>
          <a:bodyPr wrap="square" lIns="36576" tIns="18288" rIns="36576" bIns="18288" anchor="t">
            <a:noAutofit/>
          </a:bodyPr>
          <a:lstStyle/>
          <a:p>
            <a:pPr algn="l">
              <a:spcBef>
                <a:spcPts val="0"/>
              </a:spcBef>
              <a:spcAft>
                <a:spcPts val="0"/>
              </a:spcAft>
              <a:buNone/>
            </a:pPr>
            <a:r>
              <a:rPr sz="1050" b="0" lang="ko-KR">
                <a:solidFill>
                  <a:srgbClr val="5F6368"/>
                </a:solidFill>
                <a:latin typeface="Calibri"/>
                <a:ea typeface="Noto Sans KR"/>
                <a:cs typeface="Calibri"/>
              </a:rPr>
              <a:t>존마다 고르게 배치하고, 한 존의 자원이 부족하면 다른 존에 먼저 생성합니다</a:t>
            </a:r>
          </a:p>
        </p:txBody>
      </p:sp>
      <p:sp>
        <p:nvSpPr>
          <p:cNvPr id="37" name="Rounded Rectangle 36"/>
          <p:cNvSpPr/>
          <p:nvPr/>
        </p:nvSpPr>
        <p:spPr>
          <a:xfrm>
            <a:off x="603504" y="5010912"/>
            <a:ext cx="3931920" cy="1188720"/>
          </a:xfrm>
          <a:prstGeom prst="roundRect">
            <a:avLst>
              <a:gd name="adj" fmla="val 8000"/>
            </a:avLst>
          </a:prstGeom>
          <a:solidFill>
            <a:srgbClr val="E8F0FE"/>
          </a:solidFill>
          <a:ln>
            <a:noFill/>
          </a:ln>
        </p:spPr>
        <p:txBody>
          <a:bodyPr rtlCol="0" anchor="ctr" wrap="square" lIns="73152" rIns="73152"/>
          <a:lstStyle/>
          <a:p>
            <a:pPr algn="ctr"/>
          </a:p>
        </p:txBody>
      </p:sp>
      <p:sp>
        <p:nvSpPr>
          <p:cNvPr id="38" name="TextBox 37"/>
          <p:cNvSpPr txBox="1"/>
          <p:nvPr/>
        </p:nvSpPr>
        <p:spPr>
          <a:xfrm>
            <a:off x="713232" y="5065776"/>
            <a:ext cx="3730752" cy="1097280"/>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1967D2"/>
                </a:solidFill>
                <a:latin typeface="Calibri"/>
                <a:ea typeface="Noto Sans KR"/>
                <a:cs typeface="Calibri"/>
              </a:rPr>
              <a:t>왜 3개 존인가?</a:t>
            </a:r>
          </a:p>
          <a:p>
            <a:pPr algn="l">
              <a:spcBef>
                <a:spcPts val="0"/>
              </a:spcBef>
              <a:spcAft>
                <a:spcPts val="0"/>
              </a:spcAft>
              <a:buNone/>
            </a:pPr>
            <a:r>
              <a:rPr sz="1100" b="0" lang="ko-KR">
                <a:solidFill>
                  <a:srgbClr val="202124"/>
                </a:solidFill>
                <a:latin typeface="Calibri"/>
                <a:ea typeface="Noto Sans KR"/>
                <a:cs typeface="Calibri"/>
              </a:rPr>
              <a:t>존을 늘려도 VM 비용은 같고, 2개 존이 동시에 멈춰도 남은 존에서 서비스가 유지됩니다</a:t>
            </a:r>
          </a:p>
        </p:txBody>
      </p:sp>
      <p:sp>
        <p:nvSpPr>
          <p:cNvPr id="39" name="Rounded Rectangle 38"/>
          <p:cNvSpPr/>
          <p:nvPr/>
        </p:nvSpPr>
        <p:spPr>
          <a:xfrm>
            <a:off x="4718304" y="2029968"/>
            <a:ext cx="3822192" cy="1298448"/>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40" name="Oval 39"/>
          <p:cNvSpPr/>
          <p:nvPr/>
        </p:nvSpPr>
        <p:spPr>
          <a:xfrm>
            <a:off x="4828032" y="2176272"/>
            <a:ext cx="512064" cy="512064"/>
          </a:xfrm>
          <a:prstGeom prst="ellipse">
            <a:avLst/>
          </a:prstGeom>
          <a:solidFill>
            <a:srgbClr val="E8F0FE"/>
          </a:solidFill>
          <a:ln>
            <a:noFill/>
          </a:ln>
        </p:spPr>
        <p:txBody>
          <a:bodyPr rtlCol="0" anchor="ctr" wrap="square" lIns="73152" rIns="73152"/>
          <a:lstStyle/>
          <a:p>
            <a:pPr algn="ctr"/>
          </a:p>
        </p:txBody>
      </p:sp>
      <p:pic>
        <p:nvPicPr>
          <p:cNvPr id="41" name="Picture 40" descr="autoscale.png"/>
          <p:cNvPicPr>
            <a:picLocks noChangeAspect="1"/>
          </p:cNvPicPr>
          <p:nvPr/>
        </p:nvPicPr>
        <p:blipFill>
          <a:blip r:embed="rId4"/>
          <a:stretch>
            <a:fillRect/>
          </a:stretch>
        </p:blipFill>
        <p:spPr>
          <a:xfrm>
            <a:off x="4909962" y="2258202"/>
            <a:ext cx="348204" cy="348204"/>
          </a:xfrm>
          <a:prstGeom prst="rect">
            <a:avLst/>
          </a:prstGeom>
        </p:spPr>
      </p:pic>
      <p:sp>
        <p:nvSpPr>
          <p:cNvPr id="42" name="TextBox 41"/>
          <p:cNvSpPr txBox="1"/>
          <p:nvPr/>
        </p:nvSpPr>
        <p:spPr>
          <a:xfrm>
            <a:off x="5449824" y="2121408"/>
            <a:ext cx="3017520" cy="310896"/>
          </a:xfrm>
          <a:prstGeom prst="rect">
            <a:avLst/>
          </a:prstGeom>
          <a:noFill/>
        </p:spPr>
        <p:txBody>
          <a:bodyPr wrap="square" lIns="36576" tIns="18288" rIns="36576" bIns="18288" anchor="ctr">
            <a:noAutofit/>
          </a:bodyPr>
          <a:lstStyle/>
          <a:p>
            <a:pPr algn="l">
              <a:spcBef>
                <a:spcPts val="0"/>
              </a:spcBef>
              <a:spcAft>
                <a:spcPts val="0"/>
              </a:spcAft>
              <a:buNone/>
            </a:pPr>
            <a:r>
              <a:rPr sz="1250" b="1" lang="ko-KR">
                <a:solidFill>
                  <a:srgbClr val="202124"/>
                </a:solidFill>
                <a:latin typeface="Calibri"/>
                <a:ea typeface="Noto Sans KR"/>
                <a:cs typeface="Calibri"/>
              </a:rPr>
              <a:t>오토스케일</a:t>
            </a:r>
            <a:r>
              <a:rPr sz="1050" b="0" lang="ko-KR">
                <a:solidFill>
                  <a:srgbClr val="5F6368"/>
                </a:solidFill>
                <a:latin typeface="Calibri"/>
                <a:ea typeface="Noto Sans KR"/>
                <a:cs typeface="Calibri"/>
              </a:rPr>
              <a:t>  부하 대응</a:t>
            </a:r>
          </a:p>
        </p:txBody>
      </p:sp>
      <p:sp>
        <p:nvSpPr>
          <p:cNvPr id="43" name="TextBox 42"/>
          <p:cNvSpPr txBox="1"/>
          <p:nvPr/>
        </p:nvSpPr>
        <p:spPr>
          <a:xfrm>
            <a:off x="5449824" y="2450592"/>
            <a:ext cx="3017520" cy="841248"/>
          </a:xfrm>
          <a:prstGeom prst="rect">
            <a:avLst/>
          </a:prstGeom>
          <a:noFill/>
        </p:spPr>
        <p:txBody>
          <a:bodyPr wrap="square" lIns="36576" tIns="18288" rIns="36576" bIns="18288" anchor="t">
            <a:noAutofit/>
          </a:bodyPr>
          <a:lstStyle/>
          <a:p>
            <a:pPr algn="l">
              <a:spcBef>
                <a:spcPts val="0"/>
              </a:spcBef>
              <a:spcAft>
                <a:spcPts val="0"/>
              </a:spcAft>
              <a:buNone/>
            </a:pPr>
            <a:r>
              <a:rPr sz="1150" b="0" lang="ko-KR">
                <a:solidFill>
                  <a:srgbClr val="3C4043"/>
                </a:solidFill>
                <a:latin typeface="Calibri"/>
                <a:ea typeface="Noto Sans KR"/>
                <a:cs typeface="Calibri"/>
              </a:rPr>
              <a:t>CPU 사용률이 목표치를 넘으면 인스턴스 추가, 부하가 줄면 축소 (최소 2 · 최대 6대)</a:t>
            </a:r>
          </a:p>
        </p:txBody>
      </p:sp>
      <p:sp>
        <p:nvSpPr>
          <p:cNvPr id="44" name="Rounded Rectangle 43"/>
          <p:cNvSpPr/>
          <p:nvPr/>
        </p:nvSpPr>
        <p:spPr>
          <a:xfrm>
            <a:off x="4718304" y="3438144"/>
            <a:ext cx="3822192" cy="1298448"/>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45" name="Oval 44"/>
          <p:cNvSpPr/>
          <p:nvPr/>
        </p:nvSpPr>
        <p:spPr>
          <a:xfrm>
            <a:off x="4828032" y="3584448"/>
            <a:ext cx="512064" cy="512064"/>
          </a:xfrm>
          <a:prstGeom prst="ellipse">
            <a:avLst/>
          </a:prstGeom>
          <a:solidFill>
            <a:srgbClr val="E8F0FE"/>
          </a:solidFill>
          <a:ln>
            <a:noFill/>
          </a:ln>
        </p:spPr>
        <p:txBody>
          <a:bodyPr rtlCol="0" anchor="ctr" wrap="square" lIns="73152" rIns="73152"/>
          <a:lstStyle/>
          <a:p>
            <a:pPr algn="ctr"/>
          </a:p>
        </p:txBody>
      </p:sp>
      <p:pic>
        <p:nvPicPr>
          <p:cNvPr id="46" name="Picture 45" descr="monitoring.png"/>
          <p:cNvPicPr>
            <a:picLocks noChangeAspect="1"/>
          </p:cNvPicPr>
          <p:nvPr/>
        </p:nvPicPr>
        <p:blipFill>
          <a:blip r:embed="rId5"/>
          <a:stretch>
            <a:fillRect/>
          </a:stretch>
        </p:blipFill>
        <p:spPr>
          <a:xfrm>
            <a:off x="4909962" y="3666378"/>
            <a:ext cx="348204" cy="348204"/>
          </a:xfrm>
          <a:prstGeom prst="rect">
            <a:avLst/>
          </a:prstGeom>
        </p:spPr>
      </p:pic>
      <p:sp>
        <p:nvSpPr>
          <p:cNvPr id="47" name="TextBox 46"/>
          <p:cNvSpPr txBox="1"/>
          <p:nvPr/>
        </p:nvSpPr>
        <p:spPr>
          <a:xfrm>
            <a:off x="5449824" y="3529584"/>
            <a:ext cx="3017520" cy="310896"/>
          </a:xfrm>
          <a:prstGeom prst="rect">
            <a:avLst/>
          </a:prstGeom>
          <a:noFill/>
        </p:spPr>
        <p:txBody>
          <a:bodyPr wrap="square" lIns="36576" tIns="18288" rIns="36576" bIns="18288" anchor="ctr">
            <a:noAutofit/>
          </a:bodyPr>
          <a:lstStyle/>
          <a:p>
            <a:pPr algn="l">
              <a:spcBef>
                <a:spcPts val="0"/>
              </a:spcBef>
              <a:spcAft>
                <a:spcPts val="0"/>
              </a:spcAft>
              <a:buNone/>
            </a:pPr>
            <a:r>
              <a:rPr sz="1250" b="1" lang="ko-KR">
                <a:solidFill>
                  <a:srgbClr val="202124"/>
                </a:solidFill>
                <a:latin typeface="Calibri"/>
                <a:ea typeface="Noto Sans KR"/>
                <a:cs typeface="Calibri"/>
              </a:rPr>
              <a:t>오토힐링</a:t>
            </a:r>
            <a:r>
              <a:rPr sz="1050" b="0" lang="ko-KR">
                <a:solidFill>
                  <a:srgbClr val="5F6368"/>
                </a:solidFill>
                <a:latin typeface="Calibri"/>
                <a:ea typeface="Noto Sans KR"/>
                <a:cs typeface="Calibri"/>
              </a:rPr>
              <a:t>  장애 대응</a:t>
            </a:r>
          </a:p>
        </p:txBody>
      </p:sp>
      <p:sp>
        <p:nvSpPr>
          <p:cNvPr id="48" name="TextBox 47"/>
          <p:cNvSpPr txBox="1"/>
          <p:nvPr/>
        </p:nvSpPr>
        <p:spPr>
          <a:xfrm>
            <a:off x="5449824" y="3858768"/>
            <a:ext cx="3017520" cy="841248"/>
          </a:xfrm>
          <a:prstGeom prst="rect">
            <a:avLst/>
          </a:prstGeom>
          <a:noFill/>
        </p:spPr>
        <p:txBody>
          <a:bodyPr wrap="square" lIns="36576" tIns="18288" rIns="36576" bIns="18288" anchor="t">
            <a:noAutofit/>
          </a:bodyPr>
          <a:lstStyle/>
          <a:p>
            <a:pPr algn="l">
              <a:spcBef>
                <a:spcPts val="0"/>
              </a:spcBef>
              <a:spcAft>
                <a:spcPts val="0"/>
              </a:spcAft>
              <a:buNone/>
            </a:pPr>
            <a:r>
              <a:rPr sz="1150" b="0" lang="ko-KR">
                <a:solidFill>
                  <a:srgbClr val="3C4043"/>
                </a:solidFill>
                <a:latin typeface="Calibri"/>
                <a:ea typeface="Noto Sans KR"/>
                <a:cs typeface="Calibri"/>
              </a:rPr>
              <a:t>헬스체크에 실패한 인스턴스를 삭제하고 같은 템플릿으로 재생성 → WAS 약 45초 후 서비스 복귀</a:t>
            </a:r>
          </a:p>
        </p:txBody>
      </p:sp>
      <p:sp>
        <p:nvSpPr>
          <p:cNvPr id="49" name="Rounded Rectangle 48"/>
          <p:cNvSpPr/>
          <p:nvPr/>
        </p:nvSpPr>
        <p:spPr>
          <a:xfrm>
            <a:off x="4718304" y="4846320"/>
            <a:ext cx="3822192" cy="1298448"/>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50" name="Oval 49"/>
          <p:cNvSpPr/>
          <p:nvPr/>
        </p:nvSpPr>
        <p:spPr>
          <a:xfrm>
            <a:off x="4828032" y="4992624"/>
            <a:ext cx="512064" cy="512064"/>
          </a:xfrm>
          <a:prstGeom prst="ellipse">
            <a:avLst/>
          </a:prstGeom>
          <a:solidFill>
            <a:srgbClr val="E8F0FE"/>
          </a:solidFill>
          <a:ln>
            <a:noFill/>
          </a:ln>
        </p:spPr>
        <p:txBody>
          <a:bodyPr rtlCol="0" anchor="ctr" wrap="square" lIns="73152" rIns="73152"/>
          <a:lstStyle/>
          <a:p>
            <a:pPr algn="ctr"/>
          </a:p>
        </p:txBody>
      </p:sp>
      <p:pic>
        <p:nvPicPr>
          <p:cNvPr id="51" name="Picture 50" descr="build.png"/>
          <p:cNvPicPr>
            <a:picLocks noChangeAspect="1"/>
          </p:cNvPicPr>
          <p:nvPr/>
        </p:nvPicPr>
        <p:blipFill>
          <a:blip r:embed="rId6"/>
          <a:stretch>
            <a:fillRect/>
          </a:stretch>
        </p:blipFill>
        <p:spPr>
          <a:xfrm>
            <a:off x="4909962" y="5074554"/>
            <a:ext cx="348204" cy="348204"/>
          </a:xfrm>
          <a:prstGeom prst="rect">
            <a:avLst/>
          </a:prstGeom>
        </p:spPr>
      </p:pic>
      <p:sp>
        <p:nvSpPr>
          <p:cNvPr id="52" name="TextBox 51"/>
          <p:cNvSpPr txBox="1"/>
          <p:nvPr/>
        </p:nvSpPr>
        <p:spPr>
          <a:xfrm>
            <a:off x="5449824" y="4937760"/>
            <a:ext cx="3017520" cy="310896"/>
          </a:xfrm>
          <a:prstGeom prst="rect">
            <a:avLst/>
          </a:prstGeom>
          <a:noFill/>
        </p:spPr>
        <p:txBody>
          <a:bodyPr wrap="square" lIns="36576" tIns="18288" rIns="36576" bIns="18288" anchor="ctr">
            <a:noAutofit/>
          </a:bodyPr>
          <a:lstStyle/>
          <a:p>
            <a:pPr algn="l">
              <a:spcBef>
                <a:spcPts val="0"/>
              </a:spcBef>
              <a:spcAft>
                <a:spcPts val="0"/>
              </a:spcAft>
              <a:buNone/>
            </a:pPr>
            <a:r>
              <a:rPr sz="1250" b="1" lang="ko-KR">
                <a:solidFill>
                  <a:srgbClr val="202124"/>
                </a:solidFill>
                <a:latin typeface="Calibri"/>
                <a:ea typeface="Noto Sans KR"/>
                <a:cs typeface="Calibri"/>
              </a:rPr>
              <a:t>무중단 배포 · 롤백</a:t>
            </a:r>
            <a:r>
              <a:rPr sz="1050" b="0" lang="ko-KR">
                <a:solidFill>
                  <a:srgbClr val="5F6368"/>
                </a:solidFill>
                <a:latin typeface="Calibri"/>
                <a:ea typeface="Noto Sans KR"/>
                <a:cs typeface="Calibri"/>
              </a:rPr>
              <a:t>  변경 대응</a:t>
            </a:r>
          </a:p>
        </p:txBody>
      </p:sp>
      <p:sp>
        <p:nvSpPr>
          <p:cNvPr id="53" name="TextBox 52"/>
          <p:cNvSpPr txBox="1"/>
          <p:nvPr/>
        </p:nvSpPr>
        <p:spPr>
          <a:xfrm>
            <a:off x="5449824" y="5266944"/>
            <a:ext cx="3017520" cy="841248"/>
          </a:xfrm>
          <a:prstGeom prst="rect">
            <a:avLst/>
          </a:prstGeom>
          <a:noFill/>
        </p:spPr>
        <p:txBody>
          <a:bodyPr wrap="square" lIns="36576" tIns="18288" rIns="36576" bIns="18288" anchor="t">
            <a:noAutofit/>
          </a:bodyPr>
          <a:lstStyle/>
          <a:p>
            <a:pPr algn="l">
              <a:spcBef>
                <a:spcPts val="0"/>
              </a:spcBef>
              <a:spcAft>
                <a:spcPts val="0"/>
              </a:spcAft>
              <a:buNone/>
            </a:pPr>
            <a:r>
              <a:rPr sz="1150" b="0" lang="ko-KR">
                <a:solidFill>
                  <a:srgbClr val="3C4043"/>
                </a:solidFill>
                <a:latin typeface="Calibri"/>
                <a:ea typeface="Noto Sans KR"/>
                <a:cs typeface="Calibri"/>
              </a:rPr>
              <a:t>골든 이미지 v1 → v3를 롤링 업데이트로 교체 (maxSurge 3 · maxUnavailable 0), 문제 시 v2 템플릿으로 롤백</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구축 ④ DB</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nav-active"/>
          <p:cNvSpPr/>
          <p:nvPr/>
        </p:nvSpPr>
        <p:spPr>
          <a:xfrm>
            <a:off x="2034540"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DB는 존 장애 시 자동 전환되고, 내부 IP로만 접속합니다</a:t>
            </a:r>
          </a:p>
        </p:txBody>
      </p:sp>
      <p:sp>
        <p:nvSpPr>
          <p:cNvPr id="16" name="Rounded Rectangle 15"/>
          <p:cNvSpPr/>
          <p:nvPr/>
        </p:nvSpPr>
        <p:spPr>
          <a:xfrm>
            <a:off x="603504" y="2066544"/>
            <a:ext cx="1188720" cy="1280160"/>
          </a:xfrm>
          <a:prstGeom prst="roundRect">
            <a:avLst>
              <a:gd name="adj" fmla="val 8000"/>
            </a:avLst>
          </a:prstGeom>
          <a:solidFill>
            <a:srgbClr val="FEF7E0"/>
          </a:solidFill>
          <a:ln w="9525">
            <a:solidFill>
              <a:srgbClr val="FDD663"/>
            </a:solidFill>
          </a:ln>
        </p:spPr>
        <p:txBody>
          <a:bodyPr rtlCol="0" anchor="ctr" wrap="square" lIns="73152" rIns="73152"/>
          <a:lstStyle/>
          <a:p>
            <a:pPr algn="ctr"/>
          </a:p>
        </p:txBody>
      </p:sp>
      <p:pic>
        <p:nvPicPr>
          <p:cNvPr id="17" name="Picture 16" descr="gce.png"/>
          <p:cNvPicPr>
            <a:picLocks noChangeAspect="1"/>
          </p:cNvPicPr>
          <p:nvPr/>
        </p:nvPicPr>
        <p:blipFill>
          <a:blip r:embed="rId3"/>
          <a:stretch>
            <a:fillRect/>
          </a:stretch>
        </p:blipFill>
        <p:spPr>
          <a:xfrm>
            <a:off x="969264" y="2176272"/>
            <a:ext cx="457200" cy="457200"/>
          </a:xfrm>
          <a:prstGeom prst="rect">
            <a:avLst/>
          </a:prstGeom>
        </p:spPr>
      </p:pic>
      <p:sp>
        <p:nvSpPr>
          <p:cNvPr id="18" name="TextBox 17"/>
          <p:cNvSpPr txBox="1"/>
          <p:nvPr/>
        </p:nvSpPr>
        <p:spPr>
          <a:xfrm>
            <a:off x="603504" y="2670048"/>
            <a:ext cx="1188720" cy="640080"/>
          </a:xfrm>
          <a:prstGeom prst="rect">
            <a:avLst/>
          </a:prstGeom>
          <a:noFill/>
        </p:spPr>
        <p:txBody>
          <a:bodyPr wrap="square" lIns="36576" tIns="18288" rIns="36576" bIns="18288" anchor="t">
            <a:noAutofit/>
          </a:bodyPr>
          <a:lstStyle/>
          <a:p>
            <a:pPr algn="ctr">
              <a:spcBef>
                <a:spcPts val="0"/>
              </a:spcBef>
              <a:spcAft>
                <a:spcPts val="0"/>
              </a:spcAft>
              <a:buNone/>
            </a:pPr>
            <a:r>
              <a:rPr sz="1150" b="1" lang="ko-KR">
                <a:solidFill>
                  <a:srgbClr val="B06000"/>
                </a:solidFill>
                <a:latin typeface="Calibri"/>
                <a:ea typeface="Noto Sans KR"/>
                <a:cs typeface="Calibri"/>
              </a:rPr>
              <a:t>WAS MIG</a:t>
            </a:r>
          </a:p>
          <a:p>
            <a:pPr algn="ctr">
              <a:spcBef>
                <a:spcPts val="0"/>
              </a:spcBef>
              <a:spcAft>
                <a:spcPts val="0"/>
              </a:spcAft>
              <a:buNone/>
            </a:pPr>
            <a:r>
              <a:rPr sz="1000" b="0" lang="ko-KR">
                <a:solidFill>
                  <a:srgbClr val="5F6368"/>
                </a:solidFill>
                <a:latin typeface="Calibri"/>
                <a:ea typeface="Noto Sans KR"/>
                <a:cs typeface="Calibri"/>
              </a:rPr>
              <a:t>Tomcat</a:t>
            </a:r>
          </a:p>
        </p:txBody>
      </p:sp>
      <p:cxnSp>
        <p:nvCxnSpPr>
          <p:cNvPr id="19" name="Connector 18"/>
          <p:cNvCxnSpPr/>
          <p:nvPr/>
        </p:nvCxnSpPr>
        <p:spPr>
          <a:xfrm>
            <a:off x="1828800" y="2706624"/>
            <a:ext cx="402336" cy="0"/>
          </a:xfrm>
          <a:prstGeom prst="line">
            <a:avLst/>
          </a:prstGeom>
          <a:ln w="25400">
            <a:solidFill>
              <a:srgbClr val="1A73E8"/>
            </a:solidFill>
            <a:tailEnd type="triangle" w="med" len="med"/>
          </a:ln>
        </p:spPr>
      </p:cxnSp>
      <p:sp>
        <p:nvSpPr>
          <p:cNvPr id="20" name="Rounded Rectangle 19"/>
          <p:cNvSpPr/>
          <p:nvPr/>
        </p:nvSpPr>
        <p:spPr>
          <a:xfrm>
            <a:off x="2267712" y="2066544"/>
            <a:ext cx="1280160" cy="1280160"/>
          </a:xfrm>
          <a:prstGeom prst="roundRect">
            <a:avLst>
              <a:gd name="adj" fmla="val 8000"/>
            </a:avLst>
          </a:prstGeom>
          <a:solidFill>
            <a:srgbClr val="E8F0FE"/>
          </a:solidFill>
          <a:ln w="9525">
            <a:solidFill>
              <a:srgbClr val="AECBFA"/>
            </a:solidFill>
          </a:ln>
        </p:spPr>
        <p:txBody>
          <a:bodyPr rtlCol="0" anchor="ctr" wrap="square" lIns="73152" rIns="73152"/>
          <a:lstStyle/>
          <a:p>
            <a:pPr algn="ctr"/>
          </a:p>
        </p:txBody>
      </p:sp>
      <p:pic>
        <p:nvPicPr>
          <p:cNvPr id="21" name="Picture 20" descr="network.png"/>
          <p:cNvPicPr>
            <a:picLocks noChangeAspect="1"/>
          </p:cNvPicPr>
          <p:nvPr/>
        </p:nvPicPr>
        <p:blipFill>
          <a:blip r:embed="rId4"/>
          <a:stretch>
            <a:fillRect/>
          </a:stretch>
        </p:blipFill>
        <p:spPr>
          <a:xfrm>
            <a:off x="2679192" y="2176272"/>
            <a:ext cx="457200" cy="457200"/>
          </a:xfrm>
          <a:prstGeom prst="rect">
            <a:avLst/>
          </a:prstGeom>
        </p:spPr>
      </p:pic>
      <p:sp>
        <p:nvSpPr>
          <p:cNvPr id="22" name="TextBox 21"/>
          <p:cNvSpPr txBox="1"/>
          <p:nvPr/>
        </p:nvSpPr>
        <p:spPr>
          <a:xfrm>
            <a:off x="2267712" y="2670048"/>
            <a:ext cx="1280160" cy="640080"/>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1967D2"/>
                </a:solidFill>
                <a:latin typeface="Calibri"/>
                <a:ea typeface="Noto Sans KR"/>
                <a:cs typeface="Calibri"/>
              </a:rPr>
              <a:t>PSC 엔드포인트</a:t>
            </a:r>
          </a:p>
          <a:p>
            <a:pPr algn="ctr">
              <a:spcBef>
                <a:spcPts val="0"/>
              </a:spcBef>
              <a:spcAft>
                <a:spcPts val="0"/>
              </a:spcAft>
              <a:buNone/>
            </a:pPr>
            <a:r>
              <a:rPr sz="1000" b="0" lang="ko-KR">
                <a:solidFill>
                  <a:srgbClr val="5F6368"/>
                </a:solidFill>
                <a:latin typeface="Calibri"/>
                <a:ea typeface="Noto Sans KR"/>
                <a:cs typeface="Calibri"/>
              </a:rPr>
              <a:t>10.0.32.2</a:t>
            </a:r>
          </a:p>
        </p:txBody>
      </p:sp>
      <p:cxnSp>
        <p:nvCxnSpPr>
          <p:cNvPr id="23" name="Connector 22"/>
          <p:cNvCxnSpPr/>
          <p:nvPr/>
        </p:nvCxnSpPr>
        <p:spPr>
          <a:xfrm>
            <a:off x="3584448" y="2706624"/>
            <a:ext cx="329184" cy="0"/>
          </a:xfrm>
          <a:prstGeom prst="line">
            <a:avLst/>
          </a:prstGeom>
          <a:ln w="25400">
            <a:solidFill>
              <a:srgbClr val="1A73E8"/>
            </a:solidFill>
            <a:tailEnd type="triangle" w="med" len="med"/>
          </a:ln>
        </p:spPr>
      </p:cxnSp>
      <p:sp>
        <p:nvSpPr>
          <p:cNvPr id="24" name="TextBox 23"/>
          <p:cNvSpPr txBox="1"/>
          <p:nvPr/>
        </p:nvSpPr>
        <p:spPr>
          <a:xfrm>
            <a:off x="3529584" y="2395728"/>
            <a:ext cx="438912" cy="274320"/>
          </a:xfrm>
          <a:prstGeom prst="rect">
            <a:avLst/>
          </a:prstGeom>
          <a:noFill/>
        </p:spPr>
        <p:txBody>
          <a:bodyPr wrap="square" lIns="36576" tIns="18288" rIns="36576" bIns="18288" anchor="t">
            <a:noAutofit/>
          </a:bodyPr>
          <a:lstStyle/>
          <a:p>
            <a:pPr algn="ctr">
              <a:spcBef>
                <a:spcPts val="0"/>
              </a:spcBef>
              <a:spcAft>
                <a:spcPts val="0"/>
              </a:spcAft>
              <a:buNone/>
            </a:pPr>
            <a:r>
              <a:rPr sz="950" b="1" lang="ko-KR">
                <a:solidFill>
                  <a:srgbClr val="1A73E8"/>
                </a:solidFill>
                <a:latin typeface="Calibri"/>
                <a:ea typeface="Noto Sans KR"/>
                <a:cs typeface="Calibri"/>
              </a:rPr>
              <a:t>3306</a:t>
            </a:r>
          </a:p>
        </p:txBody>
      </p:sp>
      <p:sp>
        <p:nvSpPr>
          <p:cNvPr id="25" name="Rounded Rectangle 24"/>
          <p:cNvSpPr/>
          <p:nvPr/>
        </p:nvSpPr>
        <p:spPr>
          <a:xfrm>
            <a:off x="3950208" y="2066544"/>
            <a:ext cx="1481328" cy="2926080"/>
          </a:xfrm>
          <a:prstGeom prst="roundRect">
            <a:avLst>
              <a:gd name="adj" fmla="val 5000"/>
            </a:avLst>
          </a:prstGeom>
          <a:solidFill>
            <a:srgbClr val="FCE8E6"/>
          </a:solidFill>
          <a:ln w="9525">
            <a:solidFill>
              <a:srgbClr val="F28B82"/>
            </a:solidFill>
          </a:ln>
        </p:spPr>
        <p:txBody>
          <a:bodyPr rtlCol="0" anchor="ctr" wrap="square" lIns="73152" rIns="73152"/>
          <a:lstStyle/>
          <a:p>
            <a:pPr algn="ctr"/>
          </a:p>
        </p:txBody>
      </p:sp>
      <p:sp>
        <p:nvSpPr>
          <p:cNvPr id="26" name="TextBox 25"/>
          <p:cNvSpPr txBox="1"/>
          <p:nvPr/>
        </p:nvSpPr>
        <p:spPr>
          <a:xfrm>
            <a:off x="3986784" y="2084832"/>
            <a:ext cx="1426464" cy="512064"/>
          </a:xfrm>
          <a:prstGeom prst="rect">
            <a:avLst/>
          </a:prstGeom>
          <a:noFill/>
        </p:spPr>
        <p:txBody>
          <a:bodyPr wrap="square" lIns="36576" tIns="18288" rIns="36576" bIns="18288" anchor="t">
            <a:noAutofit/>
          </a:bodyPr>
          <a:lstStyle/>
          <a:p>
            <a:pPr algn="ctr">
              <a:spcBef>
                <a:spcPts val="0"/>
              </a:spcBef>
              <a:spcAft>
                <a:spcPts val="0"/>
              </a:spcAft>
              <a:buNone/>
            </a:pPr>
            <a:r>
              <a:rPr sz="1150" b="1" lang="ko-KR">
                <a:solidFill>
                  <a:srgbClr val="C5221F"/>
                </a:solidFill>
                <a:latin typeface="Calibri"/>
                <a:ea typeface="Noto Sans KR"/>
                <a:cs typeface="Calibri"/>
              </a:rPr>
              <a:t>Cloud SQL</a:t>
            </a:r>
          </a:p>
          <a:p>
            <a:pPr algn="ctr">
              <a:spcBef>
                <a:spcPts val="0"/>
              </a:spcBef>
              <a:spcAft>
                <a:spcPts val="0"/>
              </a:spcAft>
              <a:buNone/>
            </a:pPr>
            <a:r>
              <a:rPr sz="1000" b="0" lang="ko-KR">
                <a:solidFill>
                  <a:srgbClr val="C5221F"/>
                </a:solidFill>
                <a:latin typeface="Calibri"/>
                <a:ea typeface="Noto Sans KR"/>
                <a:cs typeface="Calibri"/>
              </a:rPr>
              <a:t>MySQL 8.4 · HA</a:t>
            </a:r>
          </a:p>
        </p:txBody>
      </p:sp>
      <p:pic>
        <p:nvPicPr>
          <p:cNvPr id="27" name="Picture 26" descr="sql.png"/>
          <p:cNvPicPr>
            <a:picLocks noChangeAspect="1"/>
          </p:cNvPicPr>
          <p:nvPr/>
        </p:nvPicPr>
        <p:blipFill>
          <a:blip r:embed="rId5"/>
          <a:stretch>
            <a:fillRect/>
          </a:stretch>
        </p:blipFill>
        <p:spPr>
          <a:xfrm>
            <a:off x="4443984" y="2615184"/>
            <a:ext cx="512064" cy="512064"/>
          </a:xfrm>
          <a:prstGeom prst="rect">
            <a:avLst/>
          </a:prstGeom>
        </p:spPr>
      </p:pic>
      <p:sp>
        <p:nvSpPr>
          <p:cNvPr id="28" name="TextBox 27"/>
          <p:cNvSpPr txBox="1"/>
          <p:nvPr/>
        </p:nvSpPr>
        <p:spPr>
          <a:xfrm>
            <a:off x="3986784" y="3127248"/>
            <a:ext cx="1426464" cy="274320"/>
          </a:xfrm>
          <a:prstGeom prst="rect">
            <a:avLst/>
          </a:prstGeom>
          <a:noFill/>
        </p:spPr>
        <p:txBody>
          <a:bodyPr wrap="square" lIns="36576" tIns="18288" rIns="36576" bIns="18288" anchor="t">
            <a:noAutofit/>
          </a:bodyPr>
          <a:lstStyle/>
          <a:p>
            <a:pPr algn="ctr">
              <a:spcBef>
                <a:spcPts val="0"/>
              </a:spcBef>
              <a:spcAft>
                <a:spcPts val="0"/>
              </a:spcAft>
              <a:buNone/>
            </a:pPr>
            <a:r>
              <a:rPr sz="1050" b="1" lang="ko-KR">
                <a:solidFill>
                  <a:srgbClr val="202124"/>
                </a:solidFill>
                <a:latin typeface="Calibri"/>
                <a:ea typeface="Noto Sans KR"/>
                <a:cs typeface="Calibri"/>
              </a:rPr>
              <a:t>Primary · 존 a</a:t>
            </a:r>
          </a:p>
        </p:txBody>
      </p:sp>
      <p:cxnSp>
        <p:nvCxnSpPr>
          <p:cNvPr id="29" name="Connector 28"/>
          <p:cNvCxnSpPr/>
          <p:nvPr/>
        </p:nvCxnSpPr>
        <p:spPr>
          <a:xfrm>
            <a:off x="4690872" y="3419856"/>
            <a:ext cx="0" cy="475488"/>
          </a:xfrm>
          <a:prstGeom prst="line">
            <a:avLst/>
          </a:prstGeom>
          <a:ln w="22225">
            <a:solidFill>
              <a:srgbClr val="EA4335"/>
            </a:solidFill>
            <a:headEnd type="triangle" w="med" len="med"/>
            <a:tailEnd type="triangle" w="med" len="med"/>
          </a:ln>
        </p:spPr>
      </p:cxnSp>
      <p:sp>
        <p:nvSpPr>
          <p:cNvPr id="30" name="TextBox 29"/>
          <p:cNvSpPr txBox="1"/>
          <p:nvPr/>
        </p:nvSpPr>
        <p:spPr>
          <a:xfrm>
            <a:off x="4736592" y="3511296"/>
            <a:ext cx="731520" cy="274320"/>
          </a:xfrm>
          <a:prstGeom prst="rect">
            <a:avLst/>
          </a:prstGeom>
          <a:noFill/>
        </p:spPr>
        <p:txBody>
          <a:bodyPr wrap="square" lIns="36576" tIns="18288" rIns="36576" bIns="18288" anchor="t">
            <a:noAutofit/>
          </a:bodyPr>
          <a:lstStyle/>
          <a:p>
            <a:pPr algn="l">
              <a:spcBef>
                <a:spcPts val="0"/>
              </a:spcBef>
              <a:spcAft>
                <a:spcPts val="0"/>
              </a:spcAft>
              <a:buNone/>
            </a:pPr>
            <a:r>
              <a:rPr sz="900" b="1" lang="ko-KR">
                <a:solidFill>
                  <a:srgbClr val="C5221F"/>
                </a:solidFill>
                <a:latin typeface="Calibri"/>
                <a:ea typeface="Noto Sans KR"/>
                <a:cs typeface="Calibri"/>
              </a:rPr>
              <a:t>실시간 복제</a:t>
            </a:r>
          </a:p>
        </p:txBody>
      </p:sp>
      <p:pic>
        <p:nvPicPr>
          <p:cNvPr id="31" name="Picture 30" descr="sql.png"/>
          <p:cNvPicPr>
            <a:picLocks noChangeAspect="1"/>
          </p:cNvPicPr>
          <p:nvPr/>
        </p:nvPicPr>
        <p:blipFill>
          <a:blip r:embed="rId5"/>
          <a:stretch>
            <a:fillRect/>
          </a:stretch>
        </p:blipFill>
        <p:spPr>
          <a:xfrm>
            <a:off x="4443984" y="3931920"/>
            <a:ext cx="512064" cy="512064"/>
          </a:xfrm>
          <a:prstGeom prst="rect">
            <a:avLst/>
          </a:prstGeom>
        </p:spPr>
      </p:pic>
      <p:sp>
        <p:nvSpPr>
          <p:cNvPr id="32" name="TextBox 31"/>
          <p:cNvSpPr txBox="1"/>
          <p:nvPr/>
        </p:nvSpPr>
        <p:spPr>
          <a:xfrm>
            <a:off x="3986784" y="4443984"/>
            <a:ext cx="1426464" cy="274320"/>
          </a:xfrm>
          <a:prstGeom prst="rect">
            <a:avLst/>
          </a:prstGeom>
          <a:noFill/>
        </p:spPr>
        <p:txBody>
          <a:bodyPr wrap="square" lIns="36576" tIns="18288" rIns="36576" bIns="18288" anchor="t">
            <a:noAutofit/>
          </a:bodyPr>
          <a:lstStyle/>
          <a:p>
            <a:pPr algn="ctr">
              <a:spcBef>
                <a:spcPts val="0"/>
              </a:spcBef>
              <a:spcAft>
                <a:spcPts val="0"/>
              </a:spcAft>
              <a:buNone/>
            </a:pPr>
            <a:r>
              <a:rPr sz="1050" b="1" lang="ko-KR">
                <a:solidFill>
                  <a:srgbClr val="5F6368"/>
                </a:solidFill>
                <a:latin typeface="Calibri"/>
                <a:ea typeface="Noto Sans KR"/>
                <a:cs typeface="Calibri"/>
              </a:rPr>
              <a:t>Standby · 존 c</a:t>
            </a:r>
          </a:p>
        </p:txBody>
      </p:sp>
      <p:sp>
        <p:nvSpPr>
          <p:cNvPr id="33" name="Rounded Rectangle 32"/>
          <p:cNvSpPr/>
          <p:nvPr/>
        </p:nvSpPr>
        <p:spPr>
          <a:xfrm>
            <a:off x="603504" y="3584448"/>
            <a:ext cx="3218688" cy="1408176"/>
          </a:xfrm>
          <a:prstGeom prst="roundRect">
            <a:avLst>
              <a:gd name="adj" fmla="val 6000"/>
            </a:avLst>
          </a:prstGeom>
          <a:solidFill>
            <a:srgbClr val="F8F9FA"/>
          </a:solidFill>
          <a:ln w="9525">
            <a:solidFill>
              <a:srgbClr val="DADCE0"/>
            </a:solidFill>
          </a:ln>
        </p:spPr>
        <p:txBody>
          <a:bodyPr rtlCol="0" anchor="ctr" wrap="square" lIns="73152" rIns="73152"/>
          <a:lstStyle/>
          <a:p>
            <a:pPr algn="ctr"/>
          </a:p>
        </p:txBody>
      </p:sp>
      <p:sp>
        <p:nvSpPr>
          <p:cNvPr id="34" name="TextBox 33"/>
          <p:cNvSpPr txBox="1"/>
          <p:nvPr/>
        </p:nvSpPr>
        <p:spPr>
          <a:xfrm>
            <a:off x="713232" y="3639312"/>
            <a:ext cx="3017520" cy="1316736"/>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202124"/>
                </a:solidFill>
                <a:latin typeface="Calibri"/>
                <a:ea typeface="Noto Sans KR"/>
                <a:cs typeface="Calibri"/>
              </a:rPr>
              <a:t>왜 Cloud SQL?</a:t>
            </a:r>
          </a:p>
          <a:p>
            <a:pPr algn="l" marL="146304" indent="-146304">
              <a:spcBef>
                <a:spcPts val="0"/>
              </a:spcBef>
              <a:spcAft>
                <a:spcPts val="300"/>
              </a:spcAft>
              <a:buFont typeface="Arial"/>
              <a:buChar char="•"/>
            </a:pPr>
            <a:r>
              <a:rPr sz="1100" b="0" lang="ko-KR">
                <a:solidFill>
                  <a:srgbClr val="3C4043"/>
                </a:solidFill>
                <a:latin typeface="Calibri"/>
                <a:ea typeface="Noto Sans KR"/>
                <a:cs typeface="Calibri"/>
              </a:rPr>
              <a:t>백업 · 패치 · HA를 관리형으로 맡겨 운영 부담 감소</a:t>
            </a:r>
          </a:p>
          <a:p>
            <a:pPr algn="l" marL="146304" indent="-146304">
              <a:spcBef>
                <a:spcPts val="0"/>
              </a:spcBef>
              <a:spcAft>
                <a:spcPts val="0"/>
              </a:spcAft>
              <a:buFont typeface="Arial"/>
              <a:buChar char="•"/>
            </a:pPr>
            <a:r>
              <a:rPr sz="1100" b="0" lang="ko-KR">
                <a:solidFill>
                  <a:srgbClr val="3C4043"/>
                </a:solidFill>
                <a:latin typeface="Calibri"/>
                <a:ea typeface="Noto Sans KR"/>
                <a:cs typeface="Calibri"/>
              </a:rPr>
              <a:t>Failover 후에도 접속 주소가 같아 앱 설정 변경 없음</a:t>
            </a:r>
          </a:p>
        </p:txBody>
      </p:sp>
      <p:sp>
        <p:nvSpPr>
          <p:cNvPr id="35" name="Rounded Rectangle 34"/>
          <p:cNvSpPr/>
          <p:nvPr/>
        </p:nvSpPr>
        <p:spPr>
          <a:xfrm>
            <a:off x="603504" y="5175504"/>
            <a:ext cx="4828032" cy="1024128"/>
          </a:xfrm>
          <a:prstGeom prst="roundRect">
            <a:avLst>
              <a:gd name="adj" fmla="val 8000"/>
            </a:avLst>
          </a:prstGeom>
          <a:solidFill>
            <a:srgbClr val="FEF7E0"/>
          </a:solidFill>
          <a:ln>
            <a:noFill/>
          </a:ln>
        </p:spPr>
        <p:txBody>
          <a:bodyPr rtlCol="0" anchor="ctr" wrap="square" lIns="73152" rIns="73152"/>
          <a:lstStyle/>
          <a:p>
            <a:pPr algn="ctr"/>
          </a:p>
        </p:txBody>
      </p:sp>
      <p:sp>
        <p:nvSpPr>
          <p:cNvPr id="36" name="TextBox 35"/>
          <p:cNvSpPr txBox="1"/>
          <p:nvPr/>
        </p:nvSpPr>
        <p:spPr>
          <a:xfrm>
            <a:off x="731520" y="5212080"/>
            <a:ext cx="4572000" cy="950976"/>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B06000"/>
                </a:solidFill>
                <a:latin typeface="Calibri"/>
                <a:ea typeface="Noto Sans KR"/>
                <a:cs typeface="Calibri"/>
              </a:rPr>
              <a:t>HA와 백업은 역할이 다릅니다</a:t>
            </a:r>
          </a:p>
          <a:p>
            <a:pPr algn="l">
              <a:spcBef>
                <a:spcPts val="0"/>
              </a:spcBef>
              <a:spcAft>
                <a:spcPts val="0"/>
              </a:spcAft>
              <a:buNone/>
            </a:pPr>
            <a:r>
              <a:rPr sz="1100" b="0" lang="ko-KR">
                <a:solidFill>
                  <a:srgbClr val="202124"/>
                </a:solidFill>
                <a:latin typeface="Calibri"/>
                <a:ea typeface="Noto Sans KR"/>
                <a:cs typeface="Calibri"/>
              </a:rPr>
              <a:t>HA는 장애 시 자동 전환, 백업·PITR은 잘못된 삭제·변경 복구 (복제본에도 삭제는 그대로 전파됨)</a:t>
            </a:r>
          </a:p>
        </p:txBody>
      </p:sp>
      <p:sp>
        <p:nvSpPr>
          <p:cNvPr id="37" name="Rounded Rectangle 36"/>
          <p:cNvSpPr/>
          <p:nvPr/>
        </p:nvSpPr>
        <p:spPr>
          <a:xfrm>
            <a:off x="5614416" y="2066544"/>
            <a:ext cx="2926080" cy="1280160"/>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38" name="TextBox 37"/>
          <p:cNvSpPr txBox="1"/>
          <p:nvPr/>
        </p:nvSpPr>
        <p:spPr>
          <a:xfrm>
            <a:off x="5724144" y="2121408"/>
            <a:ext cx="2743200" cy="1188720"/>
          </a:xfrm>
          <a:prstGeom prst="rect">
            <a:avLst/>
          </a:prstGeom>
          <a:noFill/>
        </p:spPr>
        <p:txBody>
          <a:bodyPr wrap="square" lIns="36576" tIns="18288" rIns="36576" bIns="18288" anchor="ctr">
            <a:noAutofit/>
          </a:bodyPr>
          <a:lstStyle/>
          <a:p>
            <a:pPr algn="l">
              <a:spcBef>
                <a:spcPts val="0"/>
              </a:spcBef>
              <a:spcAft>
                <a:spcPts val="200"/>
              </a:spcAft>
              <a:buNone/>
            </a:pPr>
            <a:r>
              <a:rPr sz="1250" b="1" lang="ko-KR">
                <a:solidFill>
                  <a:srgbClr val="C5221F"/>
                </a:solidFill>
                <a:latin typeface="Calibri"/>
                <a:ea typeface="Noto Sans KR"/>
                <a:cs typeface="Calibri"/>
              </a:rPr>
              <a:t>HA 자동 Failover</a:t>
            </a:r>
          </a:p>
          <a:p>
            <a:pPr algn="l">
              <a:spcBef>
                <a:spcPts val="0"/>
              </a:spcBef>
              <a:spcAft>
                <a:spcPts val="200"/>
              </a:spcAft>
              <a:buNone/>
            </a:pPr>
            <a:r>
              <a:rPr sz="1100" b="0" lang="ko-KR">
                <a:solidFill>
                  <a:srgbClr val="3C4043"/>
                </a:solidFill>
                <a:latin typeface="Calibri"/>
                <a:ea typeface="Noto Sans KR"/>
                <a:cs typeface="Calibri"/>
              </a:rPr>
              <a:t>Primary 존 장애 시 Standby가 자동 승격</a:t>
            </a:r>
          </a:p>
          <a:p>
            <a:pPr algn="l">
              <a:spcBef>
                <a:spcPts val="0"/>
              </a:spcBef>
              <a:spcAft>
                <a:spcPts val="200"/>
              </a:spcAft>
              <a:buNone/>
            </a:pPr>
            <a:r>
              <a:rPr sz="1050" b="1" lang="ko-KR">
                <a:solidFill>
                  <a:srgbClr val="188038"/>
                </a:solidFill>
                <a:latin typeface="Calibri"/>
                <a:ea typeface="Noto Sans KR"/>
                <a:cs typeface="Calibri"/>
              </a:rPr>
              <a:t>검증: 수동 Failover 후 조회 · 신규 등록 정상</a:t>
            </a:r>
          </a:p>
        </p:txBody>
      </p:sp>
      <p:sp>
        <p:nvSpPr>
          <p:cNvPr id="39" name="Rounded Rectangle 38"/>
          <p:cNvSpPr/>
          <p:nvPr/>
        </p:nvSpPr>
        <p:spPr>
          <a:xfrm>
            <a:off x="5614416" y="3456432"/>
            <a:ext cx="2926080" cy="1280160"/>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40" name="TextBox 39"/>
          <p:cNvSpPr txBox="1"/>
          <p:nvPr/>
        </p:nvSpPr>
        <p:spPr>
          <a:xfrm>
            <a:off x="5724144" y="3511296"/>
            <a:ext cx="2743200" cy="1188720"/>
          </a:xfrm>
          <a:prstGeom prst="rect">
            <a:avLst/>
          </a:prstGeom>
          <a:noFill/>
        </p:spPr>
        <p:txBody>
          <a:bodyPr wrap="square" lIns="36576" tIns="18288" rIns="36576" bIns="18288" anchor="ctr">
            <a:noAutofit/>
          </a:bodyPr>
          <a:lstStyle/>
          <a:p>
            <a:pPr algn="l">
              <a:spcBef>
                <a:spcPts val="0"/>
              </a:spcBef>
              <a:spcAft>
                <a:spcPts val="200"/>
              </a:spcAft>
              <a:buNone/>
            </a:pPr>
            <a:r>
              <a:rPr sz="1250" b="1" lang="ko-KR">
                <a:solidFill>
                  <a:srgbClr val="C5221F"/>
                </a:solidFill>
                <a:latin typeface="Calibri"/>
                <a:ea typeface="Noto Sans KR"/>
                <a:cs typeface="Calibri"/>
              </a:rPr>
              <a:t>자동 백업 · PITR</a:t>
            </a:r>
          </a:p>
          <a:p>
            <a:pPr algn="l">
              <a:spcBef>
                <a:spcPts val="0"/>
              </a:spcBef>
              <a:spcAft>
                <a:spcPts val="200"/>
              </a:spcAft>
              <a:buNone/>
            </a:pPr>
            <a:r>
              <a:rPr sz="1100" b="0" lang="ko-KR">
                <a:solidFill>
                  <a:srgbClr val="3C4043"/>
                </a:solidFill>
                <a:latin typeface="Calibri"/>
                <a:ea typeface="Noto Sans KR"/>
                <a:cs typeface="Calibri"/>
              </a:rPr>
              <a:t>매일 자동 백업 + 바이너리 로그로 원하는 시점 복구</a:t>
            </a:r>
          </a:p>
          <a:p>
            <a:pPr algn="l">
              <a:spcBef>
                <a:spcPts val="0"/>
              </a:spcBef>
              <a:spcAft>
                <a:spcPts val="200"/>
              </a:spcAft>
              <a:buNone/>
            </a:pPr>
            <a:r>
              <a:rPr sz="1050" b="1" lang="ko-KR">
                <a:solidFill>
                  <a:srgbClr val="188038"/>
                </a:solidFill>
                <a:latin typeface="Calibri"/>
                <a:ea typeface="Noto Sans KR"/>
                <a:cs typeface="Calibri"/>
              </a:rPr>
              <a:t>검증: 삭제 데이터 복구 (다음 장)</a:t>
            </a:r>
          </a:p>
        </p:txBody>
      </p:sp>
      <p:sp>
        <p:nvSpPr>
          <p:cNvPr id="41" name="Rounded Rectangle 40"/>
          <p:cNvSpPr/>
          <p:nvPr/>
        </p:nvSpPr>
        <p:spPr>
          <a:xfrm>
            <a:off x="5614416" y="4846320"/>
            <a:ext cx="2926080" cy="1280160"/>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42" name="TextBox 41"/>
          <p:cNvSpPr txBox="1"/>
          <p:nvPr/>
        </p:nvSpPr>
        <p:spPr>
          <a:xfrm>
            <a:off x="5724144" y="4901184"/>
            <a:ext cx="2743200" cy="1188720"/>
          </a:xfrm>
          <a:prstGeom prst="rect">
            <a:avLst/>
          </a:prstGeom>
          <a:noFill/>
        </p:spPr>
        <p:txBody>
          <a:bodyPr wrap="square" lIns="36576" tIns="18288" rIns="36576" bIns="18288" anchor="ctr">
            <a:noAutofit/>
          </a:bodyPr>
          <a:lstStyle/>
          <a:p>
            <a:pPr algn="l">
              <a:spcBef>
                <a:spcPts val="0"/>
              </a:spcBef>
              <a:spcAft>
                <a:spcPts val="200"/>
              </a:spcAft>
              <a:buNone/>
            </a:pPr>
            <a:r>
              <a:rPr sz="1250" b="1" lang="ko-KR">
                <a:solidFill>
                  <a:srgbClr val="C5221F"/>
                </a:solidFill>
                <a:latin typeface="Calibri"/>
                <a:ea typeface="Noto Sans KR"/>
                <a:cs typeface="Calibri"/>
              </a:rPr>
              <a:t>PSC 내부 접속</a:t>
            </a:r>
          </a:p>
          <a:p>
            <a:pPr algn="l">
              <a:spcBef>
                <a:spcPts val="0"/>
              </a:spcBef>
              <a:spcAft>
                <a:spcPts val="200"/>
              </a:spcAft>
              <a:buNone/>
            </a:pPr>
            <a:r>
              <a:rPr sz="1100" b="0" lang="ko-KR">
                <a:solidFill>
                  <a:srgbClr val="3C4043"/>
                </a:solidFill>
                <a:latin typeface="Calibri"/>
                <a:ea typeface="Noto Sans KR"/>
                <a:cs typeface="Calibri"/>
              </a:rPr>
              <a:t>Cloud SQL 공인 IP 없이 VPC 내부 IP로만 접근</a:t>
            </a:r>
          </a:p>
          <a:p>
            <a:pPr algn="l">
              <a:spcBef>
                <a:spcPts val="0"/>
              </a:spcBef>
              <a:spcAft>
                <a:spcPts val="200"/>
              </a:spcAft>
              <a:buNone/>
            </a:pPr>
            <a:r>
              <a:rPr sz="1050" b="1" lang="ko-KR">
                <a:solidFill>
                  <a:srgbClr val="188038"/>
                </a:solidFill>
                <a:latin typeface="Calibri"/>
                <a:ea typeface="Noto Sans KR"/>
                <a:cs typeface="Calibri"/>
              </a:rPr>
              <a:t>엔드포인트 10.0.32.2 (PSC 서브넷)</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구축 ④ DB</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nav-active"/>
          <p:cNvSpPr/>
          <p:nvPr/>
        </p:nvSpPr>
        <p:spPr>
          <a:xfrm>
            <a:off x="2034540"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온프레미스 MySQL 데이터를 덤프 → GCS → Import로 옮겼습니다</a:t>
            </a:r>
          </a:p>
        </p:txBody>
      </p:sp>
      <p:sp>
        <p:nvSpPr>
          <p:cNvPr id="16" name="Rounded Rectangle 15"/>
          <p:cNvSpPr/>
          <p:nvPr/>
        </p:nvSpPr>
        <p:spPr>
          <a:xfrm>
            <a:off x="603504" y="2066544"/>
            <a:ext cx="1737360" cy="2103120"/>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17" name="Oval 16"/>
          <p:cNvSpPr/>
          <p:nvPr/>
        </p:nvSpPr>
        <p:spPr>
          <a:xfrm>
            <a:off x="713232" y="2176272"/>
            <a:ext cx="310896" cy="310896"/>
          </a:xfrm>
          <a:prstGeom prst="ellipse">
            <a:avLst/>
          </a:prstGeom>
          <a:solidFill>
            <a:srgbClr val="4084F4"/>
          </a:solidFill>
          <a:ln>
            <a:noFill/>
          </a:ln>
        </p:spPr>
        <p:txBody>
          <a:bodyPr rtlCol="0" anchor="ctr" wrap="square" lIns="0" tIns="0" rIns="0" bIns="0"/>
          <a:lstStyle/>
          <a:p>
            <a:pPr algn="ctr">
              <a:spcBef>
                <a:spcPts val="0"/>
              </a:spcBef>
              <a:spcAft>
                <a:spcPts val="0"/>
              </a:spcAft>
              <a:buNone/>
            </a:pPr>
            <a:r>
              <a:rPr sz="1100" b="1" lang="ko-KR">
                <a:solidFill>
                  <a:srgbClr val="FFFFFF"/>
                </a:solidFill>
                <a:latin typeface="Calibri"/>
                <a:ea typeface="Noto Sans KR"/>
                <a:cs typeface="Calibri"/>
              </a:rPr>
              <a:t>1</a:t>
            </a:r>
          </a:p>
        </p:txBody>
      </p:sp>
      <p:pic>
        <p:nvPicPr>
          <p:cNvPr id="18" name="Picture 17" descr="gce.png"/>
          <p:cNvPicPr>
            <a:picLocks noChangeAspect="1"/>
          </p:cNvPicPr>
          <p:nvPr/>
        </p:nvPicPr>
        <p:blipFill>
          <a:blip r:embed="rId3"/>
          <a:stretch>
            <a:fillRect/>
          </a:stretch>
        </p:blipFill>
        <p:spPr>
          <a:xfrm>
            <a:off x="1197864" y="2395728"/>
            <a:ext cx="548640" cy="548640"/>
          </a:xfrm>
          <a:prstGeom prst="rect">
            <a:avLst/>
          </a:prstGeom>
        </p:spPr>
      </p:pic>
      <p:sp>
        <p:nvSpPr>
          <p:cNvPr id="19" name="TextBox 18"/>
          <p:cNvSpPr txBox="1"/>
          <p:nvPr/>
        </p:nvSpPr>
        <p:spPr>
          <a:xfrm>
            <a:off x="658368" y="2999232"/>
            <a:ext cx="1627632" cy="1133856"/>
          </a:xfrm>
          <a:prstGeom prst="rect">
            <a:avLst/>
          </a:prstGeom>
          <a:noFill/>
        </p:spPr>
        <p:txBody>
          <a:bodyPr wrap="square" lIns="36576" tIns="18288" rIns="36576" bIns="18288" anchor="t">
            <a:noAutofit/>
          </a:bodyPr>
          <a:lstStyle/>
          <a:p>
            <a:pPr algn="ctr">
              <a:spcBef>
                <a:spcPts val="0"/>
              </a:spcBef>
              <a:spcAft>
                <a:spcPts val="0"/>
              </a:spcAft>
              <a:buNone/>
            </a:pPr>
            <a:r>
              <a:rPr sz="1250" b="1" lang="ko-KR">
                <a:solidFill>
                  <a:srgbClr val="202124"/>
                </a:solidFill>
                <a:latin typeface="Calibri"/>
                <a:ea typeface="Noto Sans KR"/>
                <a:cs typeface="Calibri"/>
              </a:rPr>
              <a:t>기존 DB 구성</a:t>
            </a:r>
          </a:p>
          <a:p>
            <a:pPr algn="ctr">
              <a:spcBef>
                <a:spcPts val="0"/>
              </a:spcBef>
              <a:spcAft>
                <a:spcPts val="0"/>
              </a:spcAft>
              <a:buNone/>
            </a:pPr>
            <a:r>
              <a:rPr sz="1100" b="0" lang="ko-KR">
                <a:solidFill>
                  <a:srgbClr val="3C4043"/>
                </a:solidFill>
                <a:latin typeface="Calibri"/>
                <a:ea typeface="Noto Sans KR"/>
                <a:cs typeface="Calibri"/>
              </a:rPr>
              <a:t>VM에 MySQL 설치</a:t>
            </a:r>
          </a:p>
          <a:p>
            <a:pPr algn="ctr">
              <a:spcBef>
                <a:spcPts val="0"/>
              </a:spcBef>
              <a:spcAft>
                <a:spcPts val="0"/>
              </a:spcAft>
              <a:buNone/>
            </a:pPr>
            <a:r>
              <a:rPr sz="1100" b="0" lang="ko-KR">
                <a:solidFill>
                  <a:srgbClr val="3C4043"/>
                </a:solidFill>
                <a:latin typeface="Calibri"/>
                <a:ea typeface="Noto Sans KR"/>
                <a:cs typeface="Calibri"/>
              </a:rPr>
              <a:t>PetClinic 데이터 준비</a:t>
            </a:r>
          </a:p>
          <a:p>
            <a:pPr algn="ctr">
              <a:spcBef>
                <a:spcPts val="0"/>
              </a:spcBef>
              <a:spcAft>
                <a:spcPts val="0"/>
              </a:spcAft>
              <a:buNone/>
            </a:pPr>
            <a:r>
              <a:rPr sz="950" b="0" lang="ko-KR">
                <a:solidFill>
                  <a:srgbClr val="5F6368"/>
                </a:solidFill>
                <a:latin typeface="Calibri"/>
                <a:ea typeface="Noto Sans KR"/>
                <a:cs typeface="Calibri"/>
              </a:rPr>
              <a:t>온프레미스 역할</a:t>
            </a:r>
          </a:p>
        </p:txBody>
      </p:sp>
      <p:cxnSp>
        <p:nvCxnSpPr>
          <p:cNvPr id="20" name="Connector 19"/>
          <p:cNvCxnSpPr/>
          <p:nvPr/>
        </p:nvCxnSpPr>
        <p:spPr>
          <a:xfrm>
            <a:off x="2377440" y="3118104"/>
            <a:ext cx="256032" cy="0"/>
          </a:xfrm>
          <a:prstGeom prst="line">
            <a:avLst/>
          </a:prstGeom>
          <a:ln w="25400">
            <a:solidFill>
              <a:srgbClr val="1A73E8"/>
            </a:solidFill>
            <a:tailEnd type="triangle" w="med" len="med"/>
          </a:ln>
        </p:spPr>
      </p:cxnSp>
      <p:sp>
        <p:nvSpPr>
          <p:cNvPr id="21" name="Rounded Rectangle 20"/>
          <p:cNvSpPr/>
          <p:nvPr/>
        </p:nvSpPr>
        <p:spPr>
          <a:xfrm>
            <a:off x="2670048" y="2066544"/>
            <a:ext cx="1737360" cy="2103120"/>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22" name="Oval 21"/>
          <p:cNvSpPr/>
          <p:nvPr/>
        </p:nvSpPr>
        <p:spPr>
          <a:xfrm>
            <a:off x="2779776" y="2176272"/>
            <a:ext cx="310896" cy="310896"/>
          </a:xfrm>
          <a:prstGeom prst="ellipse">
            <a:avLst/>
          </a:prstGeom>
          <a:solidFill>
            <a:srgbClr val="4084F4"/>
          </a:solidFill>
          <a:ln>
            <a:noFill/>
          </a:ln>
        </p:spPr>
        <p:txBody>
          <a:bodyPr rtlCol="0" anchor="ctr" wrap="square" lIns="0" tIns="0" rIns="0" bIns="0"/>
          <a:lstStyle/>
          <a:p>
            <a:pPr algn="ctr">
              <a:spcBef>
                <a:spcPts val="0"/>
              </a:spcBef>
              <a:spcAft>
                <a:spcPts val="0"/>
              </a:spcAft>
              <a:buNone/>
            </a:pPr>
            <a:r>
              <a:rPr sz="1100" b="1" lang="ko-KR">
                <a:solidFill>
                  <a:srgbClr val="FFFFFF"/>
                </a:solidFill>
                <a:latin typeface="Calibri"/>
                <a:ea typeface="Noto Sans KR"/>
                <a:cs typeface="Calibri"/>
              </a:rPr>
              <a:t>2</a:t>
            </a:r>
          </a:p>
        </p:txBody>
      </p:sp>
      <p:pic>
        <p:nvPicPr>
          <p:cNvPr id="23" name="Picture 22" descr="sql.png"/>
          <p:cNvPicPr>
            <a:picLocks noChangeAspect="1"/>
          </p:cNvPicPr>
          <p:nvPr/>
        </p:nvPicPr>
        <p:blipFill>
          <a:blip r:embed="rId4"/>
          <a:stretch>
            <a:fillRect/>
          </a:stretch>
        </p:blipFill>
        <p:spPr>
          <a:xfrm>
            <a:off x="3264408" y="2395728"/>
            <a:ext cx="548640" cy="548640"/>
          </a:xfrm>
          <a:prstGeom prst="rect">
            <a:avLst/>
          </a:prstGeom>
        </p:spPr>
      </p:pic>
      <p:sp>
        <p:nvSpPr>
          <p:cNvPr id="24" name="TextBox 23"/>
          <p:cNvSpPr txBox="1"/>
          <p:nvPr/>
        </p:nvSpPr>
        <p:spPr>
          <a:xfrm>
            <a:off x="2724912" y="2999232"/>
            <a:ext cx="1627632" cy="1133856"/>
          </a:xfrm>
          <a:prstGeom prst="rect">
            <a:avLst/>
          </a:prstGeom>
          <a:noFill/>
        </p:spPr>
        <p:txBody>
          <a:bodyPr wrap="square" lIns="36576" tIns="18288" rIns="36576" bIns="18288" anchor="t">
            <a:noAutofit/>
          </a:bodyPr>
          <a:lstStyle/>
          <a:p>
            <a:pPr algn="ctr">
              <a:spcBef>
                <a:spcPts val="0"/>
              </a:spcBef>
              <a:spcAft>
                <a:spcPts val="0"/>
              </a:spcAft>
              <a:buNone/>
            </a:pPr>
            <a:r>
              <a:rPr sz="1250" b="1" lang="ko-KR">
                <a:solidFill>
                  <a:srgbClr val="202124"/>
                </a:solidFill>
                <a:latin typeface="Calibri"/>
                <a:ea typeface="Noto Sans KR"/>
                <a:cs typeface="Calibri"/>
              </a:rPr>
              <a:t>데이터 추출</a:t>
            </a:r>
          </a:p>
          <a:p>
            <a:pPr algn="ctr">
              <a:spcBef>
                <a:spcPts val="0"/>
              </a:spcBef>
              <a:spcAft>
                <a:spcPts val="0"/>
              </a:spcAft>
              <a:buNone/>
            </a:pPr>
            <a:r>
              <a:rPr sz="1100" b="0" lang="ko-KR">
                <a:solidFill>
                  <a:srgbClr val="3C4043"/>
                </a:solidFill>
                <a:latin typeface="Calibri"/>
                <a:ea typeface="Noto Sans KR"/>
                <a:cs typeface="Calibri"/>
              </a:rPr>
              <a:t>mysqldump로</a:t>
            </a:r>
          </a:p>
          <a:p>
            <a:pPr algn="ctr">
              <a:spcBef>
                <a:spcPts val="0"/>
              </a:spcBef>
              <a:spcAft>
                <a:spcPts val="0"/>
              </a:spcAft>
              <a:buNone/>
            </a:pPr>
            <a:r>
              <a:rPr sz="1100" b="0" lang="ko-KR">
                <a:solidFill>
                  <a:srgbClr val="3C4043"/>
                </a:solidFill>
                <a:latin typeface="Calibri"/>
                <a:ea typeface="Noto Sans KR"/>
                <a:cs typeface="Calibri"/>
              </a:rPr>
              <a:t>SQL 파일 생성</a:t>
            </a:r>
          </a:p>
          <a:p>
            <a:pPr algn="ctr">
              <a:spcBef>
                <a:spcPts val="0"/>
              </a:spcBef>
              <a:spcAft>
                <a:spcPts val="0"/>
              </a:spcAft>
              <a:buNone/>
            </a:pPr>
            <a:r>
              <a:rPr sz="950" b="0" lang="ko-KR">
                <a:solidFill>
                  <a:srgbClr val="5F6368"/>
                </a:solidFill>
                <a:latin typeface="Calibri"/>
                <a:ea typeface="Noto Sans KR"/>
                <a:cs typeface="Calibri"/>
              </a:rPr>
              <a:t>petclinic DB</a:t>
            </a:r>
          </a:p>
        </p:txBody>
      </p:sp>
      <p:cxnSp>
        <p:nvCxnSpPr>
          <p:cNvPr id="25" name="Connector 24"/>
          <p:cNvCxnSpPr/>
          <p:nvPr/>
        </p:nvCxnSpPr>
        <p:spPr>
          <a:xfrm>
            <a:off x="4443984" y="3118104"/>
            <a:ext cx="256032" cy="0"/>
          </a:xfrm>
          <a:prstGeom prst="line">
            <a:avLst/>
          </a:prstGeom>
          <a:ln w="25400">
            <a:solidFill>
              <a:srgbClr val="1A73E8"/>
            </a:solidFill>
            <a:tailEnd type="triangle" w="med" len="med"/>
          </a:ln>
        </p:spPr>
      </p:cxnSp>
      <p:sp>
        <p:nvSpPr>
          <p:cNvPr id="26" name="Rounded Rectangle 25"/>
          <p:cNvSpPr/>
          <p:nvPr/>
        </p:nvSpPr>
        <p:spPr>
          <a:xfrm>
            <a:off x="4736592" y="2066544"/>
            <a:ext cx="1737360" cy="2103120"/>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27" name="Oval 26"/>
          <p:cNvSpPr/>
          <p:nvPr/>
        </p:nvSpPr>
        <p:spPr>
          <a:xfrm>
            <a:off x="4846320" y="2176272"/>
            <a:ext cx="310896" cy="310896"/>
          </a:xfrm>
          <a:prstGeom prst="ellipse">
            <a:avLst/>
          </a:prstGeom>
          <a:solidFill>
            <a:srgbClr val="4084F4"/>
          </a:solidFill>
          <a:ln>
            <a:noFill/>
          </a:ln>
        </p:spPr>
        <p:txBody>
          <a:bodyPr rtlCol="0" anchor="ctr" wrap="square" lIns="0" tIns="0" rIns="0" bIns="0"/>
          <a:lstStyle/>
          <a:p>
            <a:pPr algn="ctr">
              <a:spcBef>
                <a:spcPts val="0"/>
              </a:spcBef>
              <a:spcAft>
                <a:spcPts val="0"/>
              </a:spcAft>
              <a:buNone/>
            </a:pPr>
            <a:r>
              <a:rPr sz="1100" b="1" lang="ko-KR">
                <a:solidFill>
                  <a:srgbClr val="FFFFFF"/>
                </a:solidFill>
                <a:latin typeface="Calibri"/>
                <a:ea typeface="Noto Sans KR"/>
                <a:cs typeface="Calibri"/>
              </a:rPr>
              <a:t>3</a:t>
            </a:r>
          </a:p>
        </p:txBody>
      </p:sp>
      <p:pic>
        <p:nvPicPr>
          <p:cNvPr id="28" name="Picture 27" descr="gcs.png"/>
          <p:cNvPicPr>
            <a:picLocks noChangeAspect="1"/>
          </p:cNvPicPr>
          <p:nvPr/>
        </p:nvPicPr>
        <p:blipFill>
          <a:blip r:embed="rId5"/>
          <a:stretch>
            <a:fillRect/>
          </a:stretch>
        </p:blipFill>
        <p:spPr>
          <a:xfrm>
            <a:off x="5330952" y="2395728"/>
            <a:ext cx="548640" cy="548640"/>
          </a:xfrm>
          <a:prstGeom prst="rect">
            <a:avLst/>
          </a:prstGeom>
        </p:spPr>
      </p:pic>
      <p:sp>
        <p:nvSpPr>
          <p:cNvPr id="29" name="TextBox 28"/>
          <p:cNvSpPr txBox="1"/>
          <p:nvPr/>
        </p:nvSpPr>
        <p:spPr>
          <a:xfrm>
            <a:off x="4791456" y="2999232"/>
            <a:ext cx="1627632" cy="1133856"/>
          </a:xfrm>
          <a:prstGeom prst="rect">
            <a:avLst/>
          </a:prstGeom>
          <a:noFill/>
        </p:spPr>
        <p:txBody>
          <a:bodyPr wrap="square" lIns="36576" tIns="18288" rIns="36576" bIns="18288" anchor="t">
            <a:noAutofit/>
          </a:bodyPr>
          <a:lstStyle/>
          <a:p>
            <a:pPr algn="ctr">
              <a:spcBef>
                <a:spcPts val="0"/>
              </a:spcBef>
              <a:spcAft>
                <a:spcPts val="0"/>
              </a:spcAft>
              <a:buNone/>
            </a:pPr>
            <a:r>
              <a:rPr sz="1250" b="1" lang="ko-KR">
                <a:solidFill>
                  <a:srgbClr val="202124"/>
                </a:solidFill>
                <a:latin typeface="Calibri"/>
                <a:ea typeface="Noto Sans KR"/>
                <a:cs typeface="Calibri"/>
              </a:rPr>
              <a:t>파일 업로드</a:t>
            </a:r>
          </a:p>
          <a:p>
            <a:pPr algn="ctr">
              <a:spcBef>
                <a:spcPts val="0"/>
              </a:spcBef>
              <a:spcAft>
                <a:spcPts val="0"/>
              </a:spcAft>
              <a:buNone/>
            </a:pPr>
            <a:r>
              <a:rPr sz="1100" b="0" lang="ko-KR">
                <a:solidFill>
                  <a:srgbClr val="3C4043"/>
                </a:solidFill>
                <a:latin typeface="Calibri"/>
                <a:ea typeface="Noto Sans KR"/>
                <a:cs typeface="Calibri"/>
              </a:rPr>
              <a:t>Cloud Storage</a:t>
            </a:r>
          </a:p>
          <a:p>
            <a:pPr algn="ctr">
              <a:spcBef>
                <a:spcPts val="0"/>
              </a:spcBef>
              <a:spcAft>
                <a:spcPts val="0"/>
              </a:spcAft>
              <a:buNone/>
            </a:pPr>
            <a:r>
              <a:rPr sz="1100" b="0" lang="ko-KR">
                <a:solidFill>
                  <a:srgbClr val="3C4043"/>
                </a:solidFill>
                <a:latin typeface="Calibri"/>
                <a:ea typeface="Noto Sans KR"/>
                <a:cs typeface="Calibri"/>
              </a:rPr>
              <a:t>버킷에 업로드</a:t>
            </a:r>
          </a:p>
          <a:p>
            <a:pPr algn="ctr">
              <a:spcBef>
                <a:spcPts val="0"/>
              </a:spcBef>
              <a:spcAft>
                <a:spcPts val="0"/>
              </a:spcAft>
              <a:buNone/>
            </a:pPr>
            <a:r>
              <a:rPr sz="950" b="0" lang="ko-KR">
                <a:solidFill>
                  <a:srgbClr val="5F6368"/>
                </a:solidFill>
                <a:latin typeface="Calibri"/>
                <a:ea typeface="Noto Sans KR"/>
                <a:cs typeface="Calibri"/>
              </a:rPr>
              <a:t>SQL 덤프 보관</a:t>
            </a:r>
          </a:p>
        </p:txBody>
      </p:sp>
      <p:cxnSp>
        <p:nvCxnSpPr>
          <p:cNvPr id="30" name="Connector 29"/>
          <p:cNvCxnSpPr/>
          <p:nvPr/>
        </p:nvCxnSpPr>
        <p:spPr>
          <a:xfrm>
            <a:off x="6510528" y="3118104"/>
            <a:ext cx="256032" cy="0"/>
          </a:xfrm>
          <a:prstGeom prst="line">
            <a:avLst/>
          </a:prstGeom>
          <a:ln w="25400">
            <a:solidFill>
              <a:srgbClr val="1A73E8"/>
            </a:solidFill>
            <a:tailEnd type="triangle" w="med" len="med"/>
          </a:ln>
        </p:spPr>
      </p:cxnSp>
      <p:sp>
        <p:nvSpPr>
          <p:cNvPr id="31" name="Rounded Rectangle 30"/>
          <p:cNvSpPr/>
          <p:nvPr/>
        </p:nvSpPr>
        <p:spPr>
          <a:xfrm>
            <a:off x="6803136" y="2066544"/>
            <a:ext cx="1737360" cy="2103120"/>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32" name="Oval 31"/>
          <p:cNvSpPr/>
          <p:nvPr/>
        </p:nvSpPr>
        <p:spPr>
          <a:xfrm>
            <a:off x="6912864" y="2176272"/>
            <a:ext cx="310896" cy="310896"/>
          </a:xfrm>
          <a:prstGeom prst="ellipse">
            <a:avLst/>
          </a:prstGeom>
          <a:solidFill>
            <a:srgbClr val="4084F4"/>
          </a:solidFill>
          <a:ln>
            <a:noFill/>
          </a:ln>
        </p:spPr>
        <p:txBody>
          <a:bodyPr rtlCol="0" anchor="ctr" wrap="square" lIns="0" tIns="0" rIns="0" bIns="0"/>
          <a:lstStyle/>
          <a:p>
            <a:pPr algn="ctr">
              <a:spcBef>
                <a:spcPts val="0"/>
              </a:spcBef>
              <a:spcAft>
                <a:spcPts val="0"/>
              </a:spcAft>
              <a:buNone/>
            </a:pPr>
            <a:r>
              <a:rPr sz="1100" b="1" lang="ko-KR">
                <a:solidFill>
                  <a:srgbClr val="FFFFFF"/>
                </a:solidFill>
                <a:latin typeface="Calibri"/>
                <a:ea typeface="Noto Sans KR"/>
                <a:cs typeface="Calibri"/>
              </a:rPr>
              <a:t>4</a:t>
            </a:r>
          </a:p>
        </p:txBody>
      </p:sp>
      <p:pic>
        <p:nvPicPr>
          <p:cNvPr id="33" name="Picture 32" descr="sql.png"/>
          <p:cNvPicPr>
            <a:picLocks noChangeAspect="1"/>
          </p:cNvPicPr>
          <p:nvPr/>
        </p:nvPicPr>
        <p:blipFill>
          <a:blip r:embed="rId4"/>
          <a:stretch>
            <a:fillRect/>
          </a:stretch>
        </p:blipFill>
        <p:spPr>
          <a:xfrm>
            <a:off x="7397496" y="2395728"/>
            <a:ext cx="548640" cy="548640"/>
          </a:xfrm>
          <a:prstGeom prst="rect">
            <a:avLst/>
          </a:prstGeom>
        </p:spPr>
      </p:pic>
      <p:sp>
        <p:nvSpPr>
          <p:cNvPr id="34" name="TextBox 33"/>
          <p:cNvSpPr txBox="1"/>
          <p:nvPr/>
        </p:nvSpPr>
        <p:spPr>
          <a:xfrm>
            <a:off x="6858000" y="2999232"/>
            <a:ext cx="1627632" cy="1133856"/>
          </a:xfrm>
          <a:prstGeom prst="rect">
            <a:avLst/>
          </a:prstGeom>
          <a:noFill/>
        </p:spPr>
        <p:txBody>
          <a:bodyPr wrap="square" lIns="36576" tIns="18288" rIns="36576" bIns="18288" anchor="t">
            <a:noAutofit/>
          </a:bodyPr>
          <a:lstStyle/>
          <a:p>
            <a:pPr algn="ctr">
              <a:spcBef>
                <a:spcPts val="0"/>
              </a:spcBef>
              <a:spcAft>
                <a:spcPts val="0"/>
              </a:spcAft>
              <a:buNone/>
            </a:pPr>
            <a:r>
              <a:rPr sz="1250" b="1" lang="ko-KR">
                <a:solidFill>
                  <a:srgbClr val="202124"/>
                </a:solidFill>
                <a:latin typeface="Calibri"/>
                <a:ea typeface="Noto Sans KR"/>
                <a:cs typeface="Calibri"/>
              </a:rPr>
              <a:t>DB 가져오기</a:t>
            </a:r>
          </a:p>
          <a:p>
            <a:pPr algn="ctr">
              <a:spcBef>
                <a:spcPts val="0"/>
              </a:spcBef>
              <a:spcAft>
                <a:spcPts val="0"/>
              </a:spcAft>
              <a:buNone/>
            </a:pPr>
            <a:r>
              <a:rPr sz="1100" b="0" lang="ko-KR">
                <a:solidFill>
                  <a:srgbClr val="3C4043"/>
                </a:solidFill>
                <a:latin typeface="Calibri"/>
                <a:ea typeface="Noto Sans KR"/>
                <a:cs typeface="Calibri"/>
              </a:rPr>
              <a:t>Cloud SQL Import로</a:t>
            </a:r>
          </a:p>
          <a:p>
            <a:pPr algn="ctr">
              <a:spcBef>
                <a:spcPts val="0"/>
              </a:spcBef>
              <a:spcAft>
                <a:spcPts val="0"/>
              </a:spcAft>
              <a:buNone/>
            </a:pPr>
            <a:r>
              <a:rPr sz="1100" b="0" lang="ko-KR">
                <a:solidFill>
                  <a:srgbClr val="3C4043"/>
                </a:solidFill>
                <a:latin typeface="Calibri"/>
                <a:ea typeface="Noto Sans KR"/>
                <a:cs typeface="Calibri"/>
              </a:rPr>
              <a:t>적재</a:t>
            </a:r>
          </a:p>
          <a:p>
            <a:pPr algn="ctr">
              <a:spcBef>
                <a:spcPts val="0"/>
              </a:spcBef>
              <a:spcAft>
                <a:spcPts val="0"/>
              </a:spcAft>
              <a:buNone/>
            </a:pPr>
            <a:r>
              <a:rPr sz="950" b="0" lang="ko-KR">
                <a:solidFill>
                  <a:srgbClr val="5F6368"/>
                </a:solidFill>
                <a:latin typeface="Calibri"/>
                <a:ea typeface="Noto Sans KR"/>
                <a:cs typeface="Calibri"/>
              </a:rPr>
              <a:t>MySQL 8.4 · HA</a:t>
            </a:r>
          </a:p>
        </p:txBody>
      </p:sp>
      <p:sp>
        <p:nvSpPr>
          <p:cNvPr id="35" name="Rounded Rectangle 34"/>
          <p:cNvSpPr/>
          <p:nvPr/>
        </p:nvSpPr>
        <p:spPr>
          <a:xfrm>
            <a:off x="603504" y="4334256"/>
            <a:ext cx="7936992" cy="457200"/>
          </a:xfrm>
          <a:prstGeom prst="roundRect">
            <a:avLst>
              <a:gd name="adj" fmla="val 20000"/>
            </a:avLst>
          </a:prstGeom>
          <a:solidFill>
            <a:srgbClr val="E6F4EA"/>
          </a:solidFill>
          <a:ln>
            <a:noFill/>
          </a:ln>
        </p:spPr>
        <p:txBody>
          <a:bodyPr rtlCol="0" anchor="ctr" wrap="square" lIns="73152" rIns="73152"/>
          <a:lstStyle/>
          <a:p>
            <a:pPr algn="ctr">
              <a:spcBef>
                <a:spcPts val="0"/>
              </a:spcBef>
              <a:spcAft>
                <a:spcPts val="0"/>
              </a:spcAft>
              <a:buNone/>
            </a:pPr>
            <a:r>
              <a:rPr sz="1200" b="1" lang="ko-KR">
                <a:solidFill>
                  <a:srgbClr val="188038"/>
                </a:solidFill>
                <a:latin typeface="Calibri"/>
                <a:ea typeface="Noto Sans KR"/>
                <a:cs typeface="Calibri"/>
              </a:rPr>
              <a:t>✓ 이전 후 확인  </a:t>
            </a:r>
            <a:r>
              <a:rPr sz="1200" b="0" lang="ko-KR">
                <a:solidFill>
                  <a:srgbClr val="202124"/>
                </a:solidFill>
                <a:latin typeface="Calibri"/>
                <a:ea typeface="Noto Sans KR"/>
                <a:cs typeface="Calibri"/>
              </a:rPr>
              <a:t>데이터 조회 정상 · PetClinic 애플리케이션 연결 정상</a:t>
            </a:r>
          </a:p>
        </p:txBody>
      </p:sp>
      <p:sp>
        <p:nvSpPr>
          <p:cNvPr id="36" name="TextBox 35"/>
          <p:cNvSpPr txBox="1"/>
          <p:nvPr/>
        </p:nvSpPr>
        <p:spPr>
          <a:xfrm>
            <a:off x="603504" y="4937760"/>
            <a:ext cx="2743200" cy="274320"/>
          </a:xfrm>
          <a:prstGeom prst="rect">
            <a:avLst/>
          </a:prstGeom>
          <a:noFill/>
        </p:spPr>
        <p:txBody>
          <a:bodyPr wrap="square" lIns="36576" tIns="18288" rIns="36576" bIns="18288" anchor="t">
            <a:noAutofit/>
          </a:bodyPr>
          <a:lstStyle/>
          <a:p>
            <a:pPr algn="l">
              <a:spcBef>
                <a:spcPts val="0"/>
              </a:spcBef>
              <a:spcAft>
                <a:spcPts val="0"/>
              </a:spcAft>
              <a:buNone/>
            </a:pPr>
            <a:r>
              <a:rPr sz="1200" b="1" lang="ko-KR">
                <a:solidFill>
                  <a:srgbClr val="202124"/>
                </a:solidFill>
                <a:latin typeface="Calibri"/>
                <a:ea typeface="Noto Sans KR"/>
                <a:cs typeface="Calibri"/>
              </a:rPr>
              <a:t>이관 방식 비교</a:t>
            </a:r>
          </a:p>
        </p:txBody>
      </p:sp>
      <p:graphicFrame>
        <p:nvGraphicFramePr>
          <p:cNvPr id="37" name="Table 36"/>
          <p:cNvGraphicFramePr>
            <a:graphicFrameLocks noGrp="1"/>
          </p:cNvGraphicFramePr>
          <p:nvPr/>
        </p:nvGraphicFramePr>
        <p:xfrm>
          <a:off x="603504" y="5230368"/>
          <a:ext cx="7936992" cy="950976"/>
        </p:xfrm>
        <a:graphic>
          <a:graphicData uri="http://schemas.openxmlformats.org/drawingml/2006/table">
            <a:tbl>
              <a:tblPr firstRow="0" bandRow="0">
                <a:tableStyleId>{2D5ABB26-0587-4C30-8999-92F81FD0307C}</a:tableStyleId>
              </a:tblPr>
              <a:tblGrid>
                <a:gridCol w="2103120"/>
                <a:gridCol w="4370832"/>
                <a:gridCol w="1463040"/>
              </a:tblGrid>
              <a:tr h="292608">
                <a:tc>
                  <a:txBody>
                    <a:bodyPr wrap="square"/>
                    <a:lstStyle/>
                    <a:p>
                      <a:pPr algn="l">
                        <a:spcBef>
                          <a:spcPts val="0"/>
                        </a:spcBef>
                        <a:spcAft>
                          <a:spcPts val="0"/>
                        </a:spcAft>
                        <a:buNone/>
                      </a:pPr>
                      <a:r>
                        <a:rPr sz="1100" b="1" lang="ko-KR">
                          <a:solidFill>
                            <a:srgbClr val="202124"/>
                          </a:solidFill>
                          <a:latin typeface="Calibri"/>
                          <a:ea typeface="Noto Sans KR"/>
                          <a:cs typeface="Calibri"/>
                        </a:rPr>
                        <a:t>방식</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100" b="1" lang="ko-KR">
                          <a:solidFill>
                            <a:srgbClr val="202124"/>
                          </a:solidFill>
                          <a:latin typeface="Calibri"/>
                          <a:ea typeface="Noto Sans KR"/>
                          <a:cs typeface="Calibri"/>
                        </a:rPr>
                        <a:t>특징</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100" b="1" lang="ko-KR">
                          <a:solidFill>
                            <a:srgbClr val="202124"/>
                          </a:solidFill>
                          <a:latin typeface="Calibri"/>
                          <a:ea typeface="Noto Sans KR"/>
                          <a:cs typeface="Calibri"/>
                        </a:rPr>
                        <a:t>적용</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r>
              <a:tr h="329184">
                <a:tc>
                  <a:txBody>
                    <a:bodyPr wrap="square"/>
                    <a:lstStyle/>
                    <a:p>
                      <a:pPr algn="l">
                        <a:spcBef>
                          <a:spcPts val="0"/>
                        </a:spcBef>
                        <a:spcAft>
                          <a:spcPts val="0"/>
                        </a:spcAft>
                        <a:buNone/>
                      </a:pPr>
                      <a:r>
                        <a:rPr sz="1050" b="1" lang="ko-KR">
                          <a:solidFill>
                            <a:srgbClr val="3C4043"/>
                          </a:solidFill>
                          <a:latin typeface="Calibri"/>
                          <a:ea typeface="Noto Sans KR"/>
                          <a:cs typeface="Calibri"/>
                        </a:rPr>
                        <a:t>덤프 → Import</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1회 이관에 적합, 절차 단순 · 전환 중 쓰기 중단 필요</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1" lang="ko-KR">
                          <a:solidFill>
                            <a:srgbClr val="188038"/>
                          </a:solidFill>
                          <a:latin typeface="Calibri"/>
                          <a:ea typeface="Noto Sans KR"/>
                          <a:cs typeface="Calibri"/>
                        </a:rPr>
                        <a:t>이번 선택</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29184">
                <a:tc>
                  <a:txBody>
                    <a:bodyPr wrap="square"/>
                    <a:lstStyle/>
                    <a:p>
                      <a:pPr algn="l">
                        <a:spcBef>
                          <a:spcPts val="0"/>
                        </a:spcBef>
                        <a:spcAft>
                          <a:spcPts val="0"/>
                        </a:spcAft>
                        <a:buNone/>
                      </a:pPr>
                      <a:r>
                        <a:rPr sz="1050" b="1" lang="ko-KR">
                          <a:solidFill>
                            <a:srgbClr val="3C4043"/>
                          </a:solidFill>
                          <a:latin typeface="Calibri"/>
                          <a:ea typeface="Noto Sans KR"/>
                          <a:cs typeface="Calibri"/>
                        </a:rPr>
                        <a:t>DMS (지속 복제)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원본과 계속 동기화해 전환 중단 시간 최소화 · 설정 복잡</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5F6368"/>
                          </a:solidFill>
                          <a:latin typeface="Calibri"/>
                          <a:ea typeface="Noto Sans KR"/>
                          <a:cs typeface="Calibri"/>
                        </a:rPr>
                        <a:t>대규모 이관 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구축 ④ DB</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nav-active"/>
          <p:cNvSpPr/>
          <p:nvPr/>
        </p:nvSpPr>
        <p:spPr>
          <a:xfrm>
            <a:off x="2034540"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실수로 지운 데이터를 PITR로 삭제 직전 시점에서 되살렸습니다</a:t>
            </a:r>
          </a:p>
        </p:txBody>
      </p:sp>
      <p:sp>
        <p:nvSpPr>
          <p:cNvPr id="16" name="Rounded Rectangle 15"/>
          <p:cNvSpPr/>
          <p:nvPr/>
        </p:nvSpPr>
        <p:spPr>
          <a:xfrm>
            <a:off x="603504" y="2048256"/>
            <a:ext cx="7936992" cy="402336"/>
          </a:xfrm>
          <a:prstGeom prst="roundRect">
            <a:avLst>
              <a:gd name="adj" fmla="val 25000"/>
            </a:avLst>
          </a:prstGeom>
          <a:solidFill>
            <a:srgbClr val="F8F9FA"/>
          </a:solidFill>
          <a:ln w="9525">
            <a:solidFill>
              <a:srgbClr val="DADCE0"/>
            </a:solidFill>
          </a:ln>
        </p:spPr>
        <p:txBody>
          <a:bodyPr rtlCol="0" anchor="ctr" wrap="square" lIns="164592" tIns="18288" bIns="18288"/>
          <a:lstStyle/>
          <a:p>
            <a:pPr algn="l">
              <a:spcBef>
                <a:spcPts val="0"/>
              </a:spcBef>
              <a:spcAft>
                <a:spcPts val="0"/>
              </a:spcAft>
              <a:buNone/>
            </a:pPr>
            <a:r>
              <a:rPr sz="1150" b="1" lang="ko-KR">
                <a:solidFill>
                  <a:srgbClr val="202124"/>
                </a:solidFill>
                <a:latin typeface="Calibri"/>
                <a:ea typeface="Noto Sans KR"/>
                <a:cs typeface="Calibri"/>
              </a:rPr>
              <a:t>복구 대상  </a:t>
            </a:r>
            <a:r>
              <a:rPr sz="1150" b="0" lang="ko-KR">
                <a:solidFill>
                  <a:srgbClr val="3C4043"/>
                </a:solidFill>
                <a:latin typeface="Calibri"/>
                <a:ea typeface="Noto Sans KR"/>
                <a:cs typeface="Calibri"/>
              </a:rPr>
              <a:t>petclinic.owners · id=16 · 반려동물 연결이 없는 테스트 데이터</a:t>
            </a:r>
          </a:p>
        </p:txBody>
      </p:sp>
      <p:sp>
        <p:nvSpPr>
          <p:cNvPr id="17" name="Rounded Rectangle 16"/>
          <p:cNvSpPr/>
          <p:nvPr/>
        </p:nvSpPr>
        <p:spPr>
          <a:xfrm>
            <a:off x="603504" y="2615184"/>
            <a:ext cx="1778508" cy="1627632"/>
          </a:xfrm>
          <a:prstGeom prst="roundRect">
            <a:avLst>
              <a:gd name="adj" fmla="val 6000"/>
            </a:avLst>
          </a:prstGeom>
          <a:solidFill>
            <a:srgbClr val="F8F9FA"/>
          </a:solidFill>
          <a:ln>
            <a:noFill/>
          </a:ln>
        </p:spPr>
        <p:txBody>
          <a:bodyPr rtlCol="0" anchor="ctr" wrap="square" lIns="73152" rIns="73152"/>
          <a:lstStyle/>
          <a:p>
            <a:pPr algn="ctr"/>
          </a:p>
        </p:txBody>
      </p:sp>
      <p:sp>
        <p:nvSpPr>
          <p:cNvPr id="18" name="TextBox 17"/>
          <p:cNvSpPr txBox="1"/>
          <p:nvPr/>
        </p:nvSpPr>
        <p:spPr>
          <a:xfrm>
            <a:off x="694944" y="2670048"/>
            <a:ext cx="1595628" cy="365760"/>
          </a:xfrm>
          <a:prstGeom prst="rect">
            <a:avLst/>
          </a:prstGeom>
          <a:noFill/>
        </p:spPr>
        <p:txBody>
          <a:bodyPr wrap="square" lIns="36576" tIns="18288" rIns="36576" bIns="18288" anchor="ctr">
            <a:noAutofit/>
          </a:bodyPr>
          <a:lstStyle/>
          <a:p>
            <a:pPr algn="ctr">
              <a:spcBef>
                <a:spcPts val="0"/>
              </a:spcBef>
              <a:spcAft>
                <a:spcPts val="0"/>
              </a:spcAft>
              <a:buNone/>
            </a:pPr>
            <a:r>
              <a:rPr sz="1300" b="1" lang="ko-KR">
                <a:solidFill>
                  <a:srgbClr val="5F6368"/>
                </a:solidFill>
                <a:latin typeface="Calibri"/>
                <a:ea typeface="Noto Sans KR"/>
                <a:cs typeface="Calibri"/>
              </a:rPr>
              <a:t>1  정상 데이터</a:t>
            </a:r>
          </a:p>
        </p:txBody>
      </p:sp>
      <p:sp>
        <p:nvSpPr>
          <p:cNvPr id="19" name="TextBox 18"/>
          <p:cNvSpPr txBox="1"/>
          <p:nvPr/>
        </p:nvSpPr>
        <p:spPr>
          <a:xfrm>
            <a:off x="694944" y="3090672"/>
            <a:ext cx="1595628" cy="1097280"/>
          </a:xfrm>
          <a:prstGeom prst="rect">
            <a:avLst/>
          </a:prstGeom>
          <a:noFill/>
        </p:spPr>
        <p:txBody>
          <a:bodyPr wrap="square" lIns="36576" tIns="18288" rIns="36576" bIns="18288" anchor="t">
            <a:noAutofit/>
          </a:bodyPr>
          <a:lstStyle/>
          <a:p>
            <a:pPr algn="l" marL="146304" indent="-146304">
              <a:spcBef>
                <a:spcPts val="0"/>
              </a:spcBef>
              <a:spcAft>
                <a:spcPts val="400"/>
              </a:spcAft>
              <a:buFont typeface="Arial"/>
              <a:buChar char="•"/>
            </a:pPr>
            <a:r>
              <a:rPr sz="1100" b="0" lang="ko-KR">
                <a:solidFill>
                  <a:srgbClr val="3C4043"/>
                </a:solidFill>
                <a:latin typeface="Calibri"/>
                <a:ea typeface="Noto Sans KR"/>
                <a:cs typeface="Calibri"/>
              </a:rPr>
              <a:t>owner 등록 확인</a:t>
            </a:r>
          </a:p>
          <a:p>
            <a:pPr algn="l" marL="146304" indent="-146304">
              <a:spcBef>
                <a:spcPts val="0"/>
              </a:spcBef>
              <a:spcAft>
                <a:spcPts val="0"/>
              </a:spcAft>
              <a:buFont typeface="Arial"/>
              <a:buChar char="•"/>
            </a:pPr>
            <a:r>
              <a:rPr sz="1100" b="0" lang="ko-KR">
                <a:solidFill>
                  <a:srgbClr val="3C4043"/>
                </a:solidFill>
                <a:latin typeface="Calibri"/>
                <a:ea typeface="Noto Sans KR"/>
                <a:cs typeface="Calibri"/>
              </a:rPr>
              <a:t>삭제 직전 UTC 시각 기록</a:t>
            </a:r>
          </a:p>
        </p:txBody>
      </p:sp>
      <p:cxnSp>
        <p:nvCxnSpPr>
          <p:cNvPr id="20" name="Connector 19"/>
          <p:cNvCxnSpPr/>
          <p:nvPr/>
        </p:nvCxnSpPr>
        <p:spPr>
          <a:xfrm>
            <a:off x="2409444" y="3429000"/>
            <a:ext cx="219456" cy="0"/>
          </a:xfrm>
          <a:prstGeom prst="line">
            <a:avLst/>
          </a:prstGeom>
          <a:ln w="25400">
            <a:solidFill>
              <a:srgbClr val="1A73E8"/>
            </a:solidFill>
            <a:tailEnd type="triangle" w="med" len="med"/>
          </a:ln>
        </p:spPr>
      </p:cxnSp>
      <p:sp>
        <p:nvSpPr>
          <p:cNvPr id="21" name="Rounded Rectangle 20"/>
          <p:cNvSpPr/>
          <p:nvPr/>
        </p:nvSpPr>
        <p:spPr>
          <a:xfrm>
            <a:off x="2656332" y="2615184"/>
            <a:ext cx="1778508" cy="1627632"/>
          </a:xfrm>
          <a:prstGeom prst="roundRect">
            <a:avLst>
              <a:gd name="adj" fmla="val 6000"/>
            </a:avLst>
          </a:prstGeom>
          <a:solidFill>
            <a:srgbClr val="FCE8E6"/>
          </a:solidFill>
          <a:ln>
            <a:noFill/>
          </a:ln>
        </p:spPr>
        <p:txBody>
          <a:bodyPr rtlCol="0" anchor="ctr" wrap="square" lIns="73152" rIns="73152"/>
          <a:lstStyle/>
          <a:p>
            <a:pPr algn="ctr"/>
          </a:p>
        </p:txBody>
      </p:sp>
      <p:sp>
        <p:nvSpPr>
          <p:cNvPr id="22" name="TextBox 21"/>
          <p:cNvSpPr txBox="1"/>
          <p:nvPr/>
        </p:nvSpPr>
        <p:spPr>
          <a:xfrm>
            <a:off x="2747772" y="2670048"/>
            <a:ext cx="1595628" cy="365760"/>
          </a:xfrm>
          <a:prstGeom prst="rect">
            <a:avLst/>
          </a:prstGeom>
          <a:noFill/>
        </p:spPr>
        <p:txBody>
          <a:bodyPr wrap="square" lIns="36576" tIns="18288" rIns="36576" bIns="18288" anchor="ctr">
            <a:noAutofit/>
          </a:bodyPr>
          <a:lstStyle/>
          <a:p>
            <a:pPr algn="ctr">
              <a:spcBef>
                <a:spcPts val="0"/>
              </a:spcBef>
              <a:spcAft>
                <a:spcPts val="0"/>
              </a:spcAft>
              <a:buNone/>
            </a:pPr>
            <a:r>
              <a:rPr sz="1300" b="1" lang="ko-KR">
                <a:solidFill>
                  <a:srgbClr val="C5221F"/>
                </a:solidFill>
                <a:latin typeface="Calibri"/>
                <a:ea typeface="Noto Sans KR"/>
                <a:cs typeface="Calibri"/>
              </a:rPr>
              <a:t>2  실수로 행 삭제</a:t>
            </a:r>
          </a:p>
        </p:txBody>
      </p:sp>
      <p:sp>
        <p:nvSpPr>
          <p:cNvPr id="23" name="TextBox 22"/>
          <p:cNvSpPr txBox="1"/>
          <p:nvPr/>
        </p:nvSpPr>
        <p:spPr>
          <a:xfrm>
            <a:off x="2747772" y="3090672"/>
            <a:ext cx="1595628" cy="1097280"/>
          </a:xfrm>
          <a:prstGeom prst="rect">
            <a:avLst/>
          </a:prstGeom>
          <a:noFill/>
        </p:spPr>
        <p:txBody>
          <a:bodyPr wrap="square" lIns="36576" tIns="18288" rIns="36576" bIns="18288" anchor="t">
            <a:noAutofit/>
          </a:bodyPr>
          <a:lstStyle/>
          <a:p>
            <a:pPr algn="l" marL="146304" indent="-146304">
              <a:spcBef>
                <a:spcPts val="0"/>
              </a:spcBef>
              <a:spcAft>
                <a:spcPts val="400"/>
              </a:spcAft>
              <a:buFont typeface="Arial"/>
              <a:buChar char="•"/>
            </a:pPr>
            <a:r>
              <a:rPr sz="1100" b="0" lang="ko-KR">
                <a:solidFill>
                  <a:srgbClr val="3C4043"/>
                </a:solidFill>
                <a:latin typeface="Calibri"/>
                <a:ea typeface="Noto Sans KR"/>
                <a:cs typeface="Calibri"/>
              </a:rPr>
              <a:t>DELETE … WHERE id=16</a:t>
            </a:r>
          </a:p>
          <a:p>
            <a:pPr algn="l" marL="146304" indent="-146304">
              <a:spcBef>
                <a:spcPts val="0"/>
              </a:spcBef>
              <a:spcAft>
                <a:spcPts val="0"/>
              </a:spcAft>
              <a:buFont typeface="Arial"/>
              <a:buChar char="•"/>
            </a:pPr>
            <a:r>
              <a:rPr sz="1100" b="0" lang="ko-KR">
                <a:solidFill>
                  <a:srgbClr val="3C4043"/>
                </a:solidFill>
                <a:latin typeface="Calibri"/>
                <a:ea typeface="Noto Sans KR"/>
                <a:cs typeface="Calibri"/>
              </a:rPr>
              <a:t>원본 DB에서 삭제 확인</a:t>
            </a:r>
          </a:p>
        </p:txBody>
      </p:sp>
      <p:cxnSp>
        <p:nvCxnSpPr>
          <p:cNvPr id="24" name="Connector 23"/>
          <p:cNvCxnSpPr/>
          <p:nvPr/>
        </p:nvCxnSpPr>
        <p:spPr>
          <a:xfrm>
            <a:off x="4462272" y="3429000"/>
            <a:ext cx="219456" cy="0"/>
          </a:xfrm>
          <a:prstGeom prst="line">
            <a:avLst/>
          </a:prstGeom>
          <a:ln w="25400">
            <a:solidFill>
              <a:srgbClr val="1A73E8"/>
            </a:solidFill>
            <a:tailEnd type="triangle" w="med" len="med"/>
          </a:ln>
        </p:spPr>
      </p:cxnSp>
      <p:sp>
        <p:nvSpPr>
          <p:cNvPr id="25" name="Rounded Rectangle 24"/>
          <p:cNvSpPr/>
          <p:nvPr/>
        </p:nvSpPr>
        <p:spPr>
          <a:xfrm>
            <a:off x="4709160" y="2615184"/>
            <a:ext cx="1778508" cy="1627632"/>
          </a:xfrm>
          <a:prstGeom prst="roundRect">
            <a:avLst>
              <a:gd name="adj" fmla="val 6000"/>
            </a:avLst>
          </a:prstGeom>
          <a:solidFill>
            <a:srgbClr val="E8F0FE"/>
          </a:solidFill>
          <a:ln>
            <a:noFill/>
          </a:ln>
        </p:spPr>
        <p:txBody>
          <a:bodyPr rtlCol="0" anchor="ctr" wrap="square" lIns="73152" rIns="73152"/>
          <a:lstStyle/>
          <a:p>
            <a:pPr algn="ctr"/>
          </a:p>
        </p:txBody>
      </p:sp>
      <p:sp>
        <p:nvSpPr>
          <p:cNvPr id="26" name="TextBox 25"/>
          <p:cNvSpPr txBox="1"/>
          <p:nvPr/>
        </p:nvSpPr>
        <p:spPr>
          <a:xfrm>
            <a:off x="4800600" y="2670048"/>
            <a:ext cx="1595628" cy="365760"/>
          </a:xfrm>
          <a:prstGeom prst="rect">
            <a:avLst/>
          </a:prstGeom>
          <a:noFill/>
        </p:spPr>
        <p:txBody>
          <a:bodyPr wrap="square" lIns="36576" tIns="18288" rIns="36576" bIns="18288" anchor="ctr">
            <a:noAutofit/>
          </a:bodyPr>
          <a:lstStyle/>
          <a:p>
            <a:pPr algn="ctr">
              <a:spcBef>
                <a:spcPts val="0"/>
              </a:spcBef>
              <a:spcAft>
                <a:spcPts val="0"/>
              </a:spcAft>
              <a:buNone/>
            </a:pPr>
            <a:r>
              <a:rPr sz="1300" b="1" lang="ko-KR">
                <a:solidFill>
                  <a:srgbClr val="1967D2"/>
                </a:solidFill>
                <a:latin typeface="Calibri"/>
                <a:ea typeface="Noto Sans KR"/>
                <a:cs typeface="Calibri"/>
              </a:rPr>
              <a:t>3  PITR 실행</a:t>
            </a:r>
          </a:p>
        </p:txBody>
      </p:sp>
      <p:sp>
        <p:nvSpPr>
          <p:cNvPr id="27" name="TextBox 26"/>
          <p:cNvSpPr txBox="1"/>
          <p:nvPr/>
        </p:nvSpPr>
        <p:spPr>
          <a:xfrm>
            <a:off x="4800600" y="3090672"/>
            <a:ext cx="1595628" cy="1097280"/>
          </a:xfrm>
          <a:prstGeom prst="rect">
            <a:avLst/>
          </a:prstGeom>
          <a:noFill/>
        </p:spPr>
        <p:txBody>
          <a:bodyPr wrap="square" lIns="36576" tIns="18288" rIns="36576" bIns="18288" anchor="t">
            <a:noAutofit/>
          </a:bodyPr>
          <a:lstStyle/>
          <a:p>
            <a:pPr algn="l" marL="146304" indent="-146304">
              <a:spcBef>
                <a:spcPts val="0"/>
              </a:spcBef>
              <a:spcAft>
                <a:spcPts val="400"/>
              </a:spcAft>
              <a:buFont typeface="Arial"/>
              <a:buChar char="•"/>
            </a:pPr>
            <a:r>
              <a:rPr sz="1100" b="0" lang="ko-KR">
                <a:solidFill>
                  <a:srgbClr val="3C4043"/>
                </a:solidFill>
                <a:latin typeface="Calibri"/>
                <a:ea typeface="Noto Sans KR"/>
                <a:cs typeface="Calibri"/>
              </a:rPr>
              <a:t>삭제 직전 시점 지정</a:t>
            </a:r>
          </a:p>
          <a:p>
            <a:pPr algn="l" marL="146304" indent="-146304">
              <a:spcBef>
                <a:spcPts val="0"/>
              </a:spcBef>
              <a:spcAft>
                <a:spcPts val="0"/>
              </a:spcAft>
              <a:buFont typeface="Arial"/>
              <a:buChar char="•"/>
            </a:pPr>
            <a:r>
              <a:rPr sz="1100" b="0" lang="ko-KR">
                <a:solidFill>
                  <a:srgbClr val="3C4043"/>
                </a:solidFill>
                <a:latin typeface="Calibri"/>
                <a:ea typeface="Noto Sans KR"/>
                <a:cs typeface="Calibri"/>
              </a:rPr>
              <a:t>새 인스턴스로 복구</a:t>
            </a:r>
          </a:p>
        </p:txBody>
      </p:sp>
      <p:cxnSp>
        <p:nvCxnSpPr>
          <p:cNvPr id="28" name="Connector 27"/>
          <p:cNvCxnSpPr/>
          <p:nvPr/>
        </p:nvCxnSpPr>
        <p:spPr>
          <a:xfrm>
            <a:off x="6515100" y="3429000"/>
            <a:ext cx="219456" cy="0"/>
          </a:xfrm>
          <a:prstGeom prst="line">
            <a:avLst/>
          </a:prstGeom>
          <a:ln w="25400">
            <a:solidFill>
              <a:srgbClr val="1A73E8"/>
            </a:solidFill>
            <a:tailEnd type="triangle" w="med" len="med"/>
          </a:ln>
        </p:spPr>
      </p:cxnSp>
      <p:sp>
        <p:nvSpPr>
          <p:cNvPr id="29" name="Rounded Rectangle 28"/>
          <p:cNvSpPr/>
          <p:nvPr/>
        </p:nvSpPr>
        <p:spPr>
          <a:xfrm>
            <a:off x="6761988" y="2615184"/>
            <a:ext cx="1778508" cy="1627632"/>
          </a:xfrm>
          <a:prstGeom prst="roundRect">
            <a:avLst>
              <a:gd name="adj" fmla="val 6000"/>
            </a:avLst>
          </a:prstGeom>
          <a:solidFill>
            <a:srgbClr val="E6F4EA"/>
          </a:solidFill>
          <a:ln>
            <a:noFill/>
          </a:ln>
        </p:spPr>
        <p:txBody>
          <a:bodyPr rtlCol="0" anchor="ctr" wrap="square" lIns="73152" rIns="73152"/>
          <a:lstStyle/>
          <a:p>
            <a:pPr algn="ctr"/>
          </a:p>
        </p:txBody>
      </p:sp>
      <p:sp>
        <p:nvSpPr>
          <p:cNvPr id="30" name="TextBox 29"/>
          <p:cNvSpPr txBox="1"/>
          <p:nvPr/>
        </p:nvSpPr>
        <p:spPr>
          <a:xfrm>
            <a:off x="6853428" y="2670048"/>
            <a:ext cx="1595628" cy="365760"/>
          </a:xfrm>
          <a:prstGeom prst="rect">
            <a:avLst/>
          </a:prstGeom>
          <a:noFill/>
        </p:spPr>
        <p:txBody>
          <a:bodyPr wrap="square" lIns="36576" tIns="18288" rIns="36576" bIns="18288" anchor="ctr">
            <a:noAutofit/>
          </a:bodyPr>
          <a:lstStyle/>
          <a:p>
            <a:pPr algn="ctr">
              <a:spcBef>
                <a:spcPts val="0"/>
              </a:spcBef>
              <a:spcAft>
                <a:spcPts val="0"/>
              </a:spcAft>
              <a:buNone/>
            </a:pPr>
            <a:r>
              <a:rPr sz="1300" b="1" lang="ko-KR">
                <a:solidFill>
                  <a:srgbClr val="188038"/>
                </a:solidFill>
                <a:latin typeface="Calibri"/>
                <a:ea typeface="Noto Sans KR"/>
                <a:cs typeface="Calibri"/>
              </a:rPr>
              <a:t>4  필요한 행 복원</a:t>
            </a:r>
          </a:p>
        </p:txBody>
      </p:sp>
      <p:sp>
        <p:nvSpPr>
          <p:cNvPr id="31" name="TextBox 30"/>
          <p:cNvSpPr txBox="1"/>
          <p:nvPr/>
        </p:nvSpPr>
        <p:spPr>
          <a:xfrm>
            <a:off x="6853428" y="3090672"/>
            <a:ext cx="1595628" cy="1097280"/>
          </a:xfrm>
          <a:prstGeom prst="rect">
            <a:avLst/>
          </a:prstGeom>
          <a:noFill/>
        </p:spPr>
        <p:txBody>
          <a:bodyPr wrap="square" lIns="36576" tIns="18288" rIns="36576" bIns="18288" anchor="t">
            <a:noAutofit/>
          </a:bodyPr>
          <a:lstStyle/>
          <a:p>
            <a:pPr algn="l" marL="146304" indent="-146304">
              <a:spcBef>
                <a:spcPts val="0"/>
              </a:spcBef>
              <a:spcAft>
                <a:spcPts val="400"/>
              </a:spcAft>
              <a:buFont typeface="Arial"/>
              <a:buChar char="•"/>
            </a:pPr>
            <a:r>
              <a:rPr sz="1100" b="0" lang="ko-KR">
                <a:solidFill>
                  <a:srgbClr val="3C4043"/>
                </a:solidFill>
                <a:latin typeface="Calibri"/>
                <a:ea typeface="Noto Sans KR"/>
                <a:cs typeface="Calibri"/>
              </a:rPr>
              <a:t>복구본에서 대상 행 CSV 추출</a:t>
            </a:r>
          </a:p>
          <a:p>
            <a:pPr algn="l" marL="146304" indent="-146304">
              <a:spcBef>
                <a:spcPts val="0"/>
              </a:spcBef>
              <a:spcAft>
                <a:spcPts val="0"/>
              </a:spcAft>
              <a:buFont typeface="Arial"/>
              <a:buChar char="•"/>
            </a:pPr>
            <a:r>
              <a:rPr sz="1100" b="0" lang="ko-KR">
                <a:solidFill>
                  <a:srgbClr val="3C4043"/>
                </a:solidFill>
                <a:latin typeface="Calibri"/>
                <a:ea typeface="Noto Sans KR"/>
                <a:cs typeface="Calibri"/>
              </a:rPr>
              <a:t>원본 owners에 가져오기</a:t>
            </a:r>
          </a:p>
        </p:txBody>
      </p:sp>
      <p:sp>
        <p:nvSpPr>
          <p:cNvPr id="32" name="Rounded Rectangle 31"/>
          <p:cNvSpPr/>
          <p:nvPr/>
        </p:nvSpPr>
        <p:spPr>
          <a:xfrm>
            <a:off x="603504" y="4407408"/>
            <a:ext cx="7936992" cy="475488"/>
          </a:xfrm>
          <a:prstGeom prst="roundRect">
            <a:avLst>
              <a:gd name="adj" fmla="val 20000"/>
            </a:avLst>
          </a:prstGeom>
          <a:solidFill>
            <a:srgbClr val="E8F0FE"/>
          </a:solidFill>
          <a:ln>
            <a:noFill/>
          </a:ln>
        </p:spPr>
        <p:txBody>
          <a:bodyPr rtlCol="0" anchor="ctr" wrap="square" lIns="73152" rIns="73152"/>
          <a:lstStyle/>
          <a:p>
            <a:pPr algn="ctr">
              <a:spcBef>
                <a:spcPts val="0"/>
              </a:spcBef>
              <a:spcAft>
                <a:spcPts val="0"/>
              </a:spcAft>
              <a:buNone/>
            </a:pPr>
            <a:r>
              <a:rPr sz="1200" b="1" lang="ko-KR">
                <a:solidFill>
                  <a:srgbClr val="1967D2"/>
                </a:solidFill>
                <a:latin typeface="Calibri"/>
                <a:ea typeface="Noto Sans KR"/>
                <a:cs typeface="Calibri"/>
              </a:rPr>
              <a:t>핵심  </a:t>
            </a:r>
            <a:r>
              <a:rPr sz="1200" b="0" lang="ko-KR">
                <a:solidFill>
                  <a:srgbClr val="202124"/>
                </a:solidFill>
                <a:latin typeface="Calibri"/>
                <a:ea typeface="Noto Sans KR"/>
                <a:cs typeface="Calibri"/>
              </a:rPr>
              <a:t>PITR은 새 인스턴스로 복구하고, 원본 DB에는 필요한 행만 따로 반영합니다</a:t>
            </a:r>
          </a:p>
        </p:txBody>
      </p:sp>
      <p:sp>
        <p:nvSpPr>
          <p:cNvPr id="33" name="Rounded Rectangle 32"/>
          <p:cNvSpPr/>
          <p:nvPr/>
        </p:nvSpPr>
        <p:spPr>
          <a:xfrm>
            <a:off x="603504" y="5029200"/>
            <a:ext cx="2499360" cy="896112"/>
          </a:xfrm>
          <a:prstGeom prst="roundRect">
            <a:avLst>
              <a:gd name="adj" fmla="val 8000"/>
            </a:avLst>
          </a:prstGeom>
          <a:solidFill>
            <a:srgbClr val="FFFFFF"/>
          </a:solidFill>
          <a:ln w="9525">
            <a:solidFill>
              <a:srgbClr val="DADCE0"/>
            </a:solidFill>
          </a:ln>
        </p:spPr>
        <p:txBody>
          <a:bodyPr rtlCol="0" anchor="ctr" wrap="square" lIns="73152" rIns="73152"/>
          <a:lstStyle/>
          <a:p>
            <a:pPr algn="ctr"/>
          </a:p>
        </p:txBody>
      </p:sp>
      <p:sp>
        <p:nvSpPr>
          <p:cNvPr id="34" name="Oval 33"/>
          <p:cNvSpPr/>
          <p:nvPr/>
        </p:nvSpPr>
        <p:spPr>
          <a:xfrm>
            <a:off x="713232" y="5212080"/>
            <a:ext cx="512064" cy="512064"/>
          </a:xfrm>
          <a:prstGeom prst="ellipse">
            <a:avLst/>
          </a:prstGeom>
          <a:solidFill>
            <a:srgbClr val="E6F4EA"/>
          </a:solidFill>
          <a:ln>
            <a:noFill/>
          </a:ln>
        </p:spPr>
        <p:txBody>
          <a:bodyPr rtlCol="0" anchor="ctr" wrap="square" lIns="73152" rIns="73152"/>
          <a:lstStyle/>
          <a:p>
            <a:pPr algn="ctr"/>
          </a:p>
        </p:txBody>
      </p:sp>
      <p:pic>
        <p:nvPicPr>
          <p:cNvPr id="35" name="Picture 34" descr="check.png"/>
          <p:cNvPicPr>
            <a:picLocks noChangeAspect="1"/>
          </p:cNvPicPr>
          <p:nvPr/>
        </p:nvPicPr>
        <p:blipFill>
          <a:blip r:embed="rId3"/>
          <a:stretch>
            <a:fillRect/>
          </a:stretch>
        </p:blipFill>
        <p:spPr>
          <a:xfrm>
            <a:off x="805404" y="5304252"/>
            <a:ext cx="327721" cy="327721"/>
          </a:xfrm>
          <a:prstGeom prst="rect">
            <a:avLst/>
          </a:prstGeom>
        </p:spPr>
      </p:pic>
      <p:sp>
        <p:nvSpPr>
          <p:cNvPr id="36" name="TextBox 35"/>
          <p:cNvSpPr txBox="1"/>
          <p:nvPr/>
        </p:nvSpPr>
        <p:spPr>
          <a:xfrm>
            <a:off x="1298448" y="5065776"/>
            <a:ext cx="1731264" cy="822960"/>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202124"/>
                </a:solidFill>
                <a:latin typeface="Calibri"/>
                <a:ea typeface="Noto Sans KR"/>
                <a:cs typeface="Calibri"/>
              </a:rPr>
              <a:t>삭제 감사 로그</a:t>
            </a:r>
          </a:p>
          <a:p>
            <a:pPr algn="l">
              <a:spcBef>
                <a:spcPts val="0"/>
              </a:spcBef>
              <a:spcAft>
                <a:spcPts val="0"/>
              </a:spcAft>
              <a:buNone/>
            </a:pPr>
            <a:r>
              <a:rPr sz="1050" b="0" lang="ko-KR">
                <a:solidFill>
                  <a:srgbClr val="5F6368"/>
                </a:solidFill>
                <a:latin typeface="Calibri"/>
                <a:ea typeface="Noto Sans KR"/>
                <a:cs typeface="Calibri"/>
              </a:rPr>
              <a:t>삭제 계정 · SQL · 시간 확인</a:t>
            </a:r>
          </a:p>
        </p:txBody>
      </p:sp>
      <p:sp>
        <p:nvSpPr>
          <p:cNvPr id="37" name="Rounded Rectangle 36"/>
          <p:cNvSpPr/>
          <p:nvPr/>
        </p:nvSpPr>
        <p:spPr>
          <a:xfrm>
            <a:off x="3322320" y="5029200"/>
            <a:ext cx="2499360" cy="896112"/>
          </a:xfrm>
          <a:prstGeom prst="roundRect">
            <a:avLst>
              <a:gd name="adj" fmla="val 8000"/>
            </a:avLst>
          </a:prstGeom>
          <a:solidFill>
            <a:srgbClr val="FFFFFF"/>
          </a:solidFill>
          <a:ln w="9525">
            <a:solidFill>
              <a:srgbClr val="DADCE0"/>
            </a:solidFill>
          </a:ln>
        </p:spPr>
        <p:txBody>
          <a:bodyPr rtlCol="0" anchor="ctr" wrap="square" lIns="73152" rIns="73152"/>
          <a:lstStyle/>
          <a:p>
            <a:pPr algn="ctr"/>
          </a:p>
        </p:txBody>
      </p:sp>
      <p:sp>
        <p:nvSpPr>
          <p:cNvPr id="38" name="Oval 37"/>
          <p:cNvSpPr/>
          <p:nvPr/>
        </p:nvSpPr>
        <p:spPr>
          <a:xfrm>
            <a:off x="3432048" y="5212080"/>
            <a:ext cx="512064" cy="512064"/>
          </a:xfrm>
          <a:prstGeom prst="ellipse">
            <a:avLst/>
          </a:prstGeom>
          <a:solidFill>
            <a:srgbClr val="E6F4EA"/>
          </a:solidFill>
          <a:ln>
            <a:noFill/>
          </a:ln>
        </p:spPr>
        <p:txBody>
          <a:bodyPr rtlCol="0" anchor="ctr" wrap="square" lIns="73152" rIns="73152"/>
          <a:lstStyle/>
          <a:p>
            <a:pPr algn="ctr"/>
          </a:p>
        </p:txBody>
      </p:sp>
      <p:pic>
        <p:nvPicPr>
          <p:cNvPr id="39" name="Picture 38" descr="check.png"/>
          <p:cNvPicPr>
            <a:picLocks noChangeAspect="1"/>
          </p:cNvPicPr>
          <p:nvPr/>
        </p:nvPicPr>
        <p:blipFill>
          <a:blip r:embed="rId3"/>
          <a:stretch>
            <a:fillRect/>
          </a:stretch>
        </p:blipFill>
        <p:spPr>
          <a:xfrm>
            <a:off x="3524220" y="5304252"/>
            <a:ext cx="327721" cy="327721"/>
          </a:xfrm>
          <a:prstGeom prst="rect">
            <a:avLst/>
          </a:prstGeom>
        </p:spPr>
      </p:pic>
      <p:sp>
        <p:nvSpPr>
          <p:cNvPr id="40" name="TextBox 39"/>
          <p:cNvSpPr txBox="1"/>
          <p:nvPr/>
        </p:nvSpPr>
        <p:spPr>
          <a:xfrm>
            <a:off x="4017264" y="5065776"/>
            <a:ext cx="1731264" cy="822960"/>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202124"/>
                </a:solidFill>
                <a:latin typeface="Calibri"/>
                <a:ea typeface="Noto Sans KR"/>
                <a:cs typeface="Calibri"/>
              </a:rPr>
              <a:t>복구 작업 로그</a:t>
            </a:r>
          </a:p>
          <a:p>
            <a:pPr algn="l">
              <a:spcBef>
                <a:spcPts val="0"/>
              </a:spcBef>
              <a:spcAft>
                <a:spcPts val="0"/>
              </a:spcAft>
              <a:buNone/>
            </a:pPr>
            <a:r>
              <a:rPr sz="1050" b="0" lang="ko-KR">
                <a:solidFill>
                  <a:srgbClr val="5F6368"/>
                </a:solidFill>
                <a:latin typeface="Calibri"/>
                <a:ea typeface="Noto Sans KR"/>
                <a:cs typeface="Calibri"/>
              </a:rPr>
              <a:t>요청 · 종료 · 성공 여부 확인</a:t>
            </a:r>
          </a:p>
        </p:txBody>
      </p:sp>
      <p:sp>
        <p:nvSpPr>
          <p:cNvPr id="41" name="Rounded Rectangle 40"/>
          <p:cNvSpPr/>
          <p:nvPr/>
        </p:nvSpPr>
        <p:spPr>
          <a:xfrm>
            <a:off x="6041136" y="5029200"/>
            <a:ext cx="2499360" cy="896112"/>
          </a:xfrm>
          <a:prstGeom prst="roundRect">
            <a:avLst>
              <a:gd name="adj" fmla="val 8000"/>
            </a:avLst>
          </a:prstGeom>
          <a:solidFill>
            <a:srgbClr val="FFFFFF"/>
          </a:solidFill>
          <a:ln w="9525">
            <a:solidFill>
              <a:srgbClr val="DADCE0"/>
            </a:solidFill>
          </a:ln>
        </p:spPr>
        <p:txBody>
          <a:bodyPr rtlCol="0" anchor="ctr" wrap="square" lIns="73152" rIns="73152"/>
          <a:lstStyle/>
          <a:p>
            <a:pPr algn="ctr"/>
          </a:p>
        </p:txBody>
      </p:sp>
      <p:sp>
        <p:nvSpPr>
          <p:cNvPr id="42" name="Oval 41"/>
          <p:cNvSpPr/>
          <p:nvPr/>
        </p:nvSpPr>
        <p:spPr>
          <a:xfrm>
            <a:off x="6150864" y="5212080"/>
            <a:ext cx="512064" cy="512064"/>
          </a:xfrm>
          <a:prstGeom prst="ellipse">
            <a:avLst/>
          </a:prstGeom>
          <a:solidFill>
            <a:srgbClr val="E6F4EA"/>
          </a:solidFill>
          <a:ln>
            <a:noFill/>
          </a:ln>
        </p:spPr>
        <p:txBody>
          <a:bodyPr rtlCol="0" anchor="ctr" wrap="square" lIns="73152" rIns="73152"/>
          <a:lstStyle/>
          <a:p>
            <a:pPr algn="ctr"/>
          </a:p>
        </p:txBody>
      </p:sp>
      <p:pic>
        <p:nvPicPr>
          <p:cNvPr id="43" name="Picture 42" descr="check.png"/>
          <p:cNvPicPr>
            <a:picLocks noChangeAspect="1"/>
          </p:cNvPicPr>
          <p:nvPr/>
        </p:nvPicPr>
        <p:blipFill>
          <a:blip r:embed="rId3"/>
          <a:stretch>
            <a:fillRect/>
          </a:stretch>
        </p:blipFill>
        <p:spPr>
          <a:xfrm>
            <a:off x="6243036" y="5304252"/>
            <a:ext cx="327721" cy="327721"/>
          </a:xfrm>
          <a:prstGeom prst="rect">
            <a:avLst/>
          </a:prstGeom>
        </p:spPr>
      </p:pic>
      <p:sp>
        <p:nvSpPr>
          <p:cNvPr id="44" name="TextBox 43"/>
          <p:cNvSpPr txBox="1"/>
          <p:nvPr/>
        </p:nvSpPr>
        <p:spPr>
          <a:xfrm>
            <a:off x="6736080" y="5065776"/>
            <a:ext cx="1731264" cy="822960"/>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202124"/>
                </a:solidFill>
                <a:latin typeface="Calibri"/>
                <a:ea typeface="Noto Sans KR"/>
                <a:cs typeface="Calibri"/>
              </a:rPr>
              <a:t>최종 데이터 검증</a:t>
            </a:r>
          </a:p>
          <a:p>
            <a:pPr algn="l">
              <a:spcBef>
                <a:spcPts val="0"/>
              </a:spcBef>
              <a:spcAft>
                <a:spcPts val="0"/>
              </a:spcAft>
              <a:buNone/>
            </a:pPr>
            <a:r>
              <a:rPr sz="1050" b="0" lang="ko-KR">
                <a:solidFill>
                  <a:srgbClr val="5F6368"/>
                </a:solidFill>
                <a:latin typeface="Calibri"/>
                <a:ea typeface="Noto Sans KR"/>
                <a:cs typeface="Calibri"/>
              </a:rPr>
              <a:t>원본 DB의 ID · 내용 일치 확인</a:t>
            </a:r>
          </a:p>
        </p:txBody>
      </p:sp>
      <p:sp>
        <p:nvSpPr>
          <p:cNvPr id="45" name="TextBox 44"/>
          <p:cNvSpPr txBox="1"/>
          <p:nvPr/>
        </p:nvSpPr>
        <p:spPr>
          <a:xfrm>
            <a:off x="603504" y="5961888"/>
            <a:ext cx="7936992" cy="274320"/>
          </a:xfrm>
          <a:prstGeom prst="rect">
            <a:avLst/>
          </a:prstGeom>
          <a:noFill/>
        </p:spPr>
        <p:txBody>
          <a:bodyPr wrap="square" lIns="36576" tIns="18288" rIns="36576" bIns="18288" anchor="t">
            <a:noAutofit/>
          </a:bodyPr>
          <a:lstStyle/>
          <a:p>
            <a:pPr algn="l">
              <a:spcBef>
                <a:spcPts val="0"/>
              </a:spcBef>
              <a:spcAft>
                <a:spcPts val="0"/>
              </a:spcAft>
              <a:buNone/>
            </a:pPr>
            <a:r>
              <a:rPr sz="1000" b="0" lang="ko-KR">
                <a:solidFill>
                  <a:srgbClr val="5F6368"/>
                </a:solidFill>
                <a:latin typeface="Calibri"/>
                <a:ea typeface="Noto Sans KR"/>
                <a:cs typeface="Calibri"/>
              </a:rPr>
              <a:t>※ 삭제 감사 로그는 감사 설정 이후의 작업부터 기록됩니다</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보안 ① 방화벽 · 접근 통제</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nav-active"/>
          <p:cNvSpPr/>
          <p:nvPr/>
        </p:nvSpPr>
        <p:spPr>
          <a:xfrm>
            <a:off x="3259836"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계층 사이에는 필요한 포트만 열고, 나머지는 모두 막았습니다</a:t>
            </a:r>
          </a:p>
        </p:txBody>
      </p:sp>
      <p:graphicFrame>
        <p:nvGraphicFramePr>
          <p:cNvPr id="16" name="Table 15"/>
          <p:cNvGraphicFramePr>
            <a:graphicFrameLocks noGrp="1"/>
          </p:cNvGraphicFramePr>
          <p:nvPr/>
        </p:nvGraphicFramePr>
        <p:xfrm>
          <a:off x="603504" y="2066544"/>
          <a:ext cx="7936992" cy="2157984"/>
        </p:xfrm>
        <a:graphic>
          <a:graphicData uri="http://schemas.openxmlformats.org/drawingml/2006/table">
            <a:tbl>
              <a:tblPr firstRow="0" bandRow="0">
                <a:tableStyleId>{2D5ABB26-0587-4C30-8999-92F81FD0307C}</a:tableStyleId>
              </a:tblPr>
              <a:tblGrid>
                <a:gridCol w="2103120"/>
                <a:gridCol w="2788920"/>
                <a:gridCol w="1078992"/>
                <a:gridCol w="1965960"/>
              </a:tblGrid>
              <a:tr h="329184">
                <a:tc>
                  <a:txBody>
                    <a:bodyPr wrap="square"/>
                    <a:lstStyle/>
                    <a:p>
                      <a:pPr algn="l">
                        <a:spcBef>
                          <a:spcPts val="0"/>
                        </a:spcBef>
                        <a:spcAft>
                          <a:spcPts val="0"/>
                        </a:spcAft>
                        <a:buNone/>
                      </a:pPr>
                      <a:r>
                        <a:rPr sz="1200" b="1" lang="ko-KR">
                          <a:solidFill>
                            <a:srgbClr val="202124"/>
                          </a:solidFill>
                          <a:latin typeface="Calibri"/>
                          <a:ea typeface="Noto Sans KR"/>
                          <a:cs typeface="Calibri"/>
                        </a:rPr>
                        <a:t>규칙</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200" b="1" lang="ko-KR">
                          <a:solidFill>
                            <a:srgbClr val="202124"/>
                          </a:solidFill>
                          <a:latin typeface="Calibri"/>
                          <a:ea typeface="Noto Sans KR"/>
                          <a:cs typeface="Calibri"/>
                        </a:rPr>
                        <a:t>출발지 → 대상</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200" b="1" lang="ko-KR">
                          <a:solidFill>
                            <a:srgbClr val="202124"/>
                          </a:solidFill>
                          <a:latin typeface="Calibri"/>
                          <a:ea typeface="Noto Sans KR"/>
                          <a:cs typeface="Calibri"/>
                        </a:rPr>
                        <a:t>포트</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200" b="1" lang="ko-KR">
                          <a:solidFill>
                            <a:srgbClr val="202124"/>
                          </a:solidFill>
                          <a:latin typeface="Calibri"/>
                          <a:ea typeface="Noto Sans KR"/>
                          <a:cs typeface="Calibri"/>
                        </a:rPr>
                        <a:t>목적</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r>
              <a:tr h="365760">
                <a:tc>
                  <a:txBody>
                    <a:bodyPr wrap="square"/>
                    <a:lstStyle/>
                    <a:p>
                      <a:pPr algn="l">
                        <a:spcBef>
                          <a:spcPts val="0"/>
                        </a:spcBef>
                        <a:spcAft>
                          <a:spcPts val="0"/>
                        </a:spcAft>
                        <a:buNone/>
                      </a:pPr>
                      <a:r>
                        <a:rPr sz="1150" b="1" lang="ko-KR">
                          <a:solidFill>
                            <a:srgbClr val="3C4043"/>
                          </a:solidFill>
                          <a:latin typeface="Calibri"/>
                          <a:ea typeface="Noto Sans KR"/>
                          <a:cs typeface="Calibri"/>
                        </a:rPr>
                        <a:t>npc-fw-allow-lb-to-web</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인터넷(LB 경유) → web 태그</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80, 443</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사용자 → WEB 접속</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65760">
                <a:tc>
                  <a:txBody>
                    <a:bodyPr wrap="square"/>
                    <a:lstStyle/>
                    <a:p>
                      <a:pPr algn="l">
                        <a:spcBef>
                          <a:spcPts val="0"/>
                        </a:spcBef>
                        <a:spcAft>
                          <a:spcPts val="0"/>
                        </a:spcAft>
                        <a:buNone/>
                      </a:pPr>
                      <a:r>
                        <a:rPr sz="1150" b="1" lang="ko-KR">
                          <a:solidFill>
                            <a:srgbClr val="3C4043"/>
                          </a:solidFill>
                          <a:latin typeface="Calibri"/>
                          <a:ea typeface="Noto Sans KR"/>
                          <a:cs typeface="Calibri"/>
                        </a:rPr>
                        <a:t>npc-fw-web-to-was</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WEB 서브넷 10.0.10.0/24 → was 태그</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8080</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WEB → WAS만 허용</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65760">
                <a:tc>
                  <a:txBody>
                    <a:bodyPr wrap="square"/>
                    <a:lstStyle/>
                    <a:p>
                      <a:pPr algn="l">
                        <a:spcBef>
                          <a:spcPts val="0"/>
                        </a:spcBef>
                        <a:spcAft>
                          <a:spcPts val="0"/>
                        </a:spcAft>
                        <a:buNone/>
                      </a:pPr>
                      <a:r>
                        <a:rPr sz="1150" b="1" lang="ko-KR">
                          <a:solidFill>
                            <a:srgbClr val="3C4043"/>
                          </a:solidFill>
                          <a:latin typeface="Calibri"/>
                          <a:ea typeface="Noto Sans KR"/>
                          <a:cs typeface="Calibri"/>
                        </a:rPr>
                        <a:t>npc-fw-allow-healthcheck</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GCP 헬스체크 대역 → web · was</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80, 443, 8080</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LB 상태 확인</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65760">
                <a:tc>
                  <a:txBody>
                    <a:bodyPr wrap="square"/>
                    <a:lstStyle/>
                    <a:p>
                      <a:pPr algn="l">
                        <a:spcBef>
                          <a:spcPts val="0"/>
                        </a:spcBef>
                        <a:spcAft>
                          <a:spcPts val="0"/>
                        </a:spcAft>
                        <a:buNone/>
                      </a:pPr>
                      <a:r>
                        <a:rPr sz="1150" b="1" lang="ko-KR">
                          <a:solidFill>
                            <a:srgbClr val="3C4043"/>
                          </a:solidFill>
                          <a:latin typeface="Calibri"/>
                          <a:ea typeface="Noto Sans KR"/>
                          <a:cs typeface="Calibri"/>
                        </a:rPr>
                        <a:t>npc-fw-allow-iap-ssh</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IAP 35.235.240.0/20 → web · was</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22</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외부 IP 없이 관리 접속</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65760">
                <a:tc>
                  <a:txBody>
                    <a:bodyPr wrap="square"/>
                    <a:lstStyle/>
                    <a:p>
                      <a:pPr algn="l">
                        <a:spcBef>
                          <a:spcPts val="0"/>
                        </a:spcBef>
                        <a:spcAft>
                          <a:spcPts val="0"/>
                        </a:spcAft>
                        <a:buNone/>
                      </a:pPr>
                      <a:r>
                        <a:rPr sz="1150" b="1" lang="ko-KR">
                          <a:solidFill>
                            <a:srgbClr val="C5221F"/>
                          </a:solidFill>
                          <a:latin typeface="Calibri"/>
                          <a:ea typeface="Noto Sans KR"/>
                          <a:cs typeface="Calibri"/>
                        </a:rPr>
                        <a:t>기본 정책</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그 외 모든 인바운드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0" lang="ko-KR">
                          <a:solidFill>
                            <a:srgbClr val="3C4043"/>
                          </a:solidFill>
                          <a:latin typeface="Calibri"/>
                          <a:ea typeface="Noto Sans KR"/>
                          <a:cs typeface="Calibri"/>
                        </a:rPr>
                        <a:t>전체</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50" b="1" lang="ko-KR">
                          <a:solidFill>
                            <a:srgbClr val="C5221F"/>
                          </a:solidFill>
                          <a:latin typeface="Calibri"/>
                          <a:ea typeface="Noto Sans KR"/>
                          <a:cs typeface="Calibri"/>
                        </a:rPr>
                        <a:t>차단</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
        <p:nvSpPr>
          <p:cNvPr id="17" name="Rounded Rectangle 16"/>
          <p:cNvSpPr/>
          <p:nvPr/>
        </p:nvSpPr>
        <p:spPr>
          <a:xfrm>
            <a:off x="603504" y="4370832"/>
            <a:ext cx="2499360" cy="1810512"/>
          </a:xfrm>
          <a:prstGeom prst="roundRect">
            <a:avLst>
              <a:gd name="adj" fmla="val 6000"/>
            </a:avLst>
          </a:prstGeom>
          <a:solidFill>
            <a:srgbClr val="F8F9FA"/>
          </a:solidFill>
          <a:ln w="9525">
            <a:solidFill>
              <a:srgbClr val="DADCE0"/>
            </a:solidFill>
          </a:ln>
        </p:spPr>
        <p:txBody>
          <a:bodyPr rtlCol="0" anchor="ctr" wrap="square" lIns="73152" rIns="73152"/>
          <a:lstStyle/>
          <a:p>
            <a:pPr algn="ctr"/>
          </a:p>
        </p:txBody>
      </p:sp>
      <p:sp>
        <p:nvSpPr>
          <p:cNvPr id="18" name="Oval 17"/>
          <p:cNvSpPr/>
          <p:nvPr/>
        </p:nvSpPr>
        <p:spPr>
          <a:xfrm>
            <a:off x="731520" y="4498848"/>
            <a:ext cx="493776" cy="493776"/>
          </a:xfrm>
          <a:prstGeom prst="ellipse">
            <a:avLst/>
          </a:prstGeom>
          <a:solidFill>
            <a:srgbClr val="FFFFFF"/>
          </a:solidFill>
          <a:ln>
            <a:noFill/>
          </a:ln>
        </p:spPr>
        <p:txBody>
          <a:bodyPr rtlCol="0" anchor="ctr" wrap="square" lIns="73152" rIns="73152"/>
          <a:lstStyle/>
          <a:p>
            <a:pPr algn="ctr"/>
          </a:p>
        </p:txBody>
      </p:sp>
      <p:pic>
        <p:nvPicPr>
          <p:cNvPr id="19" name="Picture 18" descr="shield.png"/>
          <p:cNvPicPr>
            <a:picLocks noChangeAspect="1"/>
          </p:cNvPicPr>
          <p:nvPr/>
        </p:nvPicPr>
        <p:blipFill>
          <a:blip r:embed="rId3"/>
          <a:stretch>
            <a:fillRect/>
          </a:stretch>
        </p:blipFill>
        <p:spPr>
          <a:xfrm>
            <a:off x="815462" y="4582790"/>
            <a:ext cx="325892" cy="325892"/>
          </a:xfrm>
          <a:prstGeom prst="rect">
            <a:avLst/>
          </a:prstGeom>
        </p:spPr>
      </p:pic>
      <p:sp>
        <p:nvSpPr>
          <p:cNvPr id="20" name="TextBox 19"/>
          <p:cNvSpPr txBox="1"/>
          <p:nvPr/>
        </p:nvSpPr>
        <p:spPr>
          <a:xfrm>
            <a:off x="1298448" y="4498848"/>
            <a:ext cx="1712976" cy="493776"/>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202124"/>
                </a:solidFill>
                <a:latin typeface="Calibri"/>
                <a:ea typeface="Noto Sans KR"/>
                <a:cs typeface="Calibri"/>
              </a:rPr>
              <a:t>태그 + 출발지 이중 조건</a:t>
            </a:r>
          </a:p>
        </p:txBody>
      </p:sp>
      <p:sp>
        <p:nvSpPr>
          <p:cNvPr id="21" name="TextBox 20"/>
          <p:cNvSpPr txBox="1"/>
          <p:nvPr/>
        </p:nvSpPr>
        <p:spPr>
          <a:xfrm>
            <a:off x="731520" y="5065776"/>
            <a:ext cx="2261616" cy="1060704"/>
          </a:xfrm>
          <a:prstGeom prst="rect">
            <a:avLst/>
          </a:prstGeom>
          <a:noFill/>
        </p:spPr>
        <p:txBody>
          <a:bodyPr wrap="square" lIns="36576" tIns="18288" rIns="36576" bIns="18288" anchor="t">
            <a:noAutofit/>
          </a:bodyPr>
          <a:lstStyle/>
          <a:p>
            <a:pPr algn="l">
              <a:spcBef>
                <a:spcPts val="0"/>
              </a:spcBef>
              <a:spcAft>
                <a:spcPts val="0"/>
              </a:spcAft>
              <a:buNone/>
            </a:pPr>
            <a:r>
              <a:rPr sz="1150" b="0" lang="ko-KR">
                <a:solidFill>
                  <a:srgbClr val="3C4043"/>
                </a:solidFill>
                <a:latin typeface="Calibri"/>
                <a:ea typeface="Noto Sans KR"/>
                <a:cs typeface="Calibri"/>
              </a:rPr>
              <a:t>네트워크 태그와 출발지 CIDR을 함께 걸어, 태그가 같아도 허용 서브넷에서만 접근</a:t>
            </a:r>
          </a:p>
        </p:txBody>
      </p:sp>
      <p:sp>
        <p:nvSpPr>
          <p:cNvPr id="22" name="Rounded Rectangle 21"/>
          <p:cNvSpPr/>
          <p:nvPr/>
        </p:nvSpPr>
        <p:spPr>
          <a:xfrm>
            <a:off x="3322320" y="4370832"/>
            <a:ext cx="2499360" cy="1810512"/>
          </a:xfrm>
          <a:prstGeom prst="roundRect">
            <a:avLst>
              <a:gd name="adj" fmla="val 6000"/>
            </a:avLst>
          </a:prstGeom>
          <a:solidFill>
            <a:srgbClr val="F8F9FA"/>
          </a:solidFill>
          <a:ln w="9525">
            <a:solidFill>
              <a:srgbClr val="DADCE0"/>
            </a:solidFill>
          </a:ln>
        </p:spPr>
        <p:txBody>
          <a:bodyPr rtlCol="0" anchor="ctr" wrap="square" lIns="73152" rIns="73152"/>
          <a:lstStyle/>
          <a:p>
            <a:pPr algn="ctr"/>
          </a:p>
        </p:txBody>
      </p:sp>
      <p:sp>
        <p:nvSpPr>
          <p:cNvPr id="23" name="Oval 22"/>
          <p:cNvSpPr/>
          <p:nvPr/>
        </p:nvSpPr>
        <p:spPr>
          <a:xfrm>
            <a:off x="3450336" y="4498848"/>
            <a:ext cx="493776" cy="493776"/>
          </a:xfrm>
          <a:prstGeom prst="ellipse">
            <a:avLst/>
          </a:prstGeom>
          <a:solidFill>
            <a:srgbClr val="FFFFFF"/>
          </a:solidFill>
          <a:ln>
            <a:noFill/>
          </a:ln>
        </p:spPr>
        <p:txBody>
          <a:bodyPr rtlCol="0" anchor="ctr" wrap="square" lIns="73152" rIns="73152"/>
          <a:lstStyle/>
          <a:p>
            <a:pPr algn="ctr"/>
          </a:p>
        </p:txBody>
      </p:sp>
      <p:pic>
        <p:nvPicPr>
          <p:cNvPr id="24" name="Picture 23" descr="check.png"/>
          <p:cNvPicPr>
            <a:picLocks noChangeAspect="1"/>
          </p:cNvPicPr>
          <p:nvPr/>
        </p:nvPicPr>
        <p:blipFill>
          <a:blip r:embed="rId4"/>
          <a:stretch>
            <a:fillRect/>
          </a:stretch>
        </p:blipFill>
        <p:spPr>
          <a:xfrm>
            <a:off x="3534278" y="4582790"/>
            <a:ext cx="325892" cy="325892"/>
          </a:xfrm>
          <a:prstGeom prst="rect">
            <a:avLst/>
          </a:prstGeom>
        </p:spPr>
      </p:pic>
      <p:sp>
        <p:nvSpPr>
          <p:cNvPr id="25" name="TextBox 24"/>
          <p:cNvSpPr txBox="1"/>
          <p:nvPr/>
        </p:nvSpPr>
        <p:spPr>
          <a:xfrm>
            <a:off x="4017264" y="4498848"/>
            <a:ext cx="1712976" cy="493776"/>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202124"/>
                </a:solidFill>
                <a:latin typeface="Calibri"/>
                <a:ea typeface="Noto Sans KR"/>
                <a:cs typeface="Calibri"/>
              </a:rPr>
              <a:t>격리 검증</a:t>
            </a:r>
          </a:p>
        </p:txBody>
      </p:sp>
      <p:sp>
        <p:nvSpPr>
          <p:cNvPr id="26" name="TextBox 25"/>
          <p:cNvSpPr txBox="1"/>
          <p:nvPr/>
        </p:nvSpPr>
        <p:spPr>
          <a:xfrm>
            <a:off x="3450336" y="5065776"/>
            <a:ext cx="2261616" cy="1060704"/>
          </a:xfrm>
          <a:prstGeom prst="rect">
            <a:avLst/>
          </a:prstGeom>
          <a:noFill/>
        </p:spPr>
        <p:txBody>
          <a:bodyPr wrap="square" lIns="36576" tIns="18288" rIns="36576" bIns="18288" anchor="t">
            <a:noAutofit/>
          </a:bodyPr>
          <a:lstStyle/>
          <a:p>
            <a:pPr algn="l">
              <a:spcBef>
                <a:spcPts val="0"/>
              </a:spcBef>
              <a:spcAft>
                <a:spcPts val="0"/>
              </a:spcAft>
              <a:buNone/>
            </a:pPr>
            <a:r>
              <a:rPr sz="1150" b="0" lang="ko-KR">
                <a:solidFill>
                  <a:srgbClr val="3C4043"/>
                </a:solidFill>
                <a:latin typeface="Calibri"/>
                <a:ea typeface="Noto Sans KR"/>
                <a:cs typeface="Calibri"/>
              </a:rPr>
              <a:t>WAS → WAS 호출 차단</a:t>
            </a:r>
          </a:p>
          <a:p>
            <a:pPr algn="l">
              <a:spcBef>
                <a:spcPts val="0"/>
              </a:spcBef>
              <a:spcAft>
                <a:spcPts val="0"/>
              </a:spcAft>
              <a:buNone/>
            </a:pPr>
            <a:r>
              <a:rPr sz="1150" b="0" lang="ko-KR">
                <a:solidFill>
                  <a:srgbClr val="3C4043"/>
                </a:solidFill>
                <a:latin typeface="Calibri"/>
                <a:ea typeface="Noto Sans KR"/>
                <a:cs typeface="Calibri"/>
              </a:rPr>
              <a:t>WEB → WAS 200 OK 확인</a:t>
            </a:r>
          </a:p>
        </p:txBody>
      </p:sp>
      <p:sp>
        <p:nvSpPr>
          <p:cNvPr id="27" name="Rounded Rectangle 26"/>
          <p:cNvSpPr/>
          <p:nvPr/>
        </p:nvSpPr>
        <p:spPr>
          <a:xfrm>
            <a:off x="6041136" y="4370832"/>
            <a:ext cx="2499360" cy="1810512"/>
          </a:xfrm>
          <a:prstGeom prst="roundRect">
            <a:avLst>
              <a:gd name="adj" fmla="val 6000"/>
            </a:avLst>
          </a:prstGeom>
          <a:solidFill>
            <a:srgbClr val="F8F9FA"/>
          </a:solidFill>
          <a:ln w="9525">
            <a:solidFill>
              <a:srgbClr val="DADCE0"/>
            </a:solidFill>
          </a:ln>
        </p:spPr>
        <p:txBody>
          <a:bodyPr rtlCol="0" anchor="ctr" wrap="square" lIns="73152" rIns="73152"/>
          <a:lstStyle/>
          <a:p>
            <a:pPr algn="ctr"/>
          </a:p>
        </p:txBody>
      </p:sp>
      <p:sp>
        <p:nvSpPr>
          <p:cNvPr id="28" name="Oval 27"/>
          <p:cNvSpPr/>
          <p:nvPr/>
        </p:nvSpPr>
        <p:spPr>
          <a:xfrm>
            <a:off x="6169152" y="4498848"/>
            <a:ext cx="493776" cy="493776"/>
          </a:xfrm>
          <a:prstGeom prst="ellipse">
            <a:avLst/>
          </a:prstGeom>
          <a:solidFill>
            <a:srgbClr val="FFFFFF"/>
          </a:solidFill>
          <a:ln>
            <a:noFill/>
          </a:ln>
        </p:spPr>
        <p:txBody>
          <a:bodyPr rtlCol="0" anchor="ctr" wrap="square" lIns="73152" rIns="73152"/>
          <a:lstStyle/>
          <a:p>
            <a:pPr algn="ctr"/>
          </a:p>
        </p:txBody>
      </p:sp>
      <p:pic>
        <p:nvPicPr>
          <p:cNvPr id="29" name="Picture 28" descr="lock.png"/>
          <p:cNvPicPr>
            <a:picLocks noChangeAspect="1"/>
          </p:cNvPicPr>
          <p:nvPr/>
        </p:nvPicPr>
        <p:blipFill>
          <a:blip r:embed="rId5"/>
          <a:stretch>
            <a:fillRect/>
          </a:stretch>
        </p:blipFill>
        <p:spPr>
          <a:xfrm>
            <a:off x="6253094" y="4582790"/>
            <a:ext cx="325892" cy="325892"/>
          </a:xfrm>
          <a:prstGeom prst="rect">
            <a:avLst/>
          </a:prstGeom>
        </p:spPr>
      </p:pic>
      <p:sp>
        <p:nvSpPr>
          <p:cNvPr id="30" name="TextBox 29"/>
          <p:cNvSpPr txBox="1"/>
          <p:nvPr/>
        </p:nvSpPr>
        <p:spPr>
          <a:xfrm>
            <a:off x="6736080" y="4498848"/>
            <a:ext cx="1712976" cy="493776"/>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202124"/>
                </a:solidFill>
                <a:latin typeface="Calibri"/>
                <a:ea typeface="Noto Sans KR"/>
                <a:cs typeface="Calibri"/>
              </a:rPr>
              <a:t>관리 접속 통제</a:t>
            </a:r>
          </a:p>
        </p:txBody>
      </p:sp>
      <p:sp>
        <p:nvSpPr>
          <p:cNvPr id="31" name="TextBox 30"/>
          <p:cNvSpPr txBox="1"/>
          <p:nvPr/>
        </p:nvSpPr>
        <p:spPr>
          <a:xfrm>
            <a:off x="6169152" y="5065776"/>
            <a:ext cx="2261616" cy="1060704"/>
          </a:xfrm>
          <a:prstGeom prst="rect">
            <a:avLst/>
          </a:prstGeom>
          <a:noFill/>
        </p:spPr>
        <p:txBody>
          <a:bodyPr wrap="square" lIns="36576" tIns="18288" rIns="36576" bIns="18288" anchor="t">
            <a:noAutofit/>
          </a:bodyPr>
          <a:lstStyle/>
          <a:p>
            <a:pPr algn="l">
              <a:spcBef>
                <a:spcPts val="0"/>
              </a:spcBef>
              <a:spcAft>
                <a:spcPts val="0"/>
              </a:spcAft>
              <a:buNone/>
            </a:pPr>
            <a:r>
              <a:rPr sz="1150" b="0" lang="ko-KR">
                <a:solidFill>
                  <a:srgbClr val="3C4043"/>
                </a:solidFill>
                <a:latin typeface="Calibri"/>
                <a:ea typeface="Noto Sans KR"/>
                <a:cs typeface="Calibri"/>
              </a:rPr>
              <a:t>VM 외부 IP 없음 → IAP 터널로만 SSH, 키 대신 IAM 권한으로 접속 통제</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보안 ② Cloud Armor</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nav-active"/>
          <p:cNvSpPr/>
          <p:nvPr/>
        </p:nvSpPr>
        <p:spPr>
          <a:xfrm>
            <a:off x="3259836"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공격 패턴은 403, 과다 요청은 429로 LB 단계에서 막습니다</a:t>
            </a:r>
          </a:p>
        </p:txBody>
      </p:sp>
      <p:pic>
        <p:nvPicPr>
          <p:cNvPr id="16" name="Picture 15" descr="users.png"/>
          <p:cNvPicPr>
            <a:picLocks noChangeAspect="1"/>
          </p:cNvPicPr>
          <p:nvPr/>
        </p:nvPicPr>
        <p:blipFill>
          <a:blip r:embed="rId3"/>
          <a:stretch>
            <a:fillRect/>
          </a:stretch>
        </p:blipFill>
        <p:spPr>
          <a:xfrm>
            <a:off x="621792" y="2395728"/>
            <a:ext cx="566928" cy="566928"/>
          </a:xfrm>
          <a:prstGeom prst="rect">
            <a:avLst/>
          </a:prstGeom>
        </p:spPr>
      </p:pic>
      <p:sp>
        <p:nvSpPr>
          <p:cNvPr id="17" name="TextBox 16"/>
          <p:cNvSpPr txBox="1"/>
          <p:nvPr/>
        </p:nvSpPr>
        <p:spPr>
          <a:xfrm>
            <a:off x="512064" y="2962656"/>
            <a:ext cx="786384" cy="274320"/>
          </a:xfrm>
          <a:prstGeom prst="rect">
            <a:avLst/>
          </a:prstGeom>
          <a:noFill/>
        </p:spPr>
        <p:txBody>
          <a:bodyPr wrap="square" lIns="36576" tIns="18288" rIns="36576" bIns="18288" anchor="t">
            <a:noAutofit/>
          </a:bodyPr>
          <a:lstStyle/>
          <a:p>
            <a:pPr algn="ctr">
              <a:spcBef>
                <a:spcPts val="0"/>
              </a:spcBef>
              <a:spcAft>
                <a:spcPts val="0"/>
              </a:spcAft>
              <a:buNone/>
            </a:pPr>
            <a:r>
              <a:rPr sz="1100" b="0" lang="ko-KR">
                <a:solidFill>
                  <a:srgbClr val="5F6368"/>
                </a:solidFill>
                <a:latin typeface="Calibri"/>
                <a:ea typeface="Noto Sans KR"/>
                <a:cs typeface="Calibri"/>
              </a:rPr>
              <a:t>요청</a:t>
            </a:r>
          </a:p>
        </p:txBody>
      </p:sp>
      <p:cxnSp>
        <p:nvCxnSpPr>
          <p:cNvPr id="18" name="Connector 17"/>
          <p:cNvCxnSpPr/>
          <p:nvPr/>
        </p:nvCxnSpPr>
        <p:spPr>
          <a:xfrm>
            <a:off x="1243584" y="2679192"/>
            <a:ext cx="292608" cy="0"/>
          </a:xfrm>
          <a:prstGeom prst="line">
            <a:avLst/>
          </a:prstGeom>
          <a:ln w="22225">
            <a:solidFill>
              <a:srgbClr val="5F6368"/>
            </a:solidFill>
            <a:tailEnd type="triangle" w="med" len="med"/>
          </a:ln>
        </p:spPr>
      </p:cxnSp>
      <p:sp>
        <p:nvSpPr>
          <p:cNvPr id="19" name="Rounded Rectangle 18"/>
          <p:cNvSpPr/>
          <p:nvPr/>
        </p:nvSpPr>
        <p:spPr>
          <a:xfrm>
            <a:off x="1572768" y="2048256"/>
            <a:ext cx="5394960" cy="1280160"/>
          </a:xfrm>
          <a:prstGeom prst="roundRect">
            <a:avLst>
              <a:gd name="adj" fmla="val 6000"/>
            </a:avLst>
          </a:prstGeom>
          <a:solidFill>
            <a:srgbClr val="E8F0FE"/>
          </a:solidFill>
          <a:ln w="9525">
            <a:solidFill>
              <a:srgbClr val="AECBFA"/>
            </a:solidFill>
          </a:ln>
        </p:spPr>
        <p:txBody>
          <a:bodyPr rtlCol="0" anchor="ctr" wrap="square" lIns="73152" rIns="73152"/>
          <a:lstStyle/>
          <a:p>
            <a:pPr algn="ctr"/>
          </a:p>
        </p:txBody>
      </p:sp>
      <p:sp>
        <p:nvSpPr>
          <p:cNvPr id="20" name="TextBox 19"/>
          <p:cNvSpPr txBox="1"/>
          <p:nvPr/>
        </p:nvSpPr>
        <p:spPr>
          <a:xfrm>
            <a:off x="1645920" y="2066544"/>
            <a:ext cx="2743200" cy="274320"/>
          </a:xfrm>
          <a:prstGeom prst="rect">
            <a:avLst/>
          </a:prstGeom>
          <a:noFill/>
        </p:spPr>
        <p:txBody>
          <a:bodyPr wrap="square" lIns="36576" tIns="18288" rIns="36576" bIns="18288" anchor="t">
            <a:noAutofit/>
          </a:bodyPr>
          <a:lstStyle/>
          <a:p>
            <a:pPr algn="l">
              <a:spcBef>
                <a:spcPts val="0"/>
              </a:spcBef>
              <a:spcAft>
                <a:spcPts val="0"/>
              </a:spcAft>
              <a:buNone/>
            </a:pPr>
            <a:r>
              <a:rPr sz="1050" b="1" lang="ko-KR">
                <a:solidFill>
                  <a:srgbClr val="1967D2"/>
                </a:solidFill>
                <a:latin typeface="Calibri"/>
                <a:ea typeface="Noto Sans KR"/>
                <a:cs typeface="Calibri"/>
              </a:rPr>
              <a:t>Cloud Armor 정책  npc-armor-web</a:t>
            </a:r>
          </a:p>
        </p:txBody>
      </p:sp>
      <p:sp>
        <p:nvSpPr>
          <p:cNvPr id="21" name="Rounded Rectangle 20"/>
          <p:cNvSpPr/>
          <p:nvPr/>
        </p:nvSpPr>
        <p:spPr>
          <a:xfrm>
            <a:off x="1719072" y="2377440"/>
            <a:ext cx="2395728" cy="804672"/>
          </a:xfrm>
          <a:prstGeom prst="roundRect">
            <a:avLst>
              <a:gd name="adj" fmla="val 10000"/>
            </a:avLst>
          </a:prstGeom>
          <a:solidFill>
            <a:srgbClr val="FFFFFF"/>
          </a:solidFill>
          <a:ln w="15875">
            <a:solidFill>
              <a:srgbClr val="4084F4"/>
            </a:solidFill>
          </a:ln>
        </p:spPr>
        <p:txBody>
          <a:bodyPr rtlCol="0" anchor="ctr" wrap="square" lIns="73152" rIns="73152"/>
          <a:lstStyle/>
          <a:p>
            <a:pPr algn="ctr">
              <a:spcBef>
                <a:spcPts val="0"/>
              </a:spcBef>
              <a:spcAft>
                <a:spcPts val="0"/>
              </a:spcAft>
              <a:buNone/>
            </a:pPr>
            <a:r>
              <a:rPr sz="1250" b="1" lang="ko-KR">
                <a:solidFill>
                  <a:srgbClr val="1967D2"/>
                </a:solidFill>
                <a:latin typeface="Calibri"/>
                <a:ea typeface="Noto Sans KR"/>
                <a:cs typeface="Calibri"/>
              </a:rPr>
              <a:t>① 공격 패턴 검사</a:t>
            </a:r>
          </a:p>
          <a:p>
            <a:pPr algn="ctr">
              <a:spcBef>
                <a:spcPts val="0"/>
              </a:spcBef>
              <a:spcAft>
                <a:spcPts val="0"/>
              </a:spcAft>
              <a:buNone/>
            </a:pPr>
            <a:r>
              <a:rPr sz="1050" b="0" lang="ko-KR">
                <a:solidFill>
                  <a:srgbClr val="3C4043"/>
                </a:solidFill>
                <a:latin typeface="Calibri"/>
                <a:ea typeface="Noto Sans KR"/>
                <a:cs typeface="Calibri"/>
              </a:rPr>
              <a:t>OWASP CRS 4.22 · SQLi · XSS 등 9종</a:t>
            </a:r>
          </a:p>
        </p:txBody>
      </p:sp>
      <p:cxnSp>
        <p:nvCxnSpPr>
          <p:cNvPr id="22" name="Connector 21"/>
          <p:cNvCxnSpPr/>
          <p:nvPr/>
        </p:nvCxnSpPr>
        <p:spPr>
          <a:xfrm>
            <a:off x="2916936" y="3200400"/>
            <a:ext cx="0" cy="329184"/>
          </a:xfrm>
          <a:prstGeom prst="line">
            <a:avLst/>
          </a:prstGeom>
          <a:ln w="22225">
            <a:solidFill>
              <a:srgbClr val="EA4335"/>
            </a:solidFill>
            <a:tailEnd type="triangle" w="med" len="med"/>
          </a:ln>
        </p:spPr>
      </p:cxnSp>
      <p:sp>
        <p:nvSpPr>
          <p:cNvPr id="23" name="Rounded Rectangle 22"/>
          <p:cNvSpPr/>
          <p:nvPr/>
        </p:nvSpPr>
        <p:spPr>
          <a:xfrm>
            <a:off x="4352544" y="2377440"/>
            <a:ext cx="2395728" cy="804672"/>
          </a:xfrm>
          <a:prstGeom prst="roundRect">
            <a:avLst>
              <a:gd name="adj" fmla="val 10000"/>
            </a:avLst>
          </a:prstGeom>
          <a:solidFill>
            <a:srgbClr val="FFFFFF"/>
          </a:solidFill>
          <a:ln w="15875">
            <a:solidFill>
              <a:srgbClr val="4084F4"/>
            </a:solidFill>
          </a:ln>
        </p:spPr>
        <p:txBody>
          <a:bodyPr rtlCol="0" anchor="ctr" wrap="square" lIns="73152" rIns="73152"/>
          <a:lstStyle/>
          <a:p>
            <a:pPr algn="ctr">
              <a:spcBef>
                <a:spcPts val="0"/>
              </a:spcBef>
              <a:spcAft>
                <a:spcPts val="0"/>
              </a:spcAft>
              <a:buNone/>
            </a:pPr>
            <a:r>
              <a:rPr sz="1250" b="1" lang="ko-KR">
                <a:solidFill>
                  <a:srgbClr val="1967D2"/>
                </a:solidFill>
                <a:latin typeface="Calibri"/>
                <a:ea typeface="Noto Sans KR"/>
                <a:cs typeface="Calibri"/>
              </a:rPr>
              <a:t>② 요청 횟수 검사</a:t>
            </a:r>
          </a:p>
          <a:p>
            <a:pPr algn="ctr">
              <a:spcBef>
                <a:spcPts val="0"/>
              </a:spcBef>
              <a:spcAft>
                <a:spcPts val="0"/>
              </a:spcAft>
              <a:buNone/>
            </a:pPr>
            <a:r>
              <a:rPr sz="1050" b="0" lang="ko-KR">
                <a:solidFill>
                  <a:srgbClr val="3C4043"/>
                </a:solidFill>
                <a:latin typeface="Calibri"/>
                <a:ea typeface="Noto Sans KR"/>
                <a:cs typeface="Calibri"/>
              </a:rPr>
              <a:t>IP당 1분 300회 초과</a:t>
            </a:r>
          </a:p>
        </p:txBody>
      </p:sp>
      <p:cxnSp>
        <p:nvCxnSpPr>
          <p:cNvPr id="24" name="Connector 23"/>
          <p:cNvCxnSpPr/>
          <p:nvPr/>
        </p:nvCxnSpPr>
        <p:spPr>
          <a:xfrm>
            <a:off x="5550408" y="3200400"/>
            <a:ext cx="0" cy="329184"/>
          </a:xfrm>
          <a:prstGeom prst="line">
            <a:avLst/>
          </a:prstGeom>
          <a:ln w="22225">
            <a:solidFill>
              <a:srgbClr val="EA4335"/>
            </a:solidFill>
            <a:tailEnd type="triangle" w="med" len="med"/>
          </a:ln>
        </p:spPr>
      </p:cxnSp>
      <p:cxnSp>
        <p:nvCxnSpPr>
          <p:cNvPr id="25" name="Connector 24"/>
          <p:cNvCxnSpPr/>
          <p:nvPr/>
        </p:nvCxnSpPr>
        <p:spPr>
          <a:xfrm>
            <a:off x="4133088" y="2779776"/>
            <a:ext cx="201168" cy="0"/>
          </a:xfrm>
          <a:prstGeom prst="line">
            <a:avLst/>
          </a:prstGeom>
          <a:ln w="22225">
            <a:solidFill>
              <a:srgbClr val="1A73E8"/>
            </a:solidFill>
            <a:tailEnd type="triangle" w="med" len="med"/>
          </a:ln>
        </p:spPr>
      </p:cxnSp>
      <p:sp>
        <p:nvSpPr>
          <p:cNvPr id="26" name="Rounded Rectangle 25"/>
          <p:cNvSpPr/>
          <p:nvPr/>
        </p:nvSpPr>
        <p:spPr>
          <a:xfrm>
            <a:off x="1911096" y="3547872"/>
            <a:ext cx="2011680" cy="603504"/>
          </a:xfrm>
          <a:prstGeom prst="roundRect">
            <a:avLst>
              <a:gd name="adj" fmla="val 12000"/>
            </a:avLst>
          </a:prstGeom>
          <a:solidFill>
            <a:srgbClr val="FCE8E6"/>
          </a:solidFill>
          <a:ln w="9525">
            <a:solidFill>
              <a:srgbClr val="F28B82"/>
            </a:solidFill>
          </a:ln>
        </p:spPr>
        <p:txBody>
          <a:bodyPr rtlCol="0" anchor="ctr" wrap="square" lIns="73152" rIns="73152"/>
          <a:lstStyle/>
          <a:p>
            <a:pPr algn="ctr">
              <a:spcBef>
                <a:spcPts val="0"/>
              </a:spcBef>
              <a:spcAft>
                <a:spcPts val="0"/>
              </a:spcAft>
              <a:buNone/>
            </a:pPr>
            <a:r>
              <a:rPr sz="1300" b="1" lang="ko-KR">
                <a:solidFill>
                  <a:srgbClr val="C5221F"/>
                </a:solidFill>
                <a:latin typeface="Calibri"/>
                <a:ea typeface="Noto Sans KR"/>
                <a:cs typeface="Calibri"/>
              </a:rPr>
              <a:t>403 차단</a:t>
            </a:r>
          </a:p>
          <a:p>
            <a:pPr algn="ctr">
              <a:spcBef>
                <a:spcPts val="0"/>
              </a:spcBef>
              <a:spcAft>
                <a:spcPts val="0"/>
              </a:spcAft>
              <a:buNone/>
            </a:pPr>
            <a:r>
              <a:rPr sz="1000" b="0" lang="ko-KR">
                <a:solidFill>
                  <a:srgbClr val="C5221F"/>
                </a:solidFill>
                <a:latin typeface="Calibri"/>
                <a:ea typeface="Noto Sans KR"/>
                <a:cs typeface="Calibri"/>
              </a:rPr>
              <a:t>공격 요청</a:t>
            </a:r>
          </a:p>
        </p:txBody>
      </p:sp>
      <p:sp>
        <p:nvSpPr>
          <p:cNvPr id="27" name="Rounded Rectangle 26"/>
          <p:cNvSpPr/>
          <p:nvPr/>
        </p:nvSpPr>
        <p:spPr>
          <a:xfrm>
            <a:off x="4544568" y="3547872"/>
            <a:ext cx="2011680" cy="603504"/>
          </a:xfrm>
          <a:prstGeom prst="roundRect">
            <a:avLst>
              <a:gd name="adj" fmla="val 12000"/>
            </a:avLst>
          </a:prstGeom>
          <a:solidFill>
            <a:srgbClr val="FCE8E6"/>
          </a:solidFill>
          <a:ln w="9525">
            <a:solidFill>
              <a:srgbClr val="F28B82"/>
            </a:solidFill>
          </a:ln>
        </p:spPr>
        <p:txBody>
          <a:bodyPr rtlCol="0" anchor="ctr" wrap="square" lIns="73152" rIns="73152"/>
          <a:lstStyle/>
          <a:p>
            <a:pPr algn="ctr">
              <a:spcBef>
                <a:spcPts val="0"/>
              </a:spcBef>
              <a:spcAft>
                <a:spcPts val="0"/>
              </a:spcAft>
              <a:buNone/>
            </a:pPr>
            <a:r>
              <a:rPr sz="1300" b="1" lang="ko-KR">
                <a:solidFill>
                  <a:srgbClr val="C5221F"/>
                </a:solidFill>
                <a:latin typeface="Calibri"/>
                <a:ea typeface="Noto Sans KR"/>
                <a:cs typeface="Calibri"/>
              </a:rPr>
              <a:t>429 차단</a:t>
            </a:r>
          </a:p>
          <a:p>
            <a:pPr algn="ctr">
              <a:spcBef>
                <a:spcPts val="0"/>
              </a:spcBef>
              <a:spcAft>
                <a:spcPts val="0"/>
              </a:spcAft>
              <a:buNone/>
            </a:pPr>
            <a:r>
              <a:rPr sz="1000" b="0" lang="ko-KR">
                <a:solidFill>
                  <a:srgbClr val="C5221F"/>
                </a:solidFill>
                <a:latin typeface="Calibri"/>
                <a:ea typeface="Noto Sans KR"/>
                <a:cs typeface="Calibri"/>
              </a:rPr>
              <a:t>60초 차단 후 자동 해제</a:t>
            </a:r>
          </a:p>
        </p:txBody>
      </p:sp>
      <p:cxnSp>
        <p:nvCxnSpPr>
          <p:cNvPr id="28" name="Connector 27"/>
          <p:cNvCxnSpPr/>
          <p:nvPr/>
        </p:nvCxnSpPr>
        <p:spPr>
          <a:xfrm>
            <a:off x="6986016" y="2679192"/>
            <a:ext cx="347472" cy="0"/>
          </a:xfrm>
          <a:prstGeom prst="line">
            <a:avLst/>
          </a:prstGeom>
          <a:ln w="25400">
            <a:solidFill>
              <a:srgbClr val="188038"/>
            </a:solidFill>
            <a:tailEnd type="triangle" w="med" len="med"/>
          </a:ln>
        </p:spPr>
      </p:cxnSp>
      <p:sp>
        <p:nvSpPr>
          <p:cNvPr id="29" name="Rounded Rectangle 28"/>
          <p:cNvSpPr/>
          <p:nvPr/>
        </p:nvSpPr>
        <p:spPr>
          <a:xfrm>
            <a:off x="7370064" y="2194560"/>
            <a:ext cx="1170432" cy="1005840"/>
          </a:xfrm>
          <a:prstGeom prst="roundRect">
            <a:avLst>
              <a:gd name="adj" fmla="val 8000"/>
            </a:avLst>
          </a:prstGeom>
          <a:solidFill>
            <a:srgbClr val="E6F4EA"/>
          </a:solidFill>
          <a:ln w="9525">
            <a:solidFill>
              <a:srgbClr val="81C995"/>
            </a:solidFill>
          </a:ln>
        </p:spPr>
        <p:txBody>
          <a:bodyPr rtlCol="0" anchor="ctr" wrap="square" lIns="73152" rIns="73152"/>
          <a:lstStyle/>
          <a:p>
            <a:pPr algn="ctr"/>
          </a:p>
        </p:txBody>
      </p:sp>
      <p:pic>
        <p:nvPicPr>
          <p:cNvPr id="30" name="Picture 29" descr="gce.png"/>
          <p:cNvPicPr>
            <a:picLocks noChangeAspect="1"/>
          </p:cNvPicPr>
          <p:nvPr/>
        </p:nvPicPr>
        <p:blipFill>
          <a:blip r:embed="rId4"/>
          <a:stretch>
            <a:fillRect/>
          </a:stretch>
        </p:blipFill>
        <p:spPr>
          <a:xfrm>
            <a:off x="7735824" y="2267712"/>
            <a:ext cx="438912" cy="438912"/>
          </a:xfrm>
          <a:prstGeom prst="rect">
            <a:avLst/>
          </a:prstGeom>
        </p:spPr>
      </p:pic>
      <p:sp>
        <p:nvSpPr>
          <p:cNvPr id="31" name="TextBox 30"/>
          <p:cNvSpPr txBox="1"/>
          <p:nvPr/>
        </p:nvSpPr>
        <p:spPr>
          <a:xfrm>
            <a:off x="7370064" y="2724912"/>
            <a:ext cx="1170432" cy="457200"/>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188038"/>
                </a:solidFill>
                <a:latin typeface="Calibri"/>
                <a:ea typeface="Noto Sans KR"/>
                <a:cs typeface="Calibri"/>
              </a:rPr>
              <a:t>WEB MIG</a:t>
            </a:r>
          </a:p>
          <a:p>
            <a:pPr algn="ctr">
              <a:spcBef>
                <a:spcPts val="0"/>
              </a:spcBef>
              <a:spcAft>
                <a:spcPts val="0"/>
              </a:spcAft>
              <a:buNone/>
            </a:pPr>
            <a:r>
              <a:rPr sz="950" b="0" lang="ko-KR">
                <a:solidFill>
                  <a:srgbClr val="5F6368"/>
                </a:solidFill>
                <a:latin typeface="Calibri"/>
                <a:ea typeface="Noto Sans KR"/>
                <a:cs typeface="Calibri"/>
              </a:rPr>
              <a:t>통과 요청만</a:t>
            </a:r>
          </a:p>
        </p:txBody>
      </p:sp>
      <p:sp>
        <p:nvSpPr>
          <p:cNvPr id="32" name="Rounded Rectangle 31"/>
          <p:cNvSpPr/>
          <p:nvPr/>
        </p:nvSpPr>
        <p:spPr>
          <a:xfrm>
            <a:off x="603504" y="4370832"/>
            <a:ext cx="2499360" cy="1810512"/>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33" name="TextBox 32"/>
          <p:cNvSpPr txBox="1"/>
          <p:nvPr/>
        </p:nvSpPr>
        <p:spPr>
          <a:xfrm>
            <a:off x="731520" y="4443984"/>
            <a:ext cx="2261616" cy="1682496"/>
          </a:xfrm>
          <a:prstGeom prst="rect">
            <a:avLst/>
          </a:prstGeom>
          <a:noFill/>
        </p:spPr>
        <p:txBody>
          <a:bodyPr wrap="square" lIns="36576" tIns="18288" rIns="36576" bIns="18288" anchor="t">
            <a:noAutofit/>
          </a:bodyPr>
          <a:lstStyle/>
          <a:p>
            <a:pPr algn="l">
              <a:spcBef>
                <a:spcPts val="0"/>
              </a:spcBef>
              <a:spcAft>
                <a:spcPts val="400"/>
              </a:spcAft>
              <a:buNone/>
            </a:pPr>
            <a:r>
              <a:rPr sz="1250" b="1" lang="ko-KR">
                <a:solidFill>
                  <a:srgbClr val="202124"/>
                </a:solidFill>
                <a:latin typeface="Calibri"/>
                <a:ea typeface="Noto Sans KR"/>
                <a:cs typeface="Calibri"/>
              </a:rPr>
              <a:t>적용 방식</a:t>
            </a:r>
          </a:p>
          <a:p>
            <a:pPr algn="l">
              <a:spcBef>
                <a:spcPts val="0"/>
              </a:spcBef>
              <a:spcAft>
                <a:spcPts val="400"/>
              </a:spcAft>
              <a:buNone/>
            </a:pPr>
            <a:r>
              <a:rPr sz="1100" b="0" lang="ko-KR">
                <a:solidFill>
                  <a:srgbClr val="3C4043"/>
                </a:solidFill>
                <a:latin typeface="Calibri"/>
                <a:ea typeface="Noto Sans KR"/>
                <a:cs typeface="Calibri"/>
              </a:rPr>
              <a:t>Preview(탐지 전용) 모드로 2일간 로그 확인 → 스캐너 요청 170여 건 탐지, 오탐 0건 → Enforce(차단) 전환</a:t>
            </a:r>
          </a:p>
        </p:txBody>
      </p:sp>
      <p:sp>
        <p:nvSpPr>
          <p:cNvPr id="34" name="Rounded Rectangle 33"/>
          <p:cNvSpPr/>
          <p:nvPr/>
        </p:nvSpPr>
        <p:spPr>
          <a:xfrm>
            <a:off x="3322320" y="4370832"/>
            <a:ext cx="2499360" cy="1810512"/>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35" name="TextBox 34"/>
          <p:cNvSpPr txBox="1"/>
          <p:nvPr/>
        </p:nvSpPr>
        <p:spPr>
          <a:xfrm>
            <a:off x="3450336" y="4443984"/>
            <a:ext cx="2261616" cy="1682496"/>
          </a:xfrm>
          <a:prstGeom prst="rect">
            <a:avLst/>
          </a:prstGeom>
          <a:noFill/>
        </p:spPr>
        <p:txBody>
          <a:bodyPr wrap="square" lIns="36576" tIns="18288" rIns="36576" bIns="18288" anchor="t">
            <a:noAutofit/>
          </a:bodyPr>
          <a:lstStyle/>
          <a:p>
            <a:pPr algn="l">
              <a:spcBef>
                <a:spcPts val="0"/>
              </a:spcBef>
              <a:spcAft>
                <a:spcPts val="400"/>
              </a:spcAft>
              <a:buNone/>
            </a:pPr>
            <a:r>
              <a:rPr sz="1250" b="1" lang="ko-KR">
                <a:solidFill>
                  <a:srgbClr val="202124"/>
                </a:solidFill>
                <a:latin typeface="Calibri"/>
                <a:ea typeface="Noto Sans KR"/>
                <a:cs typeface="Calibri"/>
              </a:rPr>
              <a:t>검증</a:t>
            </a:r>
          </a:p>
          <a:p>
            <a:pPr algn="l">
              <a:spcBef>
                <a:spcPts val="0"/>
              </a:spcBef>
              <a:spcAft>
                <a:spcPts val="400"/>
              </a:spcAft>
              <a:buNone/>
            </a:pPr>
            <a:r>
              <a:rPr sz="1100" b="0" lang="ko-KR">
                <a:solidFill>
                  <a:srgbClr val="3C4043"/>
                </a:solidFill>
                <a:latin typeface="Calibri"/>
                <a:ea typeface="Noto Sans KR"/>
                <a:cs typeface="Calibri"/>
              </a:rPr>
              <a:t>Locust로 과다 요청 → 약 30초 뒤 429 차단 시작, 60초 후 자동 해제 (Cloud Logging 차단 로그 확인)</a:t>
            </a:r>
          </a:p>
        </p:txBody>
      </p:sp>
      <p:sp>
        <p:nvSpPr>
          <p:cNvPr id="36" name="Rounded Rectangle 35"/>
          <p:cNvSpPr/>
          <p:nvPr/>
        </p:nvSpPr>
        <p:spPr>
          <a:xfrm>
            <a:off x="6041136" y="4370832"/>
            <a:ext cx="2499360" cy="1810512"/>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sp>
        <p:nvSpPr>
          <p:cNvPr id="37" name="TextBox 36"/>
          <p:cNvSpPr txBox="1"/>
          <p:nvPr/>
        </p:nvSpPr>
        <p:spPr>
          <a:xfrm>
            <a:off x="6169152" y="4443984"/>
            <a:ext cx="2261616" cy="1682496"/>
          </a:xfrm>
          <a:prstGeom prst="rect">
            <a:avLst/>
          </a:prstGeom>
          <a:noFill/>
        </p:spPr>
        <p:txBody>
          <a:bodyPr wrap="square" lIns="36576" tIns="18288" rIns="36576" bIns="18288" anchor="t">
            <a:noAutofit/>
          </a:bodyPr>
          <a:lstStyle/>
          <a:p>
            <a:pPr algn="l">
              <a:spcBef>
                <a:spcPts val="0"/>
              </a:spcBef>
              <a:spcAft>
                <a:spcPts val="400"/>
              </a:spcAft>
              <a:buNone/>
            </a:pPr>
            <a:r>
              <a:rPr sz="1250" b="1" lang="ko-KR">
                <a:solidFill>
                  <a:srgbClr val="202124"/>
                </a:solidFill>
                <a:latin typeface="Calibri"/>
                <a:ea typeface="Noto Sans KR"/>
                <a:cs typeface="Calibri"/>
              </a:rPr>
              <a:t>한계와 보완</a:t>
            </a:r>
          </a:p>
          <a:p>
            <a:pPr algn="l">
              <a:spcBef>
                <a:spcPts val="0"/>
              </a:spcBef>
              <a:spcAft>
                <a:spcPts val="400"/>
              </a:spcAft>
              <a:buNone/>
            </a:pPr>
            <a:r>
              <a:rPr sz="1100" b="0" lang="ko-KR">
                <a:solidFill>
                  <a:srgbClr val="3C4043"/>
                </a:solidFill>
                <a:latin typeface="Calibri"/>
                <a:ea typeface="Noto Sans KR"/>
                <a:cs typeface="Calibri"/>
              </a:rPr>
              <a:t>같은 공인 IP를 쓰는 병원 사용자가 함께 제한될 수 있음 → 임계값 조정 · 예외 규칙 검토</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운영 · 모니터링 · 알림</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nav-active"/>
          <p:cNvSpPr/>
          <p:nvPr/>
        </p:nvSpPr>
        <p:spPr>
          <a:xfrm>
            <a:off x="3259836"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로그·지표를 모아 4가지 장애 신호를 Slack으로 바로 알립니다</a:t>
            </a:r>
          </a:p>
        </p:txBody>
      </p:sp>
      <p:sp>
        <p:nvSpPr>
          <p:cNvPr id="16" name="TextBox 15"/>
          <p:cNvSpPr txBox="1"/>
          <p:nvPr/>
        </p:nvSpPr>
        <p:spPr>
          <a:xfrm>
            <a:off x="603504" y="2029968"/>
            <a:ext cx="2240280" cy="274320"/>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5F6368"/>
                </a:solidFill>
                <a:latin typeface="Calibri"/>
                <a:ea typeface="Noto Sans KR"/>
                <a:cs typeface="Calibri"/>
              </a:rPr>
              <a:t>수집</a:t>
            </a:r>
          </a:p>
        </p:txBody>
      </p:sp>
      <p:sp>
        <p:nvSpPr>
          <p:cNvPr id="17" name="TextBox 16"/>
          <p:cNvSpPr txBox="1"/>
          <p:nvPr/>
        </p:nvSpPr>
        <p:spPr>
          <a:xfrm>
            <a:off x="3099816" y="2029968"/>
            <a:ext cx="1417320" cy="274320"/>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5F6368"/>
                </a:solidFill>
                <a:latin typeface="Calibri"/>
                <a:ea typeface="Noto Sans KR"/>
                <a:cs typeface="Calibri"/>
              </a:rPr>
              <a:t>저장 · 분석</a:t>
            </a:r>
          </a:p>
        </p:txBody>
      </p:sp>
      <p:sp>
        <p:nvSpPr>
          <p:cNvPr id="18" name="TextBox 17"/>
          <p:cNvSpPr txBox="1"/>
          <p:nvPr/>
        </p:nvSpPr>
        <p:spPr>
          <a:xfrm>
            <a:off x="4773168" y="2029968"/>
            <a:ext cx="2103120" cy="274320"/>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5F6368"/>
                </a:solidFill>
                <a:latin typeface="Calibri"/>
                <a:ea typeface="Noto Sans KR"/>
                <a:cs typeface="Calibri"/>
              </a:rPr>
              <a:t>알림 정책 4개</a:t>
            </a:r>
          </a:p>
        </p:txBody>
      </p:sp>
      <p:sp>
        <p:nvSpPr>
          <p:cNvPr id="19" name="TextBox 18"/>
          <p:cNvSpPr txBox="1"/>
          <p:nvPr/>
        </p:nvSpPr>
        <p:spPr>
          <a:xfrm>
            <a:off x="7132320" y="2029968"/>
            <a:ext cx="1408176" cy="274320"/>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5F6368"/>
                </a:solidFill>
                <a:latin typeface="Calibri"/>
                <a:ea typeface="Noto Sans KR"/>
                <a:cs typeface="Calibri"/>
              </a:rPr>
              <a:t>전달</a:t>
            </a:r>
          </a:p>
        </p:txBody>
      </p:sp>
      <p:sp>
        <p:nvSpPr>
          <p:cNvPr id="20" name="Rounded Rectangle 19"/>
          <p:cNvSpPr/>
          <p:nvPr/>
        </p:nvSpPr>
        <p:spPr>
          <a:xfrm>
            <a:off x="603504" y="2359152"/>
            <a:ext cx="2240280" cy="493776"/>
          </a:xfrm>
          <a:prstGeom prst="roundRect">
            <a:avLst>
              <a:gd name="adj" fmla="val 12000"/>
            </a:avLst>
          </a:prstGeom>
          <a:solidFill>
            <a:srgbClr val="F8F9FA"/>
          </a:solidFill>
          <a:ln w="9525">
            <a:solidFill>
              <a:srgbClr val="DADCE0"/>
            </a:solidFill>
          </a:ln>
        </p:spPr>
        <p:txBody>
          <a:bodyPr rtlCol="0" anchor="ctr" wrap="square" lIns="73152" rIns="73152"/>
          <a:lstStyle/>
          <a:p>
            <a:pPr algn="ctr"/>
          </a:p>
        </p:txBody>
      </p:sp>
      <p:pic>
        <p:nvPicPr>
          <p:cNvPr id="21" name="Picture 20" descr="lb.png"/>
          <p:cNvPicPr>
            <a:picLocks noChangeAspect="1"/>
          </p:cNvPicPr>
          <p:nvPr/>
        </p:nvPicPr>
        <p:blipFill>
          <a:blip r:embed="rId3"/>
          <a:stretch>
            <a:fillRect/>
          </a:stretch>
        </p:blipFill>
        <p:spPr>
          <a:xfrm>
            <a:off x="694944" y="2432304"/>
            <a:ext cx="347472" cy="347472"/>
          </a:xfrm>
          <a:prstGeom prst="rect">
            <a:avLst/>
          </a:prstGeom>
        </p:spPr>
      </p:pic>
      <p:sp>
        <p:nvSpPr>
          <p:cNvPr id="22" name="TextBox 21"/>
          <p:cNvSpPr txBox="1"/>
          <p:nvPr/>
        </p:nvSpPr>
        <p:spPr>
          <a:xfrm>
            <a:off x="1097280" y="2359152"/>
            <a:ext cx="1691640" cy="493776"/>
          </a:xfrm>
          <a:prstGeom prst="rect">
            <a:avLst/>
          </a:prstGeom>
          <a:noFill/>
        </p:spPr>
        <p:txBody>
          <a:bodyPr wrap="square" lIns="36576" tIns="18288" rIns="36576" bIns="18288" anchor="ctr">
            <a:noAutofit/>
          </a:bodyPr>
          <a:lstStyle/>
          <a:p>
            <a:pPr algn="l">
              <a:spcBef>
                <a:spcPts val="0"/>
              </a:spcBef>
              <a:spcAft>
                <a:spcPts val="0"/>
              </a:spcAft>
              <a:buNone/>
            </a:pPr>
            <a:r>
              <a:rPr sz="1100" b="0" lang="ko-KR">
                <a:solidFill>
                  <a:srgbClr val="202124"/>
                </a:solidFill>
                <a:latin typeface="Calibri"/>
                <a:ea typeface="Noto Sans KR"/>
                <a:cs typeface="Calibri"/>
              </a:rPr>
              <a:t>LB · Cloud Armor 로그</a:t>
            </a:r>
          </a:p>
        </p:txBody>
      </p:sp>
      <p:sp>
        <p:nvSpPr>
          <p:cNvPr id="23" name="Rounded Rectangle 22"/>
          <p:cNvSpPr/>
          <p:nvPr/>
        </p:nvSpPr>
        <p:spPr>
          <a:xfrm>
            <a:off x="603504" y="2944368"/>
            <a:ext cx="2240280" cy="493776"/>
          </a:xfrm>
          <a:prstGeom prst="roundRect">
            <a:avLst>
              <a:gd name="adj" fmla="val 12000"/>
            </a:avLst>
          </a:prstGeom>
          <a:solidFill>
            <a:srgbClr val="F8F9FA"/>
          </a:solidFill>
          <a:ln w="9525">
            <a:solidFill>
              <a:srgbClr val="DADCE0"/>
            </a:solidFill>
          </a:ln>
        </p:spPr>
        <p:txBody>
          <a:bodyPr rtlCol="0" anchor="ctr" wrap="square" lIns="73152" rIns="73152"/>
          <a:lstStyle/>
          <a:p>
            <a:pPr algn="ctr"/>
          </a:p>
        </p:txBody>
      </p:sp>
      <p:pic>
        <p:nvPicPr>
          <p:cNvPr id="24" name="Picture 23" descr="gce.png"/>
          <p:cNvPicPr>
            <a:picLocks noChangeAspect="1"/>
          </p:cNvPicPr>
          <p:nvPr/>
        </p:nvPicPr>
        <p:blipFill>
          <a:blip r:embed="rId4"/>
          <a:stretch>
            <a:fillRect/>
          </a:stretch>
        </p:blipFill>
        <p:spPr>
          <a:xfrm>
            <a:off x="694944" y="3017520"/>
            <a:ext cx="347472" cy="347472"/>
          </a:xfrm>
          <a:prstGeom prst="rect">
            <a:avLst/>
          </a:prstGeom>
        </p:spPr>
      </p:pic>
      <p:sp>
        <p:nvSpPr>
          <p:cNvPr id="25" name="TextBox 24"/>
          <p:cNvSpPr txBox="1"/>
          <p:nvPr/>
        </p:nvSpPr>
        <p:spPr>
          <a:xfrm>
            <a:off x="1097280" y="2944368"/>
            <a:ext cx="1691640" cy="493776"/>
          </a:xfrm>
          <a:prstGeom prst="rect">
            <a:avLst/>
          </a:prstGeom>
          <a:noFill/>
        </p:spPr>
        <p:txBody>
          <a:bodyPr wrap="square" lIns="36576" tIns="18288" rIns="36576" bIns="18288" anchor="ctr">
            <a:noAutofit/>
          </a:bodyPr>
          <a:lstStyle/>
          <a:p>
            <a:pPr algn="l">
              <a:spcBef>
                <a:spcPts val="0"/>
              </a:spcBef>
              <a:spcAft>
                <a:spcPts val="0"/>
              </a:spcAft>
              <a:buNone/>
            </a:pPr>
            <a:r>
              <a:rPr sz="1100" b="0" lang="ko-KR">
                <a:solidFill>
                  <a:srgbClr val="202124"/>
                </a:solidFill>
                <a:latin typeface="Calibri"/>
                <a:ea typeface="Noto Sans KR"/>
                <a:cs typeface="Calibri"/>
              </a:rPr>
              <a:t>WEB · WAS (Ops Agent)</a:t>
            </a:r>
          </a:p>
        </p:txBody>
      </p:sp>
      <p:sp>
        <p:nvSpPr>
          <p:cNvPr id="26" name="Rounded Rectangle 25"/>
          <p:cNvSpPr/>
          <p:nvPr/>
        </p:nvSpPr>
        <p:spPr>
          <a:xfrm>
            <a:off x="603504" y="3529584"/>
            <a:ext cx="2240280" cy="493776"/>
          </a:xfrm>
          <a:prstGeom prst="roundRect">
            <a:avLst>
              <a:gd name="adj" fmla="val 12000"/>
            </a:avLst>
          </a:prstGeom>
          <a:solidFill>
            <a:srgbClr val="F8F9FA"/>
          </a:solidFill>
          <a:ln w="9525">
            <a:solidFill>
              <a:srgbClr val="DADCE0"/>
            </a:solidFill>
          </a:ln>
        </p:spPr>
        <p:txBody>
          <a:bodyPr rtlCol="0" anchor="ctr" wrap="square" lIns="73152" rIns="73152"/>
          <a:lstStyle/>
          <a:p>
            <a:pPr algn="ctr"/>
          </a:p>
        </p:txBody>
      </p:sp>
      <p:pic>
        <p:nvPicPr>
          <p:cNvPr id="27" name="Picture 26" descr="sql.png"/>
          <p:cNvPicPr>
            <a:picLocks noChangeAspect="1"/>
          </p:cNvPicPr>
          <p:nvPr/>
        </p:nvPicPr>
        <p:blipFill>
          <a:blip r:embed="rId5"/>
          <a:stretch>
            <a:fillRect/>
          </a:stretch>
        </p:blipFill>
        <p:spPr>
          <a:xfrm>
            <a:off x="694944" y="3602736"/>
            <a:ext cx="347472" cy="347472"/>
          </a:xfrm>
          <a:prstGeom prst="rect">
            <a:avLst/>
          </a:prstGeom>
        </p:spPr>
      </p:pic>
      <p:sp>
        <p:nvSpPr>
          <p:cNvPr id="28" name="TextBox 27"/>
          <p:cNvSpPr txBox="1"/>
          <p:nvPr/>
        </p:nvSpPr>
        <p:spPr>
          <a:xfrm>
            <a:off x="1097280" y="3529584"/>
            <a:ext cx="1691640" cy="493776"/>
          </a:xfrm>
          <a:prstGeom prst="rect">
            <a:avLst/>
          </a:prstGeom>
          <a:noFill/>
        </p:spPr>
        <p:txBody>
          <a:bodyPr wrap="square" lIns="36576" tIns="18288" rIns="36576" bIns="18288" anchor="ctr">
            <a:noAutofit/>
          </a:bodyPr>
          <a:lstStyle/>
          <a:p>
            <a:pPr algn="l">
              <a:spcBef>
                <a:spcPts val="0"/>
              </a:spcBef>
              <a:spcAft>
                <a:spcPts val="0"/>
              </a:spcAft>
              <a:buNone/>
            </a:pPr>
            <a:r>
              <a:rPr sz="1100" b="0" lang="ko-KR">
                <a:solidFill>
                  <a:srgbClr val="202124"/>
                </a:solidFill>
                <a:latin typeface="Calibri"/>
                <a:ea typeface="Noto Sans KR"/>
                <a:cs typeface="Calibri"/>
              </a:rPr>
              <a:t>Cloud SQL 지표</a:t>
            </a:r>
          </a:p>
        </p:txBody>
      </p:sp>
      <p:sp>
        <p:nvSpPr>
          <p:cNvPr id="29" name="Rounded Rectangle 28"/>
          <p:cNvSpPr/>
          <p:nvPr/>
        </p:nvSpPr>
        <p:spPr>
          <a:xfrm>
            <a:off x="603504" y="4114800"/>
            <a:ext cx="2240280" cy="493776"/>
          </a:xfrm>
          <a:prstGeom prst="roundRect">
            <a:avLst>
              <a:gd name="adj" fmla="val 12000"/>
            </a:avLst>
          </a:prstGeom>
          <a:solidFill>
            <a:srgbClr val="F8F9FA"/>
          </a:solidFill>
          <a:ln w="9525">
            <a:solidFill>
              <a:srgbClr val="DADCE0"/>
            </a:solidFill>
          </a:ln>
        </p:spPr>
        <p:txBody>
          <a:bodyPr rtlCol="0" anchor="ctr" wrap="square" lIns="73152" rIns="73152"/>
          <a:lstStyle/>
          <a:p>
            <a:pPr algn="ctr"/>
          </a:p>
        </p:txBody>
      </p:sp>
      <p:pic>
        <p:nvPicPr>
          <p:cNvPr id="30" name="Picture 29" descr="monitoring.png"/>
          <p:cNvPicPr>
            <a:picLocks noChangeAspect="1"/>
          </p:cNvPicPr>
          <p:nvPr/>
        </p:nvPicPr>
        <p:blipFill>
          <a:blip r:embed="rId6"/>
          <a:stretch>
            <a:fillRect/>
          </a:stretch>
        </p:blipFill>
        <p:spPr>
          <a:xfrm>
            <a:off x="694944" y="4187952"/>
            <a:ext cx="347472" cy="347472"/>
          </a:xfrm>
          <a:prstGeom prst="rect">
            <a:avLst/>
          </a:prstGeom>
        </p:spPr>
      </p:pic>
      <p:sp>
        <p:nvSpPr>
          <p:cNvPr id="31" name="TextBox 30"/>
          <p:cNvSpPr txBox="1"/>
          <p:nvPr/>
        </p:nvSpPr>
        <p:spPr>
          <a:xfrm>
            <a:off x="1097280" y="4114800"/>
            <a:ext cx="1691640" cy="493776"/>
          </a:xfrm>
          <a:prstGeom prst="rect">
            <a:avLst/>
          </a:prstGeom>
          <a:noFill/>
        </p:spPr>
        <p:txBody>
          <a:bodyPr wrap="square" lIns="36576" tIns="18288" rIns="36576" bIns="18288" anchor="ctr">
            <a:noAutofit/>
          </a:bodyPr>
          <a:lstStyle/>
          <a:p>
            <a:pPr algn="l">
              <a:spcBef>
                <a:spcPts val="0"/>
              </a:spcBef>
              <a:spcAft>
                <a:spcPts val="0"/>
              </a:spcAft>
              <a:buNone/>
            </a:pPr>
            <a:r>
              <a:rPr sz="1100" b="0" lang="ko-KR">
                <a:solidFill>
                  <a:srgbClr val="202124"/>
                </a:solidFill>
                <a:latin typeface="Calibri"/>
                <a:ea typeface="Noto Sans KR"/>
                <a:cs typeface="Calibri"/>
              </a:rPr>
              <a:t>Uptime Check (1분)</a:t>
            </a:r>
          </a:p>
        </p:txBody>
      </p:sp>
      <p:sp>
        <p:nvSpPr>
          <p:cNvPr id="32" name="Rounded Rectangle 31"/>
          <p:cNvSpPr/>
          <p:nvPr/>
        </p:nvSpPr>
        <p:spPr>
          <a:xfrm>
            <a:off x="3099816" y="2359152"/>
            <a:ext cx="1417320" cy="2249424"/>
          </a:xfrm>
          <a:prstGeom prst="roundRect">
            <a:avLst>
              <a:gd name="adj" fmla="val 6000"/>
            </a:avLst>
          </a:prstGeom>
          <a:solidFill>
            <a:srgbClr val="F1F3F4"/>
          </a:solidFill>
          <a:ln w="9525">
            <a:solidFill>
              <a:srgbClr val="BDC1C6"/>
            </a:solidFill>
          </a:ln>
        </p:spPr>
        <p:txBody>
          <a:bodyPr rtlCol="0" anchor="ctr" wrap="square" lIns="73152" rIns="73152"/>
          <a:lstStyle/>
          <a:p>
            <a:pPr algn="ctr"/>
          </a:p>
        </p:txBody>
      </p:sp>
      <p:pic>
        <p:nvPicPr>
          <p:cNvPr id="33" name="Picture 32" descr="logging.png"/>
          <p:cNvPicPr>
            <a:picLocks noChangeAspect="1"/>
          </p:cNvPicPr>
          <p:nvPr/>
        </p:nvPicPr>
        <p:blipFill>
          <a:blip r:embed="rId7"/>
          <a:stretch>
            <a:fillRect/>
          </a:stretch>
        </p:blipFill>
        <p:spPr>
          <a:xfrm>
            <a:off x="3552444" y="2560320"/>
            <a:ext cx="512064" cy="512064"/>
          </a:xfrm>
          <a:prstGeom prst="rect">
            <a:avLst/>
          </a:prstGeom>
        </p:spPr>
      </p:pic>
      <p:sp>
        <p:nvSpPr>
          <p:cNvPr id="34" name="TextBox 33"/>
          <p:cNvSpPr txBox="1"/>
          <p:nvPr/>
        </p:nvSpPr>
        <p:spPr>
          <a:xfrm>
            <a:off x="3099816" y="3090672"/>
            <a:ext cx="1417320" cy="329184"/>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202124"/>
                </a:solidFill>
                <a:latin typeface="Calibri"/>
                <a:ea typeface="Noto Sans KR"/>
                <a:cs typeface="Calibri"/>
              </a:rPr>
              <a:t>Cloud Logging</a:t>
            </a:r>
          </a:p>
        </p:txBody>
      </p:sp>
      <p:pic>
        <p:nvPicPr>
          <p:cNvPr id="35" name="Picture 34" descr="monitoring.png"/>
          <p:cNvPicPr>
            <a:picLocks noChangeAspect="1"/>
          </p:cNvPicPr>
          <p:nvPr/>
        </p:nvPicPr>
        <p:blipFill>
          <a:blip r:embed="rId6"/>
          <a:stretch>
            <a:fillRect/>
          </a:stretch>
        </p:blipFill>
        <p:spPr>
          <a:xfrm>
            <a:off x="3552444" y="3529584"/>
            <a:ext cx="512064" cy="512064"/>
          </a:xfrm>
          <a:prstGeom prst="rect">
            <a:avLst/>
          </a:prstGeom>
        </p:spPr>
      </p:pic>
      <p:sp>
        <p:nvSpPr>
          <p:cNvPr id="36" name="TextBox 35"/>
          <p:cNvSpPr txBox="1"/>
          <p:nvPr/>
        </p:nvSpPr>
        <p:spPr>
          <a:xfrm>
            <a:off x="3099816" y="4059936"/>
            <a:ext cx="1417320" cy="329184"/>
          </a:xfrm>
          <a:prstGeom prst="rect">
            <a:avLst/>
          </a:prstGeom>
          <a:noFill/>
        </p:spPr>
        <p:txBody>
          <a:bodyPr wrap="square" lIns="36576" tIns="18288" rIns="36576" bIns="18288" anchor="t">
            <a:noAutofit/>
          </a:bodyPr>
          <a:lstStyle/>
          <a:p>
            <a:pPr algn="ctr">
              <a:spcBef>
                <a:spcPts val="0"/>
              </a:spcBef>
              <a:spcAft>
                <a:spcPts val="0"/>
              </a:spcAft>
              <a:buNone/>
            </a:pPr>
            <a:r>
              <a:rPr sz="1100" b="1" lang="ko-KR">
                <a:solidFill>
                  <a:srgbClr val="202124"/>
                </a:solidFill>
                <a:latin typeface="Calibri"/>
                <a:ea typeface="Noto Sans KR"/>
                <a:cs typeface="Calibri"/>
              </a:rPr>
              <a:t>Cloud Monitoring</a:t>
            </a:r>
          </a:p>
        </p:txBody>
      </p:sp>
      <p:sp>
        <p:nvSpPr>
          <p:cNvPr id="37" name="Rounded Rectangle 36"/>
          <p:cNvSpPr/>
          <p:nvPr/>
        </p:nvSpPr>
        <p:spPr>
          <a:xfrm>
            <a:off x="4773168" y="2359152"/>
            <a:ext cx="2103120" cy="493776"/>
          </a:xfrm>
          <a:prstGeom prst="roundRect">
            <a:avLst>
              <a:gd name="adj" fmla="val 12000"/>
            </a:avLst>
          </a:prstGeom>
          <a:solidFill>
            <a:srgbClr val="FEF7E0"/>
          </a:solidFill>
          <a:ln w="9525">
            <a:solidFill>
              <a:srgbClr val="FDD663"/>
            </a:solidFill>
          </a:ln>
        </p:spPr>
        <p:txBody>
          <a:bodyPr rtlCol="0" anchor="ctr" wrap="square" lIns="73152" rIns="73152"/>
          <a:lstStyle/>
          <a:p>
            <a:pPr algn="ctr">
              <a:spcBef>
                <a:spcPts val="0"/>
              </a:spcBef>
              <a:spcAft>
                <a:spcPts val="0"/>
              </a:spcAft>
              <a:buNone/>
            </a:pPr>
            <a:r>
              <a:rPr sz="1150" b="1" lang="ko-KR">
                <a:solidFill>
                  <a:srgbClr val="202124"/>
                </a:solidFill>
                <a:latin typeface="Calibri"/>
                <a:ea typeface="Noto Sans KR"/>
                <a:cs typeface="Calibri"/>
              </a:rPr>
              <a:t>사이트 접속 불가</a:t>
            </a:r>
          </a:p>
        </p:txBody>
      </p:sp>
      <p:sp>
        <p:nvSpPr>
          <p:cNvPr id="38" name="Rounded Rectangle 37"/>
          <p:cNvSpPr/>
          <p:nvPr/>
        </p:nvSpPr>
        <p:spPr>
          <a:xfrm>
            <a:off x="4773168" y="2944368"/>
            <a:ext cx="2103120" cy="493776"/>
          </a:xfrm>
          <a:prstGeom prst="roundRect">
            <a:avLst>
              <a:gd name="adj" fmla="val 12000"/>
            </a:avLst>
          </a:prstGeom>
          <a:solidFill>
            <a:srgbClr val="FEF7E0"/>
          </a:solidFill>
          <a:ln w="9525">
            <a:solidFill>
              <a:srgbClr val="FDD663"/>
            </a:solidFill>
          </a:ln>
        </p:spPr>
        <p:txBody>
          <a:bodyPr rtlCol="0" anchor="ctr" wrap="square" lIns="73152" rIns="73152"/>
          <a:lstStyle/>
          <a:p>
            <a:pPr algn="ctr">
              <a:spcBef>
                <a:spcPts val="0"/>
              </a:spcBef>
              <a:spcAft>
                <a:spcPts val="0"/>
              </a:spcAft>
              <a:buNone/>
            </a:pPr>
            <a:r>
              <a:rPr sz="1150" b="1" lang="ko-KR">
                <a:solidFill>
                  <a:srgbClr val="202124"/>
                </a:solidFill>
                <a:latin typeface="Calibri"/>
                <a:ea typeface="Noto Sans KR"/>
                <a:cs typeface="Calibri"/>
              </a:rPr>
              <a:t>LB 5xx 급증</a:t>
            </a:r>
          </a:p>
        </p:txBody>
      </p:sp>
      <p:sp>
        <p:nvSpPr>
          <p:cNvPr id="39" name="Rounded Rectangle 38"/>
          <p:cNvSpPr/>
          <p:nvPr/>
        </p:nvSpPr>
        <p:spPr>
          <a:xfrm>
            <a:off x="4773168" y="3529584"/>
            <a:ext cx="2103120" cy="493776"/>
          </a:xfrm>
          <a:prstGeom prst="roundRect">
            <a:avLst>
              <a:gd name="adj" fmla="val 12000"/>
            </a:avLst>
          </a:prstGeom>
          <a:solidFill>
            <a:srgbClr val="FEF7E0"/>
          </a:solidFill>
          <a:ln w="9525">
            <a:solidFill>
              <a:srgbClr val="FDD663"/>
            </a:solidFill>
          </a:ln>
        </p:spPr>
        <p:txBody>
          <a:bodyPr rtlCol="0" anchor="ctr" wrap="square" lIns="73152" rIns="73152"/>
          <a:lstStyle/>
          <a:p>
            <a:pPr algn="ctr">
              <a:spcBef>
                <a:spcPts val="0"/>
              </a:spcBef>
              <a:spcAft>
                <a:spcPts val="0"/>
              </a:spcAft>
              <a:buNone/>
            </a:pPr>
            <a:r>
              <a:rPr sz="1150" b="1" lang="ko-KR">
                <a:solidFill>
                  <a:srgbClr val="202124"/>
                </a:solidFill>
                <a:latin typeface="Calibri"/>
                <a:ea typeface="Noto Sans KR"/>
                <a:cs typeface="Calibri"/>
              </a:rPr>
              <a:t>DB 응답 없음</a:t>
            </a:r>
          </a:p>
        </p:txBody>
      </p:sp>
      <p:sp>
        <p:nvSpPr>
          <p:cNvPr id="40" name="Rounded Rectangle 39"/>
          <p:cNvSpPr/>
          <p:nvPr/>
        </p:nvSpPr>
        <p:spPr>
          <a:xfrm>
            <a:off x="4773168" y="4114800"/>
            <a:ext cx="2103120" cy="493776"/>
          </a:xfrm>
          <a:prstGeom prst="roundRect">
            <a:avLst>
              <a:gd name="adj" fmla="val 12000"/>
            </a:avLst>
          </a:prstGeom>
          <a:solidFill>
            <a:srgbClr val="FEF7E0"/>
          </a:solidFill>
          <a:ln w="9525">
            <a:solidFill>
              <a:srgbClr val="FDD663"/>
            </a:solidFill>
          </a:ln>
        </p:spPr>
        <p:txBody>
          <a:bodyPr rtlCol="0" anchor="ctr" wrap="square" lIns="73152" rIns="73152"/>
          <a:lstStyle/>
          <a:p>
            <a:pPr algn="ctr">
              <a:spcBef>
                <a:spcPts val="0"/>
              </a:spcBef>
              <a:spcAft>
                <a:spcPts val="0"/>
              </a:spcAft>
              <a:buNone/>
            </a:pPr>
            <a:r>
              <a:rPr sz="1150" b="1" lang="ko-KR">
                <a:solidFill>
                  <a:srgbClr val="202124"/>
                </a:solidFill>
                <a:latin typeface="Calibri"/>
                <a:ea typeface="Noto Sans KR"/>
                <a:cs typeface="Calibri"/>
              </a:rPr>
              <a:t>429 차단 발생</a:t>
            </a:r>
          </a:p>
        </p:txBody>
      </p:sp>
      <p:sp>
        <p:nvSpPr>
          <p:cNvPr id="41" name="Rounded Rectangle 40"/>
          <p:cNvSpPr/>
          <p:nvPr/>
        </p:nvSpPr>
        <p:spPr>
          <a:xfrm>
            <a:off x="7132320" y="2359152"/>
            <a:ext cx="1408176" cy="2249424"/>
          </a:xfrm>
          <a:prstGeom prst="roundRect">
            <a:avLst>
              <a:gd name="adj" fmla="val 6000"/>
            </a:avLst>
          </a:prstGeom>
          <a:solidFill>
            <a:srgbClr val="FFFFFF"/>
          </a:solidFill>
          <a:ln w="9525">
            <a:solidFill>
              <a:srgbClr val="DADCE0"/>
            </a:solidFill>
          </a:ln>
        </p:spPr>
        <p:txBody>
          <a:bodyPr rtlCol="0" anchor="ctr" wrap="square" lIns="73152" rIns="73152"/>
          <a:lstStyle/>
          <a:p>
            <a:pPr algn="ctr"/>
          </a:p>
        </p:txBody>
      </p:sp>
      <p:pic>
        <p:nvPicPr>
          <p:cNvPr id="42" name="Picture 41" descr="slack.png"/>
          <p:cNvPicPr>
            <a:picLocks noChangeAspect="1"/>
          </p:cNvPicPr>
          <p:nvPr/>
        </p:nvPicPr>
        <p:blipFill>
          <a:blip r:embed="rId8"/>
          <a:stretch>
            <a:fillRect/>
          </a:stretch>
        </p:blipFill>
        <p:spPr>
          <a:xfrm>
            <a:off x="7562088" y="2724912"/>
            <a:ext cx="548640" cy="548640"/>
          </a:xfrm>
          <a:prstGeom prst="rect">
            <a:avLst/>
          </a:prstGeom>
        </p:spPr>
      </p:pic>
      <p:sp>
        <p:nvSpPr>
          <p:cNvPr id="43" name="TextBox 42"/>
          <p:cNvSpPr txBox="1"/>
          <p:nvPr/>
        </p:nvSpPr>
        <p:spPr>
          <a:xfrm>
            <a:off x="7132320" y="3383280"/>
            <a:ext cx="1408176" cy="731520"/>
          </a:xfrm>
          <a:prstGeom prst="rect">
            <a:avLst/>
          </a:prstGeom>
          <a:noFill/>
        </p:spPr>
        <p:txBody>
          <a:bodyPr wrap="square" lIns="36576" tIns="18288" rIns="36576" bIns="18288" anchor="t">
            <a:noAutofit/>
          </a:bodyPr>
          <a:lstStyle/>
          <a:p>
            <a:pPr algn="ctr">
              <a:spcBef>
                <a:spcPts val="0"/>
              </a:spcBef>
              <a:spcAft>
                <a:spcPts val="0"/>
              </a:spcAft>
              <a:buNone/>
            </a:pPr>
            <a:r>
              <a:rPr sz="1150" b="1" lang="ko-KR">
                <a:solidFill>
                  <a:srgbClr val="202124"/>
                </a:solidFill>
                <a:latin typeface="Calibri"/>
                <a:ea typeface="Noto Sans KR"/>
                <a:cs typeface="Calibri"/>
              </a:rPr>
              <a:t>Slack #alert</a:t>
            </a:r>
          </a:p>
          <a:p>
            <a:pPr algn="ctr">
              <a:spcBef>
                <a:spcPts val="0"/>
              </a:spcBef>
              <a:spcAft>
                <a:spcPts val="0"/>
              </a:spcAft>
              <a:buNone/>
            </a:pPr>
            <a:r>
              <a:rPr sz="1000" b="0" lang="ko-KR">
                <a:solidFill>
                  <a:srgbClr val="5F6368"/>
                </a:solidFill>
                <a:latin typeface="Calibri"/>
                <a:ea typeface="Noto Sans KR"/>
                <a:cs typeface="Calibri"/>
              </a:rPr>
              <a:t>한국어 안내 메시지</a:t>
            </a:r>
          </a:p>
        </p:txBody>
      </p:sp>
      <p:cxnSp>
        <p:nvCxnSpPr>
          <p:cNvPr id="44" name="Connector 43"/>
          <p:cNvCxnSpPr/>
          <p:nvPr/>
        </p:nvCxnSpPr>
        <p:spPr>
          <a:xfrm>
            <a:off x="2871216" y="3483864"/>
            <a:ext cx="201168" cy="0"/>
          </a:xfrm>
          <a:prstGeom prst="line">
            <a:avLst/>
          </a:prstGeom>
          <a:ln w="25400">
            <a:solidFill>
              <a:srgbClr val="1A73E8"/>
            </a:solidFill>
            <a:tailEnd type="triangle" w="med" len="med"/>
          </a:ln>
        </p:spPr>
      </p:cxnSp>
      <p:cxnSp>
        <p:nvCxnSpPr>
          <p:cNvPr id="45" name="Connector 44"/>
          <p:cNvCxnSpPr/>
          <p:nvPr/>
        </p:nvCxnSpPr>
        <p:spPr>
          <a:xfrm>
            <a:off x="4544568" y="3483864"/>
            <a:ext cx="201168" cy="0"/>
          </a:xfrm>
          <a:prstGeom prst="line">
            <a:avLst/>
          </a:prstGeom>
          <a:ln w="25400">
            <a:solidFill>
              <a:srgbClr val="1A73E8"/>
            </a:solidFill>
            <a:tailEnd type="triangle" w="med" len="med"/>
          </a:ln>
        </p:spPr>
      </p:cxnSp>
      <p:cxnSp>
        <p:nvCxnSpPr>
          <p:cNvPr id="46" name="Connector 45"/>
          <p:cNvCxnSpPr/>
          <p:nvPr/>
        </p:nvCxnSpPr>
        <p:spPr>
          <a:xfrm>
            <a:off x="6903720" y="3483864"/>
            <a:ext cx="201168" cy="0"/>
          </a:xfrm>
          <a:prstGeom prst="line">
            <a:avLst/>
          </a:prstGeom>
          <a:ln w="25400">
            <a:solidFill>
              <a:srgbClr val="1A73E8"/>
            </a:solidFill>
            <a:tailEnd type="triangle" w="med" len="med"/>
          </a:ln>
        </p:spPr>
      </p:cxnSp>
      <p:sp>
        <p:nvSpPr>
          <p:cNvPr id="47" name="Rounded Rectangle 46"/>
          <p:cNvSpPr/>
          <p:nvPr/>
        </p:nvSpPr>
        <p:spPr>
          <a:xfrm>
            <a:off x="603504" y="4809744"/>
            <a:ext cx="3913632" cy="1389888"/>
          </a:xfrm>
          <a:prstGeom prst="roundRect">
            <a:avLst>
              <a:gd name="adj" fmla="val 6000"/>
            </a:avLst>
          </a:prstGeom>
          <a:solidFill>
            <a:srgbClr val="F8F9FA"/>
          </a:solidFill>
          <a:ln w="9525">
            <a:solidFill>
              <a:srgbClr val="DADCE0"/>
            </a:solidFill>
          </a:ln>
        </p:spPr>
        <p:txBody>
          <a:bodyPr rtlCol="0" anchor="ctr" wrap="square" lIns="73152" rIns="73152"/>
          <a:lstStyle/>
          <a:p>
            <a:pPr algn="ctr"/>
          </a:p>
        </p:txBody>
      </p:sp>
      <p:sp>
        <p:nvSpPr>
          <p:cNvPr id="48" name="TextBox 47"/>
          <p:cNvSpPr txBox="1"/>
          <p:nvPr/>
        </p:nvSpPr>
        <p:spPr>
          <a:xfrm>
            <a:off x="731520" y="4846320"/>
            <a:ext cx="3657600" cy="1316736"/>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202124"/>
                </a:solidFill>
                <a:latin typeface="Calibri"/>
                <a:ea typeface="Noto Sans KR"/>
                <a:cs typeface="Calibri"/>
              </a:rPr>
              <a:t>WAS 관측 강화 (골든 이미지 v3에 포함)</a:t>
            </a:r>
          </a:p>
          <a:p>
            <a:pPr algn="l" marL="146304" indent="-146304">
              <a:spcBef>
                <a:spcPts val="0"/>
              </a:spcBef>
              <a:spcAft>
                <a:spcPts val="200"/>
              </a:spcAft>
              <a:buFont typeface="Arial"/>
              <a:buChar char="•"/>
            </a:pPr>
            <a:r>
              <a:rPr sz="1100" b="0" lang="ko-KR">
                <a:solidFill>
                  <a:srgbClr val="3C4043"/>
                </a:solidFill>
                <a:latin typeface="Calibri"/>
                <a:ea typeface="Noto Sans KR"/>
                <a:cs typeface="Calibri"/>
              </a:rPr>
              <a:t>Tomcat 접근 · 시스템 로그 수집 (Ops Agent)</a:t>
            </a:r>
          </a:p>
          <a:p>
            <a:pPr algn="l" marL="146304" indent="-146304">
              <a:spcBef>
                <a:spcPts val="0"/>
              </a:spcBef>
              <a:spcAft>
                <a:spcPts val="200"/>
              </a:spcAft>
              <a:buFont typeface="Arial"/>
              <a:buChar char="•"/>
            </a:pPr>
            <a:r>
              <a:rPr sz="1100" b="0" lang="ko-KR">
                <a:solidFill>
                  <a:srgbClr val="3C4043"/>
                </a:solidFill>
                <a:latin typeface="Calibri"/>
                <a:ea typeface="Noto Sans KR"/>
                <a:cs typeface="Calibri"/>
              </a:rPr>
              <a:t>JVM 지표 16종 (Heap · GC · Thread)</a:t>
            </a:r>
          </a:p>
          <a:p>
            <a:pPr algn="l" marL="146304" indent="-146304">
              <a:spcBef>
                <a:spcPts val="0"/>
              </a:spcBef>
              <a:spcAft>
                <a:spcPts val="200"/>
              </a:spcAft>
              <a:buFont typeface="Arial"/>
              <a:buChar char="•"/>
            </a:pPr>
            <a:r>
              <a:rPr sz="1100" b="0" lang="ko-KR">
                <a:solidFill>
                  <a:srgbClr val="3C4043"/>
                </a:solidFill>
                <a:latin typeface="Calibri"/>
                <a:ea typeface="Noto Sans KR"/>
                <a:cs typeface="Calibri"/>
              </a:rPr>
              <a:t>실제 사용자 IP 기록 (X-Forwarded-For)</a:t>
            </a:r>
          </a:p>
        </p:txBody>
      </p:sp>
      <p:sp>
        <p:nvSpPr>
          <p:cNvPr id="49" name="Rounded Rectangle 48"/>
          <p:cNvSpPr/>
          <p:nvPr/>
        </p:nvSpPr>
        <p:spPr>
          <a:xfrm>
            <a:off x="4626864" y="4809744"/>
            <a:ext cx="3913632" cy="1389888"/>
          </a:xfrm>
          <a:prstGeom prst="roundRect">
            <a:avLst>
              <a:gd name="adj" fmla="val 6000"/>
            </a:avLst>
          </a:prstGeom>
          <a:solidFill>
            <a:srgbClr val="F8F9FA"/>
          </a:solidFill>
          <a:ln w="9525">
            <a:solidFill>
              <a:srgbClr val="DADCE0"/>
            </a:solidFill>
          </a:ln>
        </p:spPr>
        <p:txBody>
          <a:bodyPr rtlCol="0" anchor="ctr" wrap="square" lIns="73152" rIns="73152"/>
          <a:lstStyle/>
          <a:p>
            <a:pPr algn="ctr"/>
          </a:p>
        </p:txBody>
      </p:sp>
      <p:sp>
        <p:nvSpPr>
          <p:cNvPr id="50" name="TextBox 49"/>
          <p:cNvSpPr txBox="1"/>
          <p:nvPr/>
        </p:nvSpPr>
        <p:spPr>
          <a:xfrm>
            <a:off x="4754880" y="4846320"/>
            <a:ext cx="3657600" cy="1316736"/>
          </a:xfrm>
          <a:prstGeom prst="rect">
            <a:avLst/>
          </a:prstGeom>
          <a:noFill/>
        </p:spPr>
        <p:txBody>
          <a:bodyPr wrap="square" lIns="36576" tIns="18288" rIns="36576" bIns="18288" anchor="ctr">
            <a:noAutofit/>
          </a:bodyPr>
          <a:lstStyle/>
          <a:p>
            <a:pPr algn="l">
              <a:spcBef>
                <a:spcPts val="0"/>
              </a:spcBef>
              <a:spcAft>
                <a:spcPts val="0"/>
              </a:spcAft>
              <a:buNone/>
            </a:pPr>
            <a:r>
              <a:rPr sz="1200" b="1" lang="ko-KR">
                <a:solidFill>
                  <a:srgbClr val="202124"/>
                </a:solidFill>
                <a:latin typeface="Calibri"/>
                <a:ea typeface="Noto Sans KR"/>
                <a:cs typeface="Calibri"/>
              </a:rPr>
              <a:t>로그 기반 알림 추가 (WAS)</a:t>
            </a:r>
          </a:p>
          <a:p>
            <a:pPr algn="l" marL="146304" indent="-146304">
              <a:spcBef>
                <a:spcPts val="0"/>
              </a:spcBef>
              <a:spcAft>
                <a:spcPts val="200"/>
              </a:spcAft>
              <a:buFont typeface="Arial"/>
              <a:buChar char="•"/>
            </a:pPr>
            <a:r>
              <a:rPr sz="1100" b="0" lang="ko-KR">
                <a:solidFill>
                  <a:srgbClr val="3C4043"/>
                </a:solidFill>
                <a:latin typeface="Calibri"/>
                <a:ea typeface="Noto Sans KR"/>
                <a:cs typeface="Calibri"/>
              </a:rPr>
              <a:t>HTTP 5xx: 5분 합계 5건 초과</a:t>
            </a:r>
          </a:p>
          <a:p>
            <a:pPr algn="l" marL="146304" indent="-146304">
              <a:spcBef>
                <a:spcPts val="0"/>
              </a:spcBef>
              <a:spcAft>
                <a:spcPts val="200"/>
              </a:spcAft>
              <a:buFont typeface="Arial"/>
              <a:buChar char="•"/>
            </a:pPr>
            <a:r>
              <a:rPr sz="1100" b="0" lang="ko-KR">
                <a:solidFill>
                  <a:srgbClr val="3C4043"/>
                </a:solidFill>
                <a:latin typeface="Calibri"/>
                <a:ea typeface="Noto Sans KR"/>
                <a:cs typeface="Calibri"/>
              </a:rPr>
              <a:t>애플리케이션 오류: Exception · OOM 발생 시</a:t>
            </a:r>
          </a:p>
          <a:p>
            <a:pPr algn="l" marL="146304" indent="-146304">
              <a:spcBef>
                <a:spcPts val="0"/>
              </a:spcBef>
              <a:spcAft>
                <a:spcPts val="200"/>
              </a:spcAft>
              <a:buFont typeface="Arial"/>
              <a:buChar char="•"/>
            </a:pPr>
            <a:r>
              <a:rPr sz="1100" b="0" lang="ko-KR">
                <a:solidFill>
                  <a:srgbClr val="3C4043"/>
                </a:solidFill>
                <a:latin typeface="Calibri"/>
                <a:ea typeface="Noto Sans KR"/>
                <a:cs typeface="Calibri"/>
              </a:rPr>
              <a:t>대시보드 구성은 향후 계획</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검증 · 시나리오별 결과</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nav-active"/>
          <p:cNvSpPr/>
          <p:nvPr/>
        </p:nvSpPr>
        <p:spPr>
          <a:xfrm>
            <a:off x="4485132"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장애·공격·복구 시나리오를 직접 재현해 결과를 확인했습니다</a:t>
            </a:r>
          </a:p>
        </p:txBody>
      </p:sp>
      <p:graphicFrame>
        <p:nvGraphicFramePr>
          <p:cNvPr id="16" name="Table 15"/>
          <p:cNvGraphicFramePr>
            <a:graphicFrameLocks noGrp="1"/>
          </p:cNvGraphicFramePr>
          <p:nvPr/>
        </p:nvGraphicFramePr>
        <p:xfrm>
          <a:off x="603504" y="2048256"/>
          <a:ext cx="7936992" cy="4014216"/>
        </p:xfrm>
        <a:graphic>
          <a:graphicData uri="http://schemas.openxmlformats.org/drawingml/2006/table">
            <a:tbl>
              <a:tblPr firstRow="0" bandRow="0">
                <a:tableStyleId>{2D5ABB26-0587-4C30-8999-92F81FD0307C}</a:tableStyleId>
              </a:tblPr>
              <a:tblGrid>
                <a:gridCol w="1572768"/>
                <a:gridCol w="2103120"/>
                <a:gridCol w="3438144"/>
                <a:gridCol w="822960"/>
              </a:tblGrid>
              <a:tr h="310896">
                <a:tc>
                  <a:txBody>
                    <a:bodyPr wrap="square"/>
                    <a:lstStyle/>
                    <a:p>
                      <a:pPr algn="l">
                        <a:spcBef>
                          <a:spcPts val="0"/>
                        </a:spcBef>
                        <a:spcAft>
                          <a:spcPts val="0"/>
                        </a:spcAft>
                        <a:buNone/>
                      </a:pPr>
                      <a:r>
                        <a:rPr sz="1150" b="1" lang="ko-KR">
                          <a:solidFill>
                            <a:srgbClr val="202124"/>
                          </a:solidFill>
                          <a:latin typeface="Calibri"/>
                          <a:ea typeface="Noto Sans KR"/>
                          <a:cs typeface="Calibri"/>
                        </a:rPr>
                        <a:t>시나리오</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150" b="1" lang="ko-KR">
                          <a:solidFill>
                            <a:srgbClr val="202124"/>
                          </a:solidFill>
                          <a:latin typeface="Calibri"/>
                          <a:ea typeface="Noto Sans KR"/>
                          <a:cs typeface="Calibri"/>
                        </a:rPr>
                        <a:t>방법</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150" b="1" lang="ko-KR">
                          <a:solidFill>
                            <a:srgbClr val="202124"/>
                          </a:solidFill>
                          <a:latin typeface="Calibri"/>
                          <a:ea typeface="Noto Sans KR"/>
                          <a:cs typeface="Calibri"/>
                        </a:rPr>
                        <a:t>결과</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ctr">
                        <a:spcBef>
                          <a:spcPts val="0"/>
                        </a:spcBef>
                        <a:spcAft>
                          <a:spcPts val="0"/>
                        </a:spcAft>
                        <a:buNone/>
                      </a:pPr>
                      <a:r>
                        <a:rPr sz="1150" b="1" lang="ko-KR">
                          <a:solidFill>
                            <a:srgbClr val="202124"/>
                          </a:solidFill>
                          <a:latin typeface="Calibri"/>
                          <a:ea typeface="Noto Sans KR"/>
                          <a:cs typeface="Calibri"/>
                        </a:rPr>
                        <a:t>상태</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r>
              <a:tr h="370332">
                <a:tc>
                  <a:txBody>
                    <a:bodyPr wrap="square"/>
                    <a:lstStyle/>
                    <a:p>
                      <a:pPr algn="l">
                        <a:spcBef>
                          <a:spcPts val="0"/>
                        </a:spcBef>
                        <a:spcAft>
                          <a:spcPts val="0"/>
                        </a:spcAft>
                        <a:buNone/>
                      </a:pPr>
                      <a:r>
                        <a:rPr sz="1050" b="1" lang="ko-KR">
                          <a:solidFill>
                            <a:srgbClr val="3C4043"/>
                          </a:solidFill>
                          <a:latin typeface="Calibri"/>
                          <a:ea typeface="Noto Sans KR"/>
                          <a:cs typeface="Calibri"/>
                        </a:rPr>
                        <a:t>WEB 1대 장애</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인스턴스 중지 · 삭제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헬스체크가 감지해 트래픽 제외 → 오토힐링 재생성 후 복귀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ctr">
                        <a:spcBef>
                          <a:spcPts val="0"/>
                        </a:spcBef>
                        <a:spcAft>
                          <a:spcPts val="0"/>
                        </a:spcAft>
                        <a:buNone/>
                      </a:pPr>
                      <a:r>
                        <a:rPr sz="1050" b="1" lang="ko-KR">
                          <a:solidFill>
                            <a:srgbClr val="188038"/>
                          </a:solidFill>
                          <a:latin typeface="Calibri"/>
                          <a:ea typeface="Noto Sans KR"/>
                          <a:cs typeface="Calibri"/>
                        </a:rPr>
                        <a:t>완료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050" b="1" lang="ko-KR">
                          <a:solidFill>
                            <a:srgbClr val="3C4043"/>
                          </a:solidFill>
                          <a:latin typeface="Calibri"/>
                          <a:ea typeface="Noto Sans KR"/>
                          <a:cs typeface="Calibri"/>
                        </a:rPr>
                        <a:t>WAS 인스턴스 교체</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인스턴스 재생성 관찰</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생성부터 서비스 복귀까지 약 45초</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ctr">
                        <a:spcBef>
                          <a:spcPts val="0"/>
                        </a:spcBef>
                        <a:spcAft>
                          <a:spcPts val="0"/>
                        </a:spcAft>
                        <a:buNone/>
                      </a:pPr>
                      <a:r>
                        <a:rPr sz="1050" b="1" lang="ko-KR">
                          <a:solidFill>
                            <a:srgbClr val="188038"/>
                          </a:solidFill>
                          <a:latin typeface="Calibri"/>
                          <a:ea typeface="Noto Sans KR"/>
                          <a:cs typeface="Calibri"/>
                        </a:rPr>
                        <a:t>완료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050" b="1" lang="ko-KR">
                          <a:solidFill>
                            <a:srgbClr val="3C4043"/>
                          </a:solidFill>
                          <a:latin typeface="Calibri"/>
                          <a:ea typeface="Noto Sans KR"/>
                          <a:cs typeface="Calibri"/>
                        </a:rPr>
                        <a:t>트래픽 증가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Locust 부하 → 오토스케일</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인스턴스 자동 증설 · 축소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ctr">
                        <a:spcBef>
                          <a:spcPts val="0"/>
                        </a:spcBef>
                        <a:spcAft>
                          <a:spcPts val="0"/>
                        </a:spcAft>
                        <a:buNone/>
                      </a:pPr>
                      <a:r>
                        <a:rPr sz="1050" b="1" lang="ko-KR">
                          <a:solidFill>
                            <a:srgbClr val="B06000"/>
                          </a:solidFill>
                          <a:latin typeface="Calibri"/>
                          <a:ea typeface="Noto Sans KR"/>
                          <a:cs typeface="Calibri"/>
                        </a:rPr>
                        <a:t>시연 예정</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050" b="1" lang="ko-KR">
                          <a:solidFill>
                            <a:srgbClr val="3C4043"/>
                          </a:solidFill>
                          <a:latin typeface="Calibri"/>
                          <a:ea typeface="Noto Sans KR"/>
                          <a:cs typeface="Calibri"/>
                        </a:rPr>
                        <a:t>DB 장애</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Cloud SQL 수동 Failover</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Standby로 전환, 조회 · 신규 등록 정상</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ctr">
                        <a:spcBef>
                          <a:spcPts val="0"/>
                        </a:spcBef>
                        <a:spcAft>
                          <a:spcPts val="0"/>
                        </a:spcAft>
                        <a:buNone/>
                      </a:pPr>
                      <a:r>
                        <a:rPr sz="1050" b="1" lang="ko-KR">
                          <a:solidFill>
                            <a:srgbClr val="188038"/>
                          </a:solidFill>
                          <a:latin typeface="Calibri"/>
                          <a:ea typeface="Noto Sans KR"/>
                          <a:cs typeface="Calibri"/>
                        </a:rPr>
                        <a:t>완료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050" b="1" lang="ko-KR">
                          <a:solidFill>
                            <a:srgbClr val="3C4043"/>
                          </a:solidFill>
                          <a:latin typeface="Calibri"/>
                          <a:ea typeface="Noto Sans KR"/>
                          <a:cs typeface="Calibri"/>
                        </a:rPr>
                        <a:t>데이터 실수 삭제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PITR 복구</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삭제 직전 시점 복구 후 대상 행만 반영</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ctr">
                        <a:spcBef>
                          <a:spcPts val="0"/>
                        </a:spcBef>
                        <a:spcAft>
                          <a:spcPts val="0"/>
                        </a:spcAft>
                        <a:buNone/>
                      </a:pPr>
                      <a:r>
                        <a:rPr sz="1050" b="1" lang="ko-KR">
                          <a:solidFill>
                            <a:srgbClr val="188038"/>
                          </a:solidFill>
                          <a:latin typeface="Calibri"/>
                          <a:ea typeface="Noto Sans KR"/>
                          <a:cs typeface="Calibri"/>
                        </a:rPr>
                        <a:t>완료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050" b="1" lang="ko-KR">
                          <a:solidFill>
                            <a:srgbClr val="3C4043"/>
                          </a:solidFill>
                          <a:latin typeface="Calibri"/>
                          <a:ea typeface="Noto Sans KR"/>
                          <a:cs typeface="Calibri"/>
                        </a:rPr>
                        <a:t>계층 격리</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WAS→WAS · WEB→WAS 호출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WAS→WAS 차단, WEB→WAS 200 OK</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ctr">
                        <a:spcBef>
                          <a:spcPts val="0"/>
                        </a:spcBef>
                        <a:spcAft>
                          <a:spcPts val="0"/>
                        </a:spcAft>
                        <a:buNone/>
                      </a:pPr>
                      <a:r>
                        <a:rPr sz="1050" b="1" lang="ko-KR">
                          <a:solidFill>
                            <a:srgbClr val="188038"/>
                          </a:solidFill>
                          <a:latin typeface="Calibri"/>
                          <a:ea typeface="Noto Sans KR"/>
                          <a:cs typeface="Calibri"/>
                        </a:rPr>
                        <a:t>완료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050" b="1" lang="ko-KR">
                          <a:solidFill>
                            <a:srgbClr val="3C4043"/>
                          </a:solidFill>
                          <a:latin typeface="Calibri"/>
                          <a:ea typeface="Noto Sans KR"/>
                          <a:cs typeface="Calibri"/>
                        </a:rPr>
                        <a:t>웹 공격</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Preview 로그 2일 분석</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스캐너 170여 건 탐지 · 오탐 0 → Enforce 전환</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ctr">
                        <a:spcBef>
                          <a:spcPts val="0"/>
                        </a:spcBef>
                        <a:spcAft>
                          <a:spcPts val="0"/>
                        </a:spcAft>
                        <a:buNone/>
                      </a:pPr>
                      <a:r>
                        <a:rPr sz="1050" b="1" lang="ko-KR">
                          <a:solidFill>
                            <a:srgbClr val="188038"/>
                          </a:solidFill>
                          <a:latin typeface="Calibri"/>
                          <a:ea typeface="Noto Sans KR"/>
                          <a:cs typeface="Calibri"/>
                        </a:rPr>
                        <a:t>완료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050" b="1" lang="ko-KR">
                          <a:solidFill>
                            <a:srgbClr val="3C4043"/>
                          </a:solidFill>
                          <a:latin typeface="Calibri"/>
                          <a:ea typeface="Noto Sans KR"/>
                          <a:cs typeface="Calibri"/>
                        </a:rPr>
                        <a:t>과다 요청</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Locust 반복 요청</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IP 단위 429 차단 → 60초 후 자동 해제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ctr">
                        <a:spcBef>
                          <a:spcPts val="0"/>
                        </a:spcBef>
                        <a:spcAft>
                          <a:spcPts val="0"/>
                        </a:spcAft>
                        <a:buNone/>
                      </a:pPr>
                      <a:r>
                        <a:rPr sz="1050" b="1" lang="ko-KR">
                          <a:solidFill>
                            <a:srgbClr val="188038"/>
                          </a:solidFill>
                          <a:latin typeface="Calibri"/>
                          <a:ea typeface="Noto Sans KR"/>
                          <a:cs typeface="Calibri"/>
                        </a:rPr>
                        <a:t>완료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050" b="1" lang="ko-KR">
                          <a:solidFill>
                            <a:srgbClr val="3C4043"/>
                          </a:solidFill>
                          <a:latin typeface="Calibri"/>
                          <a:ea typeface="Noto Sans KR"/>
                          <a:cs typeface="Calibri"/>
                        </a:rPr>
                        <a:t>HTTPS 강제</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http:// 로 접속</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301로 https 이동</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ctr">
                        <a:spcBef>
                          <a:spcPts val="0"/>
                        </a:spcBef>
                        <a:spcAft>
                          <a:spcPts val="0"/>
                        </a:spcAft>
                        <a:buNone/>
                      </a:pPr>
                      <a:r>
                        <a:rPr sz="1050" b="1" lang="ko-KR">
                          <a:solidFill>
                            <a:srgbClr val="188038"/>
                          </a:solidFill>
                          <a:latin typeface="Calibri"/>
                          <a:ea typeface="Noto Sans KR"/>
                          <a:cs typeface="Calibri"/>
                        </a:rPr>
                        <a:t>완료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370332">
                <a:tc>
                  <a:txBody>
                    <a:bodyPr wrap="square"/>
                    <a:lstStyle/>
                    <a:p>
                      <a:pPr algn="l">
                        <a:spcBef>
                          <a:spcPts val="0"/>
                        </a:spcBef>
                        <a:spcAft>
                          <a:spcPts val="0"/>
                        </a:spcAft>
                        <a:buNone/>
                      </a:pPr>
                      <a:r>
                        <a:rPr sz="1050" b="1" lang="ko-KR">
                          <a:solidFill>
                            <a:srgbClr val="3C4043"/>
                          </a:solidFill>
                          <a:latin typeface="Calibri"/>
                          <a:ea typeface="Noto Sans KR"/>
                          <a:cs typeface="Calibri"/>
                        </a:rPr>
                        <a:t>장애 알림</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테스트 알림 정책</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Slack #alert 수신</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ctr">
                        <a:spcBef>
                          <a:spcPts val="0"/>
                        </a:spcBef>
                        <a:spcAft>
                          <a:spcPts val="0"/>
                        </a:spcAft>
                        <a:buNone/>
                      </a:pPr>
                      <a:r>
                        <a:rPr sz="1050" b="1" lang="ko-KR">
                          <a:solidFill>
                            <a:srgbClr val="B06000"/>
                          </a:solidFill>
                          <a:latin typeface="Calibri"/>
                          <a:ea typeface="Noto Sans KR"/>
                          <a:cs typeface="Calibri"/>
                        </a:rPr>
                        <a:t>캡처 예정</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시연 영상</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nav-active"/>
          <p:cNvSpPr/>
          <p:nvPr/>
        </p:nvSpPr>
        <p:spPr>
          <a:xfrm>
            <a:off x="4485132"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시연: 공격 차단 → 장애 자동 복구 → DB 보호 순서로 보여드립니다</a:t>
            </a:r>
          </a:p>
        </p:txBody>
      </p:sp>
      <p:pic>
        <p:nvPicPr>
          <p:cNvPr id="16" name="Picture 15" descr="image.png"/>
          <p:cNvPicPr>
            <a:picLocks noChangeAspect="1"/>
          </p:cNvPicPr>
          <p:nvPr/>
        </p:nvPicPr>
        <p:blipFill>
          <a:blip r:embed="rId3"/>
          <a:stretch>
            <a:fillRect/>
          </a:stretch>
        </p:blipFill>
        <p:spPr>
          <a:xfrm>
            <a:off x="603504" y="2048256"/>
            <a:ext cx="2499360" cy="1473108"/>
          </a:xfrm>
          <a:prstGeom prst="rect">
            <a:avLst/>
          </a:prstGeom>
        </p:spPr>
      </p:pic>
      <p:sp>
        <p:nvSpPr>
          <p:cNvPr id="17" name="TextBox 16"/>
          <p:cNvSpPr txBox="1"/>
          <p:nvPr/>
        </p:nvSpPr>
        <p:spPr>
          <a:xfrm>
            <a:off x="953414" y="2598115"/>
            <a:ext cx="1799539" cy="566928"/>
          </a:xfrm>
          <a:prstGeom prst="rect">
            <a:avLst/>
          </a:prstGeom>
          <a:noFill/>
        </p:spPr>
        <p:txBody>
          <a:bodyPr wrap="square" lIns="36576" tIns="18288" rIns="36576" bIns="18288" anchor="ctr">
            <a:noAutofit/>
          </a:bodyPr>
          <a:lstStyle/>
          <a:p>
            <a:pPr algn="ctr">
              <a:spcBef>
                <a:spcPts val="0"/>
              </a:spcBef>
              <a:spcAft>
                <a:spcPts val="0"/>
              </a:spcAft>
              <a:buNone/>
            </a:pPr>
            <a:r>
              <a:rPr sz="1200" b="1" lang="ko-KR">
                <a:solidFill>
                  <a:srgbClr val="FFFFFF"/>
                </a:solidFill>
                <a:latin typeface="Calibri"/>
                <a:ea typeface="Noto Sans KR"/>
                <a:cs typeface="Calibri"/>
              </a:rPr>
              <a:t>영상 1</a:t>
            </a:r>
          </a:p>
          <a:p>
            <a:pPr algn="ctr">
              <a:spcBef>
                <a:spcPts val="0"/>
              </a:spcBef>
              <a:spcAft>
                <a:spcPts val="0"/>
              </a:spcAft>
              <a:buNone/>
            </a:pPr>
            <a:r>
              <a:rPr sz="950" b="0" lang="ko-KR">
                <a:solidFill>
                  <a:srgbClr val="BDC1C6"/>
                </a:solidFill>
                <a:latin typeface="Calibri"/>
                <a:ea typeface="Noto Sans KR"/>
                <a:cs typeface="Calibri"/>
              </a:rPr>
              <a:t>여기에 영상 삽입</a:t>
            </a:r>
          </a:p>
        </p:txBody>
      </p:sp>
      <p:sp>
        <p:nvSpPr>
          <p:cNvPr id="18" name="Rounded Rectangle 17"/>
          <p:cNvSpPr/>
          <p:nvPr/>
        </p:nvSpPr>
        <p:spPr>
          <a:xfrm>
            <a:off x="603504" y="3649380"/>
            <a:ext cx="2499360" cy="2019900"/>
          </a:xfrm>
          <a:prstGeom prst="roundRect">
            <a:avLst>
              <a:gd name="adj" fmla="val 6000"/>
            </a:avLst>
          </a:prstGeom>
          <a:solidFill>
            <a:srgbClr val="F8F9FA"/>
          </a:solidFill>
          <a:ln w="9525">
            <a:solidFill>
              <a:srgbClr val="DADCE0"/>
            </a:solidFill>
          </a:ln>
        </p:spPr>
        <p:txBody>
          <a:bodyPr rtlCol="0" anchor="ctr" wrap="square" lIns="73152" rIns="73152"/>
          <a:lstStyle/>
          <a:p>
            <a:pPr algn="ctr"/>
          </a:p>
        </p:txBody>
      </p:sp>
      <p:sp>
        <p:nvSpPr>
          <p:cNvPr id="19" name="TextBox 18"/>
          <p:cNvSpPr txBox="1"/>
          <p:nvPr/>
        </p:nvSpPr>
        <p:spPr>
          <a:xfrm>
            <a:off x="713232" y="3704244"/>
            <a:ext cx="2279904" cy="365760"/>
          </a:xfrm>
          <a:prstGeom prst="rect">
            <a:avLst/>
          </a:prstGeom>
          <a:noFill/>
        </p:spPr>
        <p:txBody>
          <a:bodyPr wrap="square" lIns="36576" tIns="18288" rIns="36576" bIns="18288" anchor="ctr">
            <a:noAutofit/>
          </a:bodyPr>
          <a:lstStyle/>
          <a:p>
            <a:pPr algn="l">
              <a:spcBef>
                <a:spcPts val="0"/>
              </a:spcBef>
              <a:spcAft>
                <a:spcPts val="0"/>
              </a:spcAft>
              <a:buNone/>
            </a:pPr>
            <a:r>
              <a:rPr sz="1300" b="1" lang="ko-KR">
                <a:solidFill>
                  <a:srgbClr val="202124"/>
                </a:solidFill>
                <a:latin typeface="Calibri"/>
                <a:ea typeface="Noto Sans KR"/>
                <a:cs typeface="Calibri"/>
              </a:rPr>
              <a:t>1. 공격 차단</a:t>
            </a:r>
            <a:r>
              <a:rPr sz="1050" b="0" lang="ko-KR">
                <a:solidFill>
                  <a:srgbClr val="5F6368"/>
                </a:solidFill>
                <a:latin typeface="Calibri"/>
                <a:ea typeface="Noto Sans KR"/>
                <a:cs typeface="Calibri"/>
              </a:rPr>
              <a:t>  Cloud Armor</a:t>
            </a:r>
          </a:p>
        </p:txBody>
      </p:sp>
      <p:sp>
        <p:nvSpPr>
          <p:cNvPr id="20" name="TextBox 19"/>
          <p:cNvSpPr txBox="1"/>
          <p:nvPr/>
        </p:nvSpPr>
        <p:spPr>
          <a:xfrm>
            <a:off x="713232" y="4106580"/>
            <a:ext cx="2279904" cy="1097280"/>
          </a:xfrm>
          <a:prstGeom prst="rect">
            <a:avLst/>
          </a:prstGeom>
          <a:noFill/>
        </p:spPr>
        <p:txBody>
          <a:bodyPr wrap="square" lIns="36576" tIns="18288" rIns="36576" bIns="18288" anchor="t">
            <a:noAutofit/>
          </a:bodyPr>
          <a:lstStyle/>
          <a:p>
            <a:pPr algn="l" marL="146304" indent="-146304">
              <a:spcBef>
                <a:spcPts val="0"/>
              </a:spcBef>
              <a:spcAft>
                <a:spcPts val="400"/>
              </a:spcAft>
              <a:buFont typeface="Arial"/>
              <a:buChar char="•"/>
            </a:pPr>
            <a:r>
              <a:rPr sz="1200" b="0" lang="ko-KR">
                <a:solidFill>
                  <a:srgbClr val="3C4043"/>
                </a:solidFill>
                <a:latin typeface="Calibri"/>
                <a:ea typeface="Noto Sans KR"/>
                <a:cs typeface="Calibri"/>
              </a:rPr>
              <a:t>Locust 과다 요청 → 429 차단</a:t>
            </a:r>
          </a:p>
          <a:p>
            <a:pPr algn="l" marL="146304" indent="-146304">
              <a:spcBef>
                <a:spcPts val="0"/>
              </a:spcBef>
              <a:spcAft>
                <a:spcPts val="400"/>
              </a:spcAft>
              <a:buFont typeface="Arial"/>
              <a:buChar char="•"/>
            </a:pPr>
            <a:r>
              <a:rPr sz="1200" b="0" lang="ko-KR">
                <a:solidFill>
                  <a:srgbClr val="3C4043"/>
                </a:solidFill>
                <a:latin typeface="Calibri"/>
                <a:ea typeface="Noto Sans KR"/>
                <a:cs typeface="Calibri"/>
              </a:rPr>
              <a:t>Cloud Logging 차단 로그</a:t>
            </a:r>
          </a:p>
        </p:txBody>
      </p:sp>
      <p:sp>
        <p:nvSpPr>
          <p:cNvPr id="21" name="Rounded Rectangle 20"/>
          <p:cNvSpPr/>
          <p:nvPr/>
        </p:nvSpPr>
        <p:spPr>
          <a:xfrm>
            <a:off x="2206752" y="5303520"/>
            <a:ext cx="786384" cy="256032"/>
          </a:xfrm>
          <a:prstGeom prst="roundRect">
            <a:avLst>
              <a:gd name="adj" fmla="val 50000"/>
            </a:avLst>
          </a:prstGeom>
          <a:solidFill>
            <a:srgbClr val="4084F4"/>
          </a:solidFill>
          <a:ln>
            <a:noFill/>
          </a:ln>
        </p:spPr>
        <p:txBody>
          <a:bodyPr rtlCol="0" anchor="ctr" wrap="square" lIns="27432" tIns="0" rIns="27432" bIns="0"/>
          <a:lstStyle/>
          <a:p>
            <a:pPr algn="ctr">
              <a:spcBef>
                <a:spcPts val="0"/>
              </a:spcBef>
              <a:spcAft>
                <a:spcPts val="0"/>
              </a:spcAft>
              <a:buNone/>
            </a:pPr>
            <a:r>
              <a:rPr sz="1000" b="1" lang="ko-KR">
                <a:solidFill>
                  <a:srgbClr val="FFFFFF"/>
                </a:solidFill>
                <a:latin typeface="Calibri"/>
                <a:ea typeface="Noto Sans KR"/>
                <a:cs typeface="Calibri"/>
              </a:rPr>
              <a:t>약 40초</a:t>
            </a:r>
          </a:p>
        </p:txBody>
      </p:sp>
      <p:pic>
        <p:nvPicPr>
          <p:cNvPr id="22" name="Picture 21" descr="image.png"/>
          <p:cNvPicPr>
            <a:picLocks noChangeAspect="1"/>
          </p:cNvPicPr>
          <p:nvPr/>
        </p:nvPicPr>
        <p:blipFill>
          <a:blip r:embed="rId3"/>
          <a:stretch>
            <a:fillRect/>
          </a:stretch>
        </p:blipFill>
        <p:spPr>
          <a:xfrm>
            <a:off x="3322320" y="2048256"/>
            <a:ext cx="2499360" cy="1473108"/>
          </a:xfrm>
          <a:prstGeom prst="rect">
            <a:avLst/>
          </a:prstGeom>
        </p:spPr>
      </p:pic>
      <p:sp>
        <p:nvSpPr>
          <p:cNvPr id="23" name="TextBox 22"/>
          <p:cNvSpPr txBox="1"/>
          <p:nvPr/>
        </p:nvSpPr>
        <p:spPr>
          <a:xfrm>
            <a:off x="3672230" y="2598115"/>
            <a:ext cx="1799539" cy="566928"/>
          </a:xfrm>
          <a:prstGeom prst="rect">
            <a:avLst/>
          </a:prstGeom>
          <a:noFill/>
        </p:spPr>
        <p:txBody>
          <a:bodyPr wrap="square" lIns="36576" tIns="18288" rIns="36576" bIns="18288" anchor="ctr">
            <a:noAutofit/>
          </a:bodyPr>
          <a:lstStyle/>
          <a:p>
            <a:pPr algn="ctr">
              <a:spcBef>
                <a:spcPts val="0"/>
              </a:spcBef>
              <a:spcAft>
                <a:spcPts val="0"/>
              </a:spcAft>
              <a:buNone/>
            </a:pPr>
            <a:r>
              <a:rPr sz="1200" b="1" lang="ko-KR">
                <a:solidFill>
                  <a:srgbClr val="FFFFFF"/>
                </a:solidFill>
                <a:latin typeface="Calibri"/>
                <a:ea typeface="Noto Sans KR"/>
                <a:cs typeface="Calibri"/>
              </a:rPr>
              <a:t>영상 2</a:t>
            </a:r>
          </a:p>
          <a:p>
            <a:pPr algn="ctr">
              <a:spcBef>
                <a:spcPts val="0"/>
              </a:spcBef>
              <a:spcAft>
                <a:spcPts val="0"/>
              </a:spcAft>
              <a:buNone/>
            </a:pPr>
            <a:r>
              <a:rPr sz="950" b="0" lang="ko-KR">
                <a:solidFill>
                  <a:srgbClr val="BDC1C6"/>
                </a:solidFill>
                <a:latin typeface="Calibri"/>
                <a:ea typeface="Noto Sans KR"/>
                <a:cs typeface="Calibri"/>
              </a:rPr>
              <a:t>여기에 영상 삽입</a:t>
            </a:r>
          </a:p>
        </p:txBody>
      </p:sp>
      <p:sp>
        <p:nvSpPr>
          <p:cNvPr id="24" name="Rounded Rectangle 23"/>
          <p:cNvSpPr/>
          <p:nvPr/>
        </p:nvSpPr>
        <p:spPr>
          <a:xfrm>
            <a:off x="3322320" y="3649380"/>
            <a:ext cx="2499360" cy="2019900"/>
          </a:xfrm>
          <a:prstGeom prst="roundRect">
            <a:avLst>
              <a:gd name="adj" fmla="val 6000"/>
            </a:avLst>
          </a:prstGeom>
          <a:solidFill>
            <a:srgbClr val="F8F9FA"/>
          </a:solidFill>
          <a:ln w="9525">
            <a:solidFill>
              <a:srgbClr val="DADCE0"/>
            </a:solidFill>
          </a:ln>
        </p:spPr>
        <p:txBody>
          <a:bodyPr rtlCol="0" anchor="ctr" wrap="square" lIns="73152" rIns="73152"/>
          <a:lstStyle/>
          <a:p>
            <a:pPr algn="ctr"/>
          </a:p>
        </p:txBody>
      </p:sp>
      <p:sp>
        <p:nvSpPr>
          <p:cNvPr id="25" name="TextBox 24"/>
          <p:cNvSpPr txBox="1"/>
          <p:nvPr/>
        </p:nvSpPr>
        <p:spPr>
          <a:xfrm>
            <a:off x="3432048" y="3704244"/>
            <a:ext cx="2279904" cy="365760"/>
          </a:xfrm>
          <a:prstGeom prst="rect">
            <a:avLst/>
          </a:prstGeom>
          <a:noFill/>
        </p:spPr>
        <p:txBody>
          <a:bodyPr wrap="square" lIns="36576" tIns="18288" rIns="36576" bIns="18288" anchor="ctr">
            <a:noAutofit/>
          </a:bodyPr>
          <a:lstStyle/>
          <a:p>
            <a:pPr algn="l">
              <a:spcBef>
                <a:spcPts val="0"/>
              </a:spcBef>
              <a:spcAft>
                <a:spcPts val="0"/>
              </a:spcAft>
              <a:buNone/>
            </a:pPr>
            <a:r>
              <a:rPr sz="1300" b="1" lang="ko-KR">
                <a:solidFill>
                  <a:srgbClr val="202124"/>
                </a:solidFill>
                <a:latin typeface="Calibri"/>
                <a:ea typeface="Noto Sans KR"/>
                <a:cs typeface="Calibri"/>
              </a:rPr>
              <a:t>2. 자동 복구 · 확장</a:t>
            </a:r>
            <a:r>
              <a:rPr sz="1050" b="0" lang="ko-KR">
                <a:solidFill>
                  <a:srgbClr val="5F6368"/>
                </a:solidFill>
                <a:latin typeface="Calibri"/>
                <a:ea typeface="Noto Sans KR"/>
                <a:cs typeface="Calibri"/>
              </a:rPr>
              <a:t>  MIG</a:t>
            </a:r>
          </a:p>
        </p:txBody>
      </p:sp>
      <p:sp>
        <p:nvSpPr>
          <p:cNvPr id="26" name="TextBox 25"/>
          <p:cNvSpPr txBox="1"/>
          <p:nvPr/>
        </p:nvSpPr>
        <p:spPr>
          <a:xfrm>
            <a:off x="3432048" y="4106580"/>
            <a:ext cx="2279904" cy="1097280"/>
          </a:xfrm>
          <a:prstGeom prst="rect">
            <a:avLst/>
          </a:prstGeom>
          <a:noFill/>
        </p:spPr>
        <p:txBody>
          <a:bodyPr wrap="square" lIns="36576" tIns="18288" rIns="36576" bIns="18288" anchor="t">
            <a:noAutofit/>
          </a:bodyPr>
          <a:lstStyle/>
          <a:p>
            <a:pPr algn="l" marL="146304" indent="-146304">
              <a:spcBef>
                <a:spcPts val="0"/>
              </a:spcBef>
              <a:spcAft>
                <a:spcPts val="400"/>
              </a:spcAft>
              <a:buFont typeface="Arial"/>
              <a:buChar char="•"/>
            </a:pPr>
            <a:r>
              <a:rPr sz="1200" b="0" lang="ko-KR">
                <a:solidFill>
                  <a:srgbClr val="3C4043"/>
                </a:solidFill>
                <a:latin typeface="Calibri"/>
                <a:ea typeface="Noto Sans KR"/>
                <a:cs typeface="Calibri"/>
              </a:rPr>
              <a:t>인스턴스 중지 → 헬스체크 제외</a:t>
            </a:r>
          </a:p>
          <a:p>
            <a:pPr algn="l" marL="146304" indent="-146304">
              <a:spcBef>
                <a:spcPts val="0"/>
              </a:spcBef>
              <a:spcAft>
                <a:spcPts val="400"/>
              </a:spcAft>
              <a:buFont typeface="Arial"/>
              <a:buChar char="•"/>
            </a:pPr>
            <a:r>
              <a:rPr sz="1200" b="0" lang="ko-KR">
                <a:solidFill>
                  <a:srgbClr val="3C4043"/>
                </a:solidFill>
                <a:latin typeface="Calibri"/>
                <a:ea typeface="Noto Sans KR"/>
                <a:cs typeface="Calibri"/>
              </a:rPr>
              <a:t>오토힐링 재생성 · 오토스케일</a:t>
            </a:r>
          </a:p>
        </p:txBody>
      </p:sp>
      <p:sp>
        <p:nvSpPr>
          <p:cNvPr id="27" name="Rounded Rectangle 26"/>
          <p:cNvSpPr/>
          <p:nvPr/>
        </p:nvSpPr>
        <p:spPr>
          <a:xfrm>
            <a:off x="4925568" y="5303520"/>
            <a:ext cx="786384" cy="256032"/>
          </a:xfrm>
          <a:prstGeom prst="roundRect">
            <a:avLst>
              <a:gd name="adj" fmla="val 50000"/>
            </a:avLst>
          </a:prstGeom>
          <a:solidFill>
            <a:srgbClr val="4084F4"/>
          </a:solidFill>
          <a:ln>
            <a:noFill/>
          </a:ln>
        </p:spPr>
        <p:txBody>
          <a:bodyPr rtlCol="0" anchor="ctr" wrap="square" lIns="27432" tIns="0" rIns="27432" bIns="0"/>
          <a:lstStyle/>
          <a:p>
            <a:pPr algn="ctr">
              <a:spcBef>
                <a:spcPts val="0"/>
              </a:spcBef>
              <a:spcAft>
                <a:spcPts val="0"/>
              </a:spcAft>
              <a:buNone/>
            </a:pPr>
            <a:r>
              <a:rPr sz="1000" b="1" lang="ko-KR">
                <a:solidFill>
                  <a:srgbClr val="FFFFFF"/>
                </a:solidFill>
                <a:latin typeface="Calibri"/>
                <a:ea typeface="Noto Sans KR"/>
                <a:cs typeface="Calibri"/>
              </a:rPr>
              <a:t>약 60초</a:t>
            </a:r>
          </a:p>
        </p:txBody>
      </p:sp>
      <p:pic>
        <p:nvPicPr>
          <p:cNvPr id="28" name="Picture 27" descr="image.png"/>
          <p:cNvPicPr>
            <a:picLocks noChangeAspect="1"/>
          </p:cNvPicPr>
          <p:nvPr/>
        </p:nvPicPr>
        <p:blipFill>
          <a:blip r:embed="rId3"/>
          <a:stretch>
            <a:fillRect/>
          </a:stretch>
        </p:blipFill>
        <p:spPr>
          <a:xfrm>
            <a:off x="6041136" y="2048256"/>
            <a:ext cx="2499360" cy="1473108"/>
          </a:xfrm>
          <a:prstGeom prst="rect">
            <a:avLst/>
          </a:prstGeom>
        </p:spPr>
      </p:pic>
      <p:sp>
        <p:nvSpPr>
          <p:cNvPr id="29" name="TextBox 28"/>
          <p:cNvSpPr txBox="1"/>
          <p:nvPr/>
        </p:nvSpPr>
        <p:spPr>
          <a:xfrm>
            <a:off x="6391046" y="2598115"/>
            <a:ext cx="1799539" cy="566928"/>
          </a:xfrm>
          <a:prstGeom prst="rect">
            <a:avLst/>
          </a:prstGeom>
          <a:noFill/>
        </p:spPr>
        <p:txBody>
          <a:bodyPr wrap="square" lIns="36576" tIns="18288" rIns="36576" bIns="18288" anchor="ctr">
            <a:noAutofit/>
          </a:bodyPr>
          <a:lstStyle/>
          <a:p>
            <a:pPr algn="ctr">
              <a:spcBef>
                <a:spcPts val="0"/>
              </a:spcBef>
              <a:spcAft>
                <a:spcPts val="0"/>
              </a:spcAft>
              <a:buNone/>
            </a:pPr>
            <a:r>
              <a:rPr sz="1200" b="1" lang="ko-KR">
                <a:solidFill>
                  <a:srgbClr val="FFFFFF"/>
                </a:solidFill>
                <a:latin typeface="Calibri"/>
                <a:ea typeface="Noto Sans KR"/>
                <a:cs typeface="Calibri"/>
              </a:rPr>
              <a:t>영상 3</a:t>
            </a:r>
          </a:p>
          <a:p>
            <a:pPr algn="ctr">
              <a:spcBef>
                <a:spcPts val="0"/>
              </a:spcBef>
              <a:spcAft>
                <a:spcPts val="0"/>
              </a:spcAft>
              <a:buNone/>
            </a:pPr>
            <a:r>
              <a:rPr sz="950" b="0" lang="ko-KR">
                <a:solidFill>
                  <a:srgbClr val="BDC1C6"/>
                </a:solidFill>
                <a:latin typeface="Calibri"/>
                <a:ea typeface="Noto Sans KR"/>
                <a:cs typeface="Calibri"/>
              </a:rPr>
              <a:t>여기에 영상 삽입</a:t>
            </a:r>
          </a:p>
        </p:txBody>
      </p:sp>
      <p:sp>
        <p:nvSpPr>
          <p:cNvPr id="30" name="Rounded Rectangle 29"/>
          <p:cNvSpPr/>
          <p:nvPr/>
        </p:nvSpPr>
        <p:spPr>
          <a:xfrm>
            <a:off x="6041136" y="3649380"/>
            <a:ext cx="2499360" cy="2019900"/>
          </a:xfrm>
          <a:prstGeom prst="roundRect">
            <a:avLst>
              <a:gd name="adj" fmla="val 6000"/>
            </a:avLst>
          </a:prstGeom>
          <a:solidFill>
            <a:srgbClr val="F8F9FA"/>
          </a:solidFill>
          <a:ln w="9525">
            <a:solidFill>
              <a:srgbClr val="DADCE0"/>
            </a:solidFill>
          </a:ln>
        </p:spPr>
        <p:txBody>
          <a:bodyPr rtlCol="0" anchor="ctr" wrap="square" lIns="73152" rIns="73152"/>
          <a:lstStyle/>
          <a:p>
            <a:pPr algn="ctr"/>
          </a:p>
        </p:txBody>
      </p:sp>
      <p:sp>
        <p:nvSpPr>
          <p:cNvPr id="31" name="TextBox 30"/>
          <p:cNvSpPr txBox="1"/>
          <p:nvPr/>
        </p:nvSpPr>
        <p:spPr>
          <a:xfrm>
            <a:off x="6150864" y="3704244"/>
            <a:ext cx="2279904" cy="365760"/>
          </a:xfrm>
          <a:prstGeom prst="rect">
            <a:avLst/>
          </a:prstGeom>
          <a:noFill/>
        </p:spPr>
        <p:txBody>
          <a:bodyPr wrap="square" lIns="36576" tIns="18288" rIns="36576" bIns="18288" anchor="ctr">
            <a:noAutofit/>
          </a:bodyPr>
          <a:lstStyle/>
          <a:p>
            <a:pPr algn="l">
              <a:spcBef>
                <a:spcPts val="0"/>
              </a:spcBef>
              <a:spcAft>
                <a:spcPts val="0"/>
              </a:spcAft>
              <a:buNone/>
            </a:pPr>
            <a:r>
              <a:rPr sz="1300" b="1" lang="ko-KR">
                <a:solidFill>
                  <a:srgbClr val="202124"/>
                </a:solidFill>
                <a:latin typeface="Calibri"/>
                <a:ea typeface="Noto Sans KR"/>
                <a:cs typeface="Calibri"/>
              </a:rPr>
              <a:t>3. DB 보호</a:t>
            </a:r>
            <a:r>
              <a:rPr sz="1050" b="0" lang="ko-KR">
                <a:solidFill>
                  <a:srgbClr val="5F6368"/>
                </a:solidFill>
                <a:latin typeface="Calibri"/>
                <a:ea typeface="Noto Sans KR"/>
                <a:cs typeface="Calibri"/>
              </a:rPr>
              <a:t>  Cloud SQL</a:t>
            </a:r>
          </a:p>
        </p:txBody>
      </p:sp>
      <p:sp>
        <p:nvSpPr>
          <p:cNvPr id="32" name="TextBox 31"/>
          <p:cNvSpPr txBox="1"/>
          <p:nvPr/>
        </p:nvSpPr>
        <p:spPr>
          <a:xfrm>
            <a:off x="6150864" y="4106580"/>
            <a:ext cx="2279904" cy="1097280"/>
          </a:xfrm>
          <a:prstGeom prst="rect">
            <a:avLst/>
          </a:prstGeom>
          <a:noFill/>
        </p:spPr>
        <p:txBody>
          <a:bodyPr wrap="square" lIns="36576" tIns="18288" rIns="36576" bIns="18288" anchor="t">
            <a:noAutofit/>
          </a:bodyPr>
          <a:lstStyle/>
          <a:p>
            <a:pPr algn="l" marL="146304" indent="-146304">
              <a:spcBef>
                <a:spcPts val="0"/>
              </a:spcBef>
              <a:spcAft>
                <a:spcPts val="400"/>
              </a:spcAft>
              <a:buFont typeface="Arial"/>
              <a:buChar char="•"/>
            </a:pPr>
            <a:r>
              <a:rPr sz="1200" b="0" lang="ko-KR">
                <a:solidFill>
                  <a:srgbClr val="3C4043"/>
                </a:solidFill>
                <a:latin typeface="Calibri"/>
                <a:ea typeface="Noto Sans KR"/>
                <a:cs typeface="Calibri"/>
              </a:rPr>
              <a:t>수동 Failover 후 서비스 정상</a:t>
            </a:r>
          </a:p>
          <a:p>
            <a:pPr algn="l" marL="146304" indent="-146304">
              <a:spcBef>
                <a:spcPts val="0"/>
              </a:spcBef>
              <a:spcAft>
                <a:spcPts val="400"/>
              </a:spcAft>
              <a:buFont typeface="Arial"/>
              <a:buChar char="•"/>
            </a:pPr>
            <a:r>
              <a:rPr sz="1200" b="0" lang="ko-KR">
                <a:solidFill>
                  <a:srgbClr val="3C4043"/>
                </a:solidFill>
                <a:latin typeface="Calibri"/>
                <a:ea typeface="Noto Sans KR"/>
                <a:cs typeface="Calibri"/>
              </a:rPr>
              <a:t>PITR 복구 결과 확인</a:t>
            </a:r>
          </a:p>
        </p:txBody>
      </p:sp>
      <p:sp>
        <p:nvSpPr>
          <p:cNvPr id="33" name="Rounded Rectangle 32"/>
          <p:cNvSpPr/>
          <p:nvPr/>
        </p:nvSpPr>
        <p:spPr>
          <a:xfrm>
            <a:off x="7644384" y="5303520"/>
            <a:ext cx="786384" cy="256032"/>
          </a:xfrm>
          <a:prstGeom prst="roundRect">
            <a:avLst>
              <a:gd name="adj" fmla="val 50000"/>
            </a:avLst>
          </a:prstGeom>
          <a:solidFill>
            <a:srgbClr val="4084F4"/>
          </a:solidFill>
          <a:ln>
            <a:noFill/>
          </a:ln>
        </p:spPr>
        <p:txBody>
          <a:bodyPr rtlCol="0" anchor="ctr" wrap="square" lIns="27432" tIns="0" rIns="27432" bIns="0"/>
          <a:lstStyle/>
          <a:p>
            <a:pPr algn="ctr">
              <a:spcBef>
                <a:spcPts val="0"/>
              </a:spcBef>
              <a:spcAft>
                <a:spcPts val="0"/>
              </a:spcAft>
              <a:buNone/>
            </a:pPr>
            <a:r>
              <a:rPr sz="1000" b="1" lang="ko-KR">
                <a:solidFill>
                  <a:srgbClr val="FFFFFF"/>
                </a:solidFill>
                <a:latin typeface="Calibri"/>
                <a:ea typeface="Noto Sans KR"/>
                <a:cs typeface="Calibri"/>
              </a:rPr>
              <a:t>약 40초</a:t>
            </a:r>
          </a:p>
        </p:txBody>
      </p:sp>
      <p:sp>
        <p:nvSpPr>
          <p:cNvPr id="34" name="Rounded Rectangle 33"/>
          <p:cNvSpPr/>
          <p:nvPr/>
        </p:nvSpPr>
        <p:spPr>
          <a:xfrm>
            <a:off x="603504" y="5797296"/>
            <a:ext cx="7936992" cy="402336"/>
          </a:xfrm>
          <a:prstGeom prst="roundRect">
            <a:avLst>
              <a:gd name="adj" fmla="val 25000"/>
            </a:avLst>
          </a:prstGeom>
          <a:solidFill>
            <a:srgbClr val="FEF7E0"/>
          </a:solidFill>
          <a:ln>
            <a:noFill/>
          </a:ln>
        </p:spPr>
        <p:txBody>
          <a:bodyPr rtlCol="0" anchor="ctr" wrap="square" lIns="73152" rIns="73152"/>
          <a:lstStyle/>
          <a:p>
            <a:pPr algn="ctr">
              <a:spcBef>
                <a:spcPts val="0"/>
              </a:spcBef>
              <a:spcAft>
                <a:spcPts val="0"/>
              </a:spcAft>
              <a:buNone/>
            </a:pPr>
            <a:r>
              <a:rPr sz="1150" b="1" lang="ko-KR">
                <a:solidFill>
                  <a:srgbClr val="B06000"/>
                </a:solidFill>
                <a:latin typeface="Calibri"/>
                <a:ea typeface="Noto Sans KR"/>
                <a:cs typeface="Calibri"/>
              </a:rPr>
              <a:t>Plan B  </a:t>
            </a:r>
            <a:r>
              <a:rPr sz="1150" b="0" lang="ko-KR">
                <a:solidFill>
                  <a:srgbClr val="202124"/>
                </a:solidFill>
                <a:latin typeface="Calibri"/>
                <a:ea typeface="Noto Sans KR"/>
                <a:cs typeface="Calibri"/>
              </a:rPr>
              <a:t>실시간 시연이 실패하면 녹화 영상으로 바로 전환합니다</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결과 · 요구사항 충족</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nav-active"/>
          <p:cNvSpPr/>
          <p:nvPr/>
        </p:nvSpPr>
        <p:spPr>
          <a:xfrm>
            <a:off x="5710428"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처음 정의한 4가지 요구사항을 구현하고 시나리오로 검증했습니다</a:t>
            </a:r>
          </a:p>
        </p:txBody>
      </p:sp>
      <p:sp>
        <p:nvSpPr>
          <p:cNvPr id="16" name="Rounded Rectangle 15"/>
          <p:cNvSpPr/>
          <p:nvPr/>
        </p:nvSpPr>
        <p:spPr>
          <a:xfrm>
            <a:off x="603504" y="2048256"/>
            <a:ext cx="3858768" cy="1956816"/>
          </a:xfrm>
          <a:prstGeom prst="roundRect">
            <a:avLst>
              <a:gd name="adj" fmla="val 5000"/>
            </a:avLst>
          </a:prstGeom>
          <a:solidFill>
            <a:srgbClr val="FFFFFF"/>
          </a:solidFill>
          <a:ln w="9525">
            <a:solidFill>
              <a:srgbClr val="DADCE0"/>
            </a:solidFill>
          </a:ln>
        </p:spPr>
        <p:txBody>
          <a:bodyPr rtlCol="0" anchor="ctr" wrap="square" lIns="73152" rIns="73152"/>
          <a:lstStyle/>
          <a:p>
            <a:pPr algn="ctr"/>
          </a:p>
        </p:txBody>
      </p:sp>
      <p:sp>
        <p:nvSpPr>
          <p:cNvPr id="17" name="Oval 16"/>
          <p:cNvSpPr/>
          <p:nvPr/>
        </p:nvSpPr>
        <p:spPr>
          <a:xfrm>
            <a:off x="731520" y="2176272"/>
            <a:ext cx="457200" cy="457200"/>
          </a:xfrm>
          <a:prstGeom prst="ellipse">
            <a:avLst/>
          </a:prstGeom>
          <a:solidFill>
            <a:srgbClr val="E6F4EA"/>
          </a:solidFill>
          <a:ln>
            <a:noFill/>
          </a:ln>
        </p:spPr>
        <p:txBody>
          <a:bodyPr rtlCol="0" anchor="ctr" wrap="square" lIns="73152" rIns="73152"/>
          <a:lstStyle/>
          <a:p>
            <a:pPr algn="ctr"/>
          </a:p>
        </p:txBody>
      </p:sp>
      <p:pic>
        <p:nvPicPr>
          <p:cNvPr id="18" name="Picture 17" descr="check.png"/>
          <p:cNvPicPr>
            <a:picLocks noChangeAspect="1"/>
          </p:cNvPicPr>
          <p:nvPr/>
        </p:nvPicPr>
        <p:blipFill>
          <a:blip r:embed="rId3"/>
          <a:stretch>
            <a:fillRect/>
          </a:stretch>
        </p:blipFill>
        <p:spPr>
          <a:xfrm>
            <a:off x="804672" y="2249424"/>
            <a:ext cx="310896" cy="310896"/>
          </a:xfrm>
          <a:prstGeom prst="rect">
            <a:avLst/>
          </a:prstGeom>
        </p:spPr>
      </p:pic>
      <p:sp>
        <p:nvSpPr>
          <p:cNvPr id="19" name="TextBox 18"/>
          <p:cNvSpPr txBox="1"/>
          <p:nvPr/>
        </p:nvSpPr>
        <p:spPr>
          <a:xfrm>
            <a:off x="1280160" y="2157984"/>
            <a:ext cx="3035808" cy="475488"/>
          </a:xfrm>
          <a:prstGeom prst="rect">
            <a:avLst/>
          </a:prstGeom>
          <a:noFill/>
        </p:spPr>
        <p:txBody>
          <a:bodyPr wrap="square" lIns="36576" tIns="18288" rIns="36576" bIns="18288" anchor="ctr">
            <a:noAutofit/>
          </a:bodyPr>
          <a:lstStyle/>
          <a:p>
            <a:pPr algn="l">
              <a:spcBef>
                <a:spcPts val="0"/>
              </a:spcBef>
              <a:spcAft>
                <a:spcPts val="0"/>
              </a:spcAft>
              <a:buNone/>
            </a:pPr>
            <a:r>
              <a:rPr sz="1500" b="1" lang="ko-KR">
                <a:solidFill>
                  <a:srgbClr val="202124"/>
                </a:solidFill>
                <a:latin typeface="Calibri"/>
                <a:ea typeface="Noto Sans KR"/>
                <a:cs typeface="Calibri"/>
              </a:rPr>
              <a:t>가용성</a:t>
            </a:r>
            <a:r>
              <a:rPr sz="1100" b="0" lang="ko-KR">
                <a:solidFill>
                  <a:srgbClr val="5F6368"/>
                </a:solidFill>
                <a:latin typeface="Calibri"/>
                <a:ea typeface="Noto Sans KR"/>
                <a:cs typeface="Calibri"/>
              </a:rPr>
              <a:t>   서버·존 장애에도 서비스 유지</a:t>
            </a:r>
          </a:p>
        </p:txBody>
      </p:sp>
      <p:graphicFrame>
        <p:nvGraphicFramePr>
          <p:cNvPr id="20" name="Table 19"/>
          <p:cNvGraphicFramePr>
            <a:graphicFrameLocks noGrp="1"/>
          </p:cNvGraphicFramePr>
          <p:nvPr/>
        </p:nvGraphicFramePr>
        <p:xfrm>
          <a:off x="731520" y="2761488"/>
          <a:ext cx="3602736" cy="1060704"/>
        </p:xfrm>
        <a:graphic>
          <a:graphicData uri="http://schemas.openxmlformats.org/drawingml/2006/table">
            <a:tbl>
              <a:tblPr firstRow="0" bandRow="0">
                <a:tableStyleId>{2D5ABB26-0587-4C30-8999-92F81FD0307C}</a:tableStyleId>
              </a:tblPr>
              <a:tblGrid>
                <a:gridCol w="731520"/>
                <a:gridCol w="2871216"/>
              </a:tblGrid>
              <a:tr h="530352">
                <a:tc>
                  <a:txBody>
                    <a:bodyPr wrap="square"/>
                    <a:lstStyle/>
                    <a:p>
                      <a:pPr algn="l">
                        <a:spcBef>
                          <a:spcPts val="0"/>
                        </a:spcBef>
                        <a:spcAft>
                          <a:spcPts val="0"/>
                        </a:spcAft>
                        <a:buNone/>
                      </a:pPr>
                      <a:r>
                        <a:rPr sz="1100" b="1" lang="ko-KR">
                          <a:solidFill>
                            <a:srgbClr val="3C4043"/>
                          </a:solidFill>
                          <a:latin typeface="Calibri"/>
                          <a:ea typeface="Noto Sans KR"/>
                          <a:cs typeface="Calibri"/>
                        </a:rPr>
                        <a:t>구현</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3개 존 MIG · 헬스체크 · 오토힐링, Cloud SQL HA</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530352">
                <a:tc>
                  <a:txBody>
                    <a:bodyPr wrap="square"/>
                    <a:lstStyle/>
                    <a:p>
                      <a:pPr algn="l">
                        <a:spcBef>
                          <a:spcPts val="0"/>
                        </a:spcBef>
                        <a:spcAft>
                          <a:spcPts val="0"/>
                        </a:spcAft>
                        <a:buNone/>
                      </a:pPr>
                      <a:r>
                        <a:rPr sz="1100" b="1" lang="ko-KR">
                          <a:solidFill>
                            <a:srgbClr val="3C4043"/>
                          </a:solidFill>
                          <a:latin typeface="Calibri"/>
                          <a:ea typeface="Noto Sans KR"/>
                          <a:cs typeface="Calibri"/>
                        </a:rPr>
                        <a:t>검증</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WEB 장애 자동 복구 · DB Failover 정상</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
        <p:nvSpPr>
          <p:cNvPr id="21" name="Rounded Rectangle 20"/>
          <p:cNvSpPr/>
          <p:nvPr/>
        </p:nvSpPr>
        <p:spPr>
          <a:xfrm>
            <a:off x="4681728" y="2048256"/>
            <a:ext cx="3858768" cy="1956816"/>
          </a:xfrm>
          <a:prstGeom prst="roundRect">
            <a:avLst>
              <a:gd name="adj" fmla="val 5000"/>
            </a:avLst>
          </a:prstGeom>
          <a:solidFill>
            <a:srgbClr val="FFFFFF"/>
          </a:solidFill>
          <a:ln w="9525">
            <a:solidFill>
              <a:srgbClr val="DADCE0"/>
            </a:solidFill>
          </a:ln>
        </p:spPr>
        <p:txBody>
          <a:bodyPr rtlCol="0" anchor="ctr" wrap="square" lIns="73152" rIns="73152"/>
          <a:lstStyle/>
          <a:p>
            <a:pPr algn="ctr"/>
          </a:p>
        </p:txBody>
      </p:sp>
      <p:sp>
        <p:nvSpPr>
          <p:cNvPr id="22" name="Oval 21"/>
          <p:cNvSpPr/>
          <p:nvPr/>
        </p:nvSpPr>
        <p:spPr>
          <a:xfrm>
            <a:off x="4809744" y="2176272"/>
            <a:ext cx="457200" cy="457200"/>
          </a:xfrm>
          <a:prstGeom prst="ellipse">
            <a:avLst/>
          </a:prstGeom>
          <a:solidFill>
            <a:srgbClr val="E6F4EA"/>
          </a:solidFill>
          <a:ln>
            <a:noFill/>
          </a:ln>
        </p:spPr>
        <p:txBody>
          <a:bodyPr rtlCol="0" anchor="ctr" wrap="square" lIns="73152" rIns="73152"/>
          <a:lstStyle/>
          <a:p>
            <a:pPr algn="ctr"/>
          </a:p>
        </p:txBody>
      </p:sp>
      <p:pic>
        <p:nvPicPr>
          <p:cNvPr id="23" name="Picture 22" descr="check.png"/>
          <p:cNvPicPr>
            <a:picLocks noChangeAspect="1"/>
          </p:cNvPicPr>
          <p:nvPr/>
        </p:nvPicPr>
        <p:blipFill>
          <a:blip r:embed="rId3"/>
          <a:stretch>
            <a:fillRect/>
          </a:stretch>
        </p:blipFill>
        <p:spPr>
          <a:xfrm>
            <a:off x="4882896" y="2249424"/>
            <a:ext cx="310896" cy="310896"/>
          </a:xfrm>
          <a:prstGeom prst="rect">
            <a:avLst/>
          </a:prstGeom>
        </p:spPr>
      </p:pic>
      <p:sp>
        <p:nvSpPr>
          <p:cNvPr id="24" name="TextBox 23"/>
          <p:cNvSpPr txBox="1"/>
          <p:nvPr/>
        </p:nvSpPr>
        <p:spPr>
          <a:xfrm>
            <a:off x="5358384" y="2157984"/>
            <a:ext cx="3035808" cy="475488"/>
          </a:xfrm>
          <a:prstGeom prst="rect">
            <a:avLst/>
          </a:prstGeom>
          <a:noFill/>
        </p:spPr>
        <p:txBody>
          <a:bodyPr wrap="square" lIns="36576" tIns="18288" rIns="36576" bIns="18288" anchor="ctr">
            <a:noAutofit/>
          </a:bodyPr>
          <a:lstStyle/>
          <a:p>
            <a:pPr algn="l">
              <a:spcBef>
                <a:spcPts val="0"/>
              </a:spcBef>
              <a:spcAft>
                <a:spcPts val="0"/>
              </a:spcAft>
              <a:buNone/>
            </a:pPr>
            <a:r>
              <a:rPr sz="1500" b="1" lang="ko-KR">
                <a:solidFill>
                  <a:srgbClr val="202124"/>
                </a:solidFill>
                <a:latin typeface="Calibri"/>
                <a:ea typeface="Noto Sans KR"/>
                <a:cs typeface="Calibri"/>
              </a:rPr>
              <a:t>확장성</a:t>
            </a:r>
            <a:r>
              <a:rPr sz="1100" b="0" lang="ko-KR">
                <a:solidFill>
                  <a:srgbClr val="5F6368"/>
                </a:solidFill>
                <a:latin typeface="Calibri"/>
                <a:ea typeface="Noto Sans KR"/>
                <a:cs typeface="Calibri"/>
              </a:rPr>
              <a:t>   부하에 맞춰 자동 증설·축소</a:t>
            </a:r>
          </a:p>
        </p:txBody>
      </p:sp>
      <p:graphicFrame>
        <p:nvGraphicFramePr>
          <p:cNvPr id="25" name="Table 24"/>
          <p:cNvGraphicFramePr>
            <a:graphicFrameLocks noGrp="1"/>
          </p:cNvGraphicFramePr>
          <p:nvPr/>
        </p:nvGraphicFramePr>
        <p:xfrm>
          <a:off x="4809744" y="2761488"/>
          <a:ext cx="3602736" cy="1060704"/>
        </p:xfrm>
        <a:graphic>
          <a:graphicData uri="http://schemas.openxmlformats.org/drawingml/2006/table">
            <a:tbl>
              <a:tblPr firstRow="0" bandRow="0">
                <a:tableStyleId>{2D5ABB26-0587-4C30-8999-92F81FD0307C}</a:tableStyleId>
              </a:tblPr>
              <a:tblGrid>
                <a:gridCol w="731520"/>
                <a:gridCol w="2871216"/>
              </a:tblGrid>
              <a:tr h="530352">
                <a:tc>
                  <a:txBody>
                    <a:bodyPr wrap="square"/>
                    <a:lstStyle/>
                    <a:p>
                      <a:pPr algn="l">
                        <a:spcBef>
                          <a:spcPts val="0"/>
                        </a:spcBef>
                        <a:spcAft>
                          <a:spcPts val="0"/>
                        </a:spcAft>
                        <a:buNone/>
                      </a:pPr>
                      <a:r>
                        <a:rPr sz="1100" b="1" lang="ko-KR">
                          <a:solidFill>
                            <a:srgbClr val="3C4043"/>
                          </a:solidFill>
                          <a:latin typeface="Calibri"/>
                          <a:ea typeface="Noto Sans KR"/>
                          <a:cs typeface="Calibri"/>
                        </a:rPr>
                        <a:t>구현</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오토스케일 2~6대 · 골든 이미지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530352">
                <a:tc>
                  <a:txBody>
                    <a:bodyPr wrap="square"/>
                    <a:lstStyle/>
                    <a:p>
                      <a:pPr algn="l">
                        <a:spcBef>
                          <a:spcPts val="0"/>
                        </a:spcBef>
                        <a:spcAft>
                          <a:spcPts val="0"/>
                        </a:spcAft>
                        <a:buNone/>
                      </a:pPr>
                      <a:r>
                        <a:rPr sz="1100" b="1" lang="ko-KR">
                          <a:solidFill>
                            <a:srgbClr val="3C4043"/>
                          </a:solidFill>
                          <a:latin typeface="Calibri"/>
                          <a:ea typeface="Noto Sans KR"/>
                          <a:cs typeface="Calibri"/>
                        </a:rPr>
                        <a:t>검증</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Locust 부하 테스트 (시연 영상)</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
        <p:nvSpPr>
          <p:cNvPr id="26" name="Rounded Rectangle 25"/>
          <p:cNvSpPr/>
          <p:nvPr/>
        </p:nvSpPr>
        <p:spPr>
          <a:xfrm>
            <a:off x="603504" y="4151376"/>
            <a:ext cx="3858768" cy="1956816"/>
          </a:xfrm>
          <a:prstGeom prst="roundRect">
            <a:avLst>
              <a:gd name="adj" fmla="val 5000"/>
            </a:avLst>
          </a:prstGeom>
          <a:solidFill>
            <a:srgbClr val="FFFFFF"/>
          </a:solidFill>
          <a:ln w="9525">
            <a:solidFill>
              <a:srgbClr val="DADCE0"/>
            </a:solidFill>
          </a:ln>
        </p:spPr>
        <p:txBody>
          <a:bodyPr rtlCol="0" anchor="ctr" wrap="square" lIns="73152" rIns="73152"/>
          <a:lstStyle/>
          <a:p>
            <a:pPr algn="ctr"/>
          </a:p>
        </p:txBody>
      </p:sp>
      <p:sp>
        <p:nvSpPr>
          <p:cNvPr id="27" name="Oval 26"/>
          <p:cNvSpPr/>
          <p:nvPr/>
        </p:nvSpPr>
        <p:spPr>
          <a:xfrm>
            <a:off x="731520" y="4279392"/>
            <a:ext cx="457200" cy="457200"/>
          </a:xfrm>
          <a:prstGeom prst="ellipse">
            <a:avLst/>
          </a:prstGeom>
          <a:solidFill>
            <a:srgbClr val="E6F4EA"/>
          </a:solidFill>
          <a:ln>
            <a:noFill/>
          </a:ln>
        </p:spPr>
        <p:txBody>
          <a:bodyPr rtlCol="0" anchor="ctr" wrap="square" lIns="73152" rIns="73152"/>
          <a:lstStyle/>
          <a:p>
            <a:pPr algn="ctr"/>
          </a:p>
        </p:txBody>
      </p:sp>
      <p:pic>
        <p:nvPicPr>
          <p:cNvPr id="28" name="Picture 27" descr="check.png"/>
          <p:cNvPicPr>
            <a:picLocks noChangeAspect="1"/>
          </p:cNvPicPr>
          <p:nvPr/>
        </p:nvPicPr>
        <p:blipFill>
          <a:blip r:embed="rId3"/>
          <a:stretch>
            <a:fillRect/>
          </a:stretch>
        </p:blipFill>
        <p:spPr>
          <a:xfrm>
            <a:off x="804672" y="4352544"/>
            <a:ext cx="310896" cy="310896"/>
          </a:xfrm>
          <a:prstGeom prst="rect">
            <a:avLst/>
          </a:prstGeom>
        </p:spPr>
      </p:pic>
      <p:sp>
        <p:nvSpPr>
          <p:cNvPr id="29" name="TextBox 28"/>
          <p:cNvSpPr txBox="1"/>
          <p:nvPr/>
        </p:nvSpPr>
        <p:spPr>
          <a:xfrm>
            <a:off x="1280160" y="4261104"/>
            <a:ext cx="3035808" cy="475488"/>
          </a:xfrm>
          <a:prstGeom prst="rect">
            <a:avLst/>
          </a:prstGeom>
          <a:noFill/>
        </p:spPr>
        <p:txBody>
          <a:bodyPr wrap="square" lIns="36576" tIns="18288" rIns="36576" bIns="18288" anchor="ctr">
            <a:noAutofit/>
          </a:bodyPr>
          <a:lstStyle/>
          <a:p>
            <a:pPr algn="l">
              <a:spcBef>
                <a:spcPts val="0"/>
              </a:spcBef>
              <a:spcAft>
                <a:spcPts val="0"/>
              </a:spcAft>
              <a:buNone/>
            </a:pPr>
            <a:r>
              <a:rPr sz="1500" b="1" lang="ko-KR">
                <a:solidFill>
                  <a:srgbClr val="202124"/>
                </a:solidFill>
                <a:latin typeface="Calibri"/>
                <a:ea typeface="Noto Sans KR"/>
                <a:cs typeface="Calibri"/>
              </a:rPr>
              <a:t>보안</a:t>
            </a:r>
            <a:r>
              <a:rPr sz="1100" b="0" lang="ko-KR">
                <a:solidFill>
                  <a:srgbClr val="5F6368"/>
                </a:solidFill>
                <a:latin typeface="Calibri"/>
                <a:ea typeface="Noto Sans KR"/>
                <a:cs typeface="Calibri"/>
              </a:rPr>
              <a:t>   공격 차단 · 계층 격리</a:t>
            </a:r>
          </a:p>
        </p:txBody>
      </p:sp>
      <p:graphicFrame>
        <p:nvGraphicFramePr>
          <p:cNvPr id="30" name="Table 29"/>
          <p:cNvGraphicFramePr>
            <a:graphicFrameLocks noGrp="1"/>
          </p:cNvGraphicFramePr>
          <p:nvPr/>
        </p:nvGraphicFramePr>
        <p:xfrm>
          <a:off x="731520" y="4864608"/>
          <a:ext cx="3602736" cy="1060704"/>
        </p:xfrm>
        <a:graphic>
          <a:graphicData uri="http://schemas.openxmlformats.org/drawingml/2006/table">
            <a:tbl>
              <a:tblPr firstRow="0" bandRow="0">
                <a:tableStyleId>{2D5ABB26-0587-4C30-8999-92F81FD0307C}</a:tableStyleId>
              </a:tblPr>
              <a:tblGrid>
                <a:gridCol w="731520"/>
                <a:gridCol w="2871216"/>
              </a:tblGrid>
              <a:tr h="530352">
                <a:tc>
                  <a:txBody>
                    <a:bodyPr wrap="square"/>
                    <a:lstStyle/>
                    <a:p>
                      <a:pPr algn="l">
                        <a:spcBef>
                          <a:spcPts val="0"/>
                        </a:spcBef>
                        <a:spcAft>
                          <a:spcPts val="0"/>
                        </a:spcAft>
                        <a:buNone/>
                      </a:pPr>
                      <a:r>
                        <a:rPr sz="1100" b="1" lang="ko-KR">
                          <a:solidFill>
                            <a:srgbClr val="3C4043"/>
                          </a:solidFill>
                          <a:latin typeface="Calibri"/>
                          <a:ea typeface="Noto Sans KR"/>
                          <a:cs typeface="Calibri"/>
                        </a:rPr>
                        <a:t>구현</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Cloud Armor · 방화벽 · 외부 IP 제거 · HTTPS</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530352">
                <a:tc>
                  <a:txBody>
                    <a:bodyPr wrap="square"/>
                    <a:lstStyle/>
                    <a:p>
                      <a:pPr algn="l">
                        <a:spcBef>
                          <a:spcPts val="0"/>
                        </a:spcBef>
                        <a:spcAft>
                          <a:spcPts val="0"/>
                        </a:spcAft>
                        <a:buNone/>
                      </a:pPr>
                      <a:r>
                        <a:rPr sz="1100" b="1" lang="ko-KR">
                          <a:solidFill>
                            <a:srgbClr val="3C4043"/>
                          </a:solidFill>
                          <a:latin typeface="Calibri"/>
                          <a:ea typeface="Noto Sans KR"/>
                          <a:cs typeface="Calibri"/>
                        </a:rPr>
                        <a:t>검증</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403 · 429 차단 로그, WAS→WAS 차단</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
        <p:nvSpPr>
          <p:cNvPr id="31" name="Rounded Rectangle 30"/>
          <p:cNvSpPr/>
          <p:nvPr/>
        </p:nvSpPr>
        <p:spPr>
          <a:xfrm>
            <a:off x="4681728" y="4151376"/>
            <a:ext cx="3858768" cy="1956816"/>
          </a:xfrm>
          <a:prstGeom prst="roundRect">
            <a:avLst>
              <a:gd name="adj" fmla="val 5000"/>
            </a:avLst>
          </a:prstGeom>
          <a:solidFill>
            <a:srgbClr val="FFFFFF"/>
          </a:solidFill>
          <a:ln w="9525">
            <a:solidFill>
              <a:srgbClr val="DADCE0"/>
            </a:solidFill>
          </a:ln>
        </p:spPr>
        <p:txBody>
          <a:bodyPr rtlCol="0" anchor="ctr" wrap="square" lIns="73152" rIns="73152"/>
          <a:lstStyle/>
          <a:p>
            <a:pPr algn="ctr"/>
          </a:p>
        </p:txBody>
      </p:sp>
      <p:sp>
        <p:nvSpPr>
          <p:cNvPr id="32" name="Oval 31"/>
          <p:cNvSpPr/>
          <p:nvPr/>
        </p:nvSpPr>
        <p:spPr>
          <a:xfrm>
            <a:off x="4809744" y="4279392"/>
            <a:ext cx="457200" cy="457200"/>
          </a:xfrm>
          <a:prstGeom prst="ellipse">
            <a:avLst/>
          </a:prstGeom>
          <a:solidFill>
            <a:srgbClr val="E6F4EA"/>
          </a:solidFill>
          <a:ln>
            <a:noFill/>
          </a:ln>
        </p:spPr>
        <p:txBody>
          <a:bodyPr rtlCol="0" anchor="ctr" wrap="square" lIns="73152" rIns="73152"/>
          <a:lstStyle/>
          <a:p>
            <a:pPr algn="ctr"/>
          </a:p>
        </p:txBody>
      </p:sp>
      <p:pic>
        <p:nvPicPr>
          <p:cNvPr id="33" name="Picture 32" descr="check.png"/>
          <p:cNvPicPr>
            <a:picLocks noChangeAspect="1"/>
          </p:cNvPicPr>
          <p:nvPr/>
        </p:nvPicPr>
        <p:blipFill>
          <a:blip r:embed="rId3"/>
          <a:stretch>
            <a:fillRect/>
          </a:stretch>
        </p:blipFill>
        <p:spPr>
          <a:xfrm>
            <a:off x="4882896" y="4352544"/>
            <a:ext cx="310896" cy="310896"/>
          </a:xfrm>
          <a:prstGeom prst="rect">
            <a:avLst/>
          </a:prstGeom>
        </p:spPr>
      </p:pic>
      <p:sp>
        <p:nvSpPr>
          <p:cNvPr id="34" name="TextBox 33"/>
          <p:cNvSpPr txBox="1"/>
          <p:nvPr/>
        </p:nvSpPr>
        <p:spPr>
          <a:xfrm>
            <a:off x="5358384" y="4261104"/>
            <a:ext cx="3035808" cy="475488"/>
          </a:xfrm>
          <a:prstGeom prst="rect">
            <a:avLst/>
          </a:prstGeom>
          <a:noFill/>
        </p:spPr>
        <p:txBody>
          <a:bodyPr wrap="square" lIns="36576" tIns="18288" rIns="36576" bIns="18288" anchor="ctr">
            <a:noAutofit/>
          </a:bodyPr>
          <a:lstStyle/>
          <a:p>
            <a:pPr algn="l">
              <a:spcBef>
                <a:spcPts val="0"/>
              </a:spcBef>
              <a:spcAft>
                <a:spcPts val="0"/>
              </a:spcAft>
              <a:buNone/>
            </a:pPr>
            <a:r>
              <a:rPr sz="1500" b="1" lang="ko-KR">
                <a:solidFill>
                  <a:srgbClr val="202124"/>
                </a:solidFill>
                <a:latin typeface="Calibri"/>
                <a:ea typeface="Noto Sans KR"/>
                <a:cs typeface="Calibri"/>
              </a:rPr>
              <a:t>운영</a:t>
            </a:r>
            <a:r>
              <a:rPr sz="1100" b="0" lang="ko-KR">
                <a:solidFill>
                  <a:srgbClr val="5F6368"/>
                </a:solidFill>
                <a:latin typeface="Calibri"/>
                <a:ea typeface="Noto Sans KR"/>
                <a:cs typeface="Calibri"/>
              </a:rPr>
              <a:t>   데이터 보호 · 장애 자동 감지</a:t>
            </a:r>
          </a:p>
        </p:txBody>
      </p:sp>
      <p:graphicFrame>
        <p:nvGraphicFramePr>
          <p:cNvPr id="35" name="Table 34"/>
          <p:cNvGraphicFramePr>
            <a:graphicFrameLocks noGrp="1"/>
          </p:cNvGraphicFramePr>
          <p:nvPr/>
        </p:nvGraphicFramePr>
        <p:xfrm>
          <a:off x="4809744" y="4864608"/>
          <a:ext cx="3602736" cy="1060704"/>
        </p:xfrm>
        <a:graphic>
          <a:graphicData uri="http://schemas.openxmlformats.org/drawingml/2006/table">
            <a:tbl>
              <a:tblPr firstRow="0" bandRow="0">
                <a:tableStyleId>{2D5ABB26-0587-4C30-8999-92F81FD0307C}</a:tableStyleId>
              </a:tblPr>
              <a:tblGrid>
                <a:gridCol w="731520"/>
                <a:gridCol w="2871216"/>
              </a:tblGrid>
              <a:tr h="530352">
                <a:tc>
                  <a:txBody>
                    <a:bodyPr wrap="square"/>
                    <a:lstStyle/>
                    <a:p>
                      <a:pPr algn="l">
                        <a:spcBef>
                          <a:spcPts val="0"/>
                        </a:spcBef>
                        <a:spcAft>
                          <a:spcPts val="0"/>
                        </a:spcAft>
                        <a:buNone/>
                      </a:pPr>
                      <a:r>
                        <a:rPr sz="1100" b="1" lang="ko-KR">
                          <a:solidFill>
                            <a:srgbClr val="3C4043"/>
                          </a:solidFill>
                          <a:latin typeface="Calibri"/>
                          <a:ea typeface="Noto Sans KR"/>
                          <a:cs typeface="Calibri"/>
                        </a:rPr>
                        <a:t>구현</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자동 백업 · PITR, Logging · Monitoring · Slack</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530352">
                <a:tc>
                  <a:txBody>
                    <a:bodyPr wrap="square"/>
                    <a:lstStyle/>
                    <a:p>
                      <a:pPr algn="l">
                        <a:spcBef>
                          <a:spcPts val="0"/>
                        </a:spcBef>
                        <a:spcAft>
                          <a:spcPts val="0"/>
                        </a:spcAft>
                        <a:buNone/>
                      </a:pPr>
                      <a:r>
                        <a:rPr sz="1100" b="1" lang="ko-KR">
                          <a:solidFill>
                            <a:srgbClr val="3C4043"/>
                          </a:solidFill>
                          <a:latin typeface="Calibri"/>
                          <a:ea typeface="Noto Sans KR"/>
                          <a:cs typeface="Calibri"/>
                        </a:rPr>
                        <a:t>검증</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PITR 복구 · 알림 수신</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향후 계획</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nav-active"/>
          <p:cNvSpPr/>
          <p:nvPr/>
        </p:nvSpPr>
        <p:spPr>
          <a:xfrm>
            <a:off x="5710428"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다음 단계는 인프라 코드화, 배포 자동화, 권한·비용 최적화입니다</a:t>
            </a:r>
          </a:p>
        </p:txBody>
      </p:sp>
      <p:sp>
        <p:nvSpPr>
          <p:cNvPr id="16" name="Rounded Rectangle 15"/>
          <p:cNvSpPr/>
          <p:nvPr/>
        </p:nvSpPr>
        <p:spPr>
          <a:xfrm>
            <a:off x="603504" y="2048256"/>
            <a:ext cx="2499360" cy="3529584"/>
          </a:xfrm>
          <a:prstGeom prst="roundRect">
            <a:avLst>
              <a:gd name="adj" fmla="val 4000"/>
            </a:avLst>
          </a:prstGeom>
          <a:solidFill>
            <a:srgbClr val="E8F0FE"/>
          </a:solidFill>
          <a:ln w="9525">
            <a:solidFill>
              <a:srgbClr val="AECBFA"/>
            </a:solidFill>
          </a:ln>
        </p:spPr>
        <p:txBody>
          <a:bodyPr rtlCol="0" anchor="ctr" wrap="square" lIns="73152" rIns="73152"/>
          <a:lstStyle/>
          <a:p>
            <a:pPr algn="ctr"/>
          </a:p>
        </p:txBody>
      </p:sp>
      <p:sp>
        <p:nvSpPr>
          <p:cNvPr id="17" name="Oval 16"/>
          <p:cNvSpPr/>
          <p:nvPr/>
        </p:nvSpPr>
        <p:spPr>
          <a:xfrm>
            <a:off x="749808" y="2194560"/>
            <a:ext cx="566928" cy="566928"/>
          </a:xfrm>
          <a:prstGeom prst="ellipse">
            <a:avLst/>
          </a:prstGeom>
          <a:solidFill>
            <a:srgbClr val="FFFFFF"/>
          </a:solidFill>
          <a:ln>
            <a:noFill/>
          </a:ln>
        </p:spPr>
        <p:txBody>
          <a:bodyPr rtlCol="0" anchor="ctr" wrap="square" lIns="73152" rIns="73152"/>
          <a:lstStyle/>
          <a:p>
            <a:pPr algn="ctr"/>
          </a:p>
        </p:txBody>
      </p:sp>
      <p:pic>
        <p:nvPicPr>
          <p:cNvPr id="18" name="Picture 17" descr="iam.png"/>
          <p:cNvPicPr>
            <a:picLocks noChangeAspect="1"/>
          </p:cNvPicPr>
          <p:nvPr/>
        </p:nvPicPr>
        <p:blipFill>
          <a:blip r:embed="rId3"/>
          <a:stretch>
            <a:fillRect/>
          </a:stretch>
        </p:blipFill>
        <p:spPr>
          <a:xfrm>
            <a:off x="846186" y="2290938"/>
            <a:ext cx="374172" cy="374172"/>
          </a:xfrm>
          <a:prstGeom prst="rect">
            <a:avLst/>
          </a:prstGeom>
        </p:spPr>
      </p:pic>
      <p:sp>
        <p:nvSpPr>
          <p:cNvPr id="19" name="TextBox 18"/>
          <p:cNvSpPr txBox="1"/>
          <p:nvPr/>
        </p:nvSpPr>
        <p:spPr>
          <a:xfrm>
            <a:off x="1408176" y="2176272"/>
            <a:ext cx="1584960" cy="603504"/>
          </a:xfrm>
          <a:prstGeom prst="rect">
            <a:avLst/>
          </a:prstGeom>
          <a:noFill/>
        </p:spPr>
        <p:txBody>
          <a:bodyPr wrap="square" lIns="36576" tIns="18288" rIns="36576" bIns="18288" anchor="ctr">
            <a:noAutofit/>
          </a:bodyPr>
          <a:lstStyle/>
          <a:p>
            <a:pPr algn="l">
              <a:spcBef>
                <a:spcPts val="0"/>
              </a:spcBef>
              <a:spcAft>
                <a:spcPts val="0"/>
              </a:spcAft>
              <a:buNone/>
            </a:pPr>
            <a:r>
              <a:rPr sz="1050" b="0" lang="ko-KR">
                <a:solidFill>
                  <a:srgbClr val="5F6368"/>
                </a:solidFill>
                <a:latin typeface="Calibri"/>
                <a:ea typeface="Noto Sans KR"/>
                <a:cs typeface="Calibri"/>
              </a:rPr>
              <a:t>발표 직후</a:t>
            </a:r>
          </a:p>
          <a:p>
            <a:pPr algn="l">
              <a:spcBef>
                <a:spcPts val="0"/>
              </a:spcBef>
              <a:spcAft>
                <a:spcPts val="0"/>
              </a:spcAft>
              <a:buNone/>
            </a:pPr>
            <a:r>
              <a:rPr sz="1500" b="1" lang="ko-KR">
                <a:solidFill>
                  <a:srgbClr val="202124"/>
                </a:solidFill>
                <a:latin typeface="Calibri"/>
                <a:ea typeface="Noto Sans KR"/>
                <a:cs typeface="Calibri"/>
              </a:rPr>
              <a:t>1. 운영 보완</a:t>
            </a:r>
          </a:p>
        </p:txBody>
      </p:sp>
      <p:sp>
        <p:nvSpPr>
          <p:cNvPr id="20" name="TextBox 19"/>
          <p:cNvSpPr txBox="1"/>
          <p:nvPr/>
        </p:nvSpPr>
        <p:spPr>
          <a:xfrm>
            <a:off x="749808" y="2944368"/>
            <a:ext cx="2225040" cy="1920240"/>
          </a:xfrm>
          <a:prstGeom prst="rect">
            <a:avLst/>
          </a:prstGeom>
          <a:noFill/>
        </p:spPr>
        <p:txBody>
          <a:bodyPr wrap="square" lIns="36576" tIns="18288" rIns="36576" bIns="18288" anchor="t">
            <a:noAutofit/>
          </a:bodyPr>
          <a:lstStyle/>
          <a:p>
            <a:pPr algn="l" marL="146304" indent="-146304">
              <a:spcBef>
                <a:spcPts val="0"/>
              </a:spcBef>
              <a:spcAft>
                <a:spcPts val="800"/>
              </a:spcAft>
              <a:buFont typeface="Arial"/>
              <a:buChar char="•"/>
            </a:pPr>
            <a:r>
              <a:rPr sz="1200" b="0" lang="ko-KR">
                <a:solidFill>
                  <a:srgbClr val="3C4043"/>
                </a:solidFill>
                <a:latin typeface="Calibri"/>
                <a:ea typeface="Noto Sans KR"/>
                <a:cs typeface="Calibri"/>
              </a:rPr>
              <a:t>IAM 최소 권한 정리 (Owner 권한 축소, VM별 서비스 계정 분리)</a:t>
            </a:r>
          </a:p>
          <a:p>
            <a:pPr algn="l" marL="146304" indent="-146304">
              <a:spcBef>
                <a:spcPts val="0"/>
              </a:spcBef>
              <a:spcAft>
                <a:spcPts val="800"/>
              </a:spcAft>
              <a:buFont typeface="Arial"/>
              <a:buChar char="•"/>
            </a:pPr>
            <a:r>
              <a:rPr sz="1200" b="0" lang="ko-KR">
                <a:solidFill>
                  <a:srgbClr val="3C4043"/>
                </a:solidFill>
                <a:latin typeface="Calibri"/>
                <a:ea typeface="Noto Sans KR"/>
                <a:cs typeface="Calibri"/>
              </a:rPr>
              <a:t>DB 접속정보를 Secret Manager 주입으로 일원화</a:t>
            </a:r>
          </a:p>
          <a:p>
            <a:pPr algn="l" marL="146304" indent="-146304">
              <a:spcBef>
                <a:spcPts val="0"/>
              </a:spcBef>
              <a:spcAft>
                <a:spcPts val="800"/>
              </a:spcAft>
              <a:buFont typeface="Arial"/>
              <a:buChar char="•"/>
            </a:pPr>
            <a:r>
              <a:rPr sz="1200" b="0" lang="ko-KR">
                <a:solidFill>
                  <a:srgbClr val="3C4043"/>
                </a:solidFill>
                <a:latin typeface="Calibri"/>
                <a:ea typeface="Noto Sans KR"/>
                <a:cs typeface="Calibri"/>
              </a:rPr>
              <a:t>대시보드 · 알림 채널 정비</a:t>
            </a:r>
          </a:p>
        </p:txBody>
      </p:sp>
      <p:sp>
        <p:nvSpPr>
          <p:cNvPr id="21" name="TextBox 20"/>
          <p:cNvSpPr txBox="1"/>
          <p:nvPr/>
        </p:nvSpPr>
        <p:spPr>
          <a:xfrm>
            <a:off x="749808" y="4901184"/>
            <a:ext cx="2225040" cy="585216"/>
          </a:xfrm>
          <a:prstGeom prst="rect">
            <a:avLst/>
          </a:prstGeom>
          <a:noFill/>
        </p:spPr>
        <p:txBody>
          <a:bodyPr wrap="square" lIns="36576" tIns="18288" rIns="36576" bIns="18288" anchor="ctr">
            <a:noAutofit/>
          </a:bodyPr>
          <a:lstStyle/>
          <a:p>
            <a:pPr algn="l">
              <a:spcBef>
                <a:spcPts val="0"/>
              </a:spcBef>
              <a:spcAft>
                <a:spcPts val="0"/>
              </a:spcAft>
              <a:buNone/>
            </a:pPr>
            <a:r>
              <a:rPr sz="1100" b="1" lang="ko-KR">
                <a:solidFill>
                  <a:srgbClr val="1967D2"/>
                </a:solidFill>
                <a:latin typeface="Calibri"/>
                <a:ea typeface="Noto Sans KR"/>
                <a:cs typeface="Calibri"/>
              </a:rPr>
              <a:t>효과  </a:t>
            </a:r>
            <a:r>
              <a:rPr sz="1100" b="0" lang="ko-KR">
                <a:solidFill>
                  <a:srgbClr val="202124"/>
                </a:solidFill>
                <a:latin typeface="Calibri"/>
                <a:ea typeface="Noto Sans KR"/>
                <a:cs typeface="Calibri"/>
              </a:rPr>
              <a:t>권한 사고 · 비밀번호 노출 위험 감소</a:t>
            </a:r>
          </a:p>
        </p:txBody>
      </p:sp>
      <p:cxnSp>
        <p:nvCxnSpPr>
          <p:cNvPr id="22" name="Connector 21"/>
          <p:cNvCxnSpPr/>
          <p:nvPr/>
        </p:nvCxnSpPr>
        <p:spPr>
          <a:xfrm>
            <a:off x="3130296" y="2478024"/>
            <a:ext cx="164592" cy="0"/>
          </a:xfrm>
          <a:prstGeom prst="line">
            <a:avLst/>
          </a:prstGeom>
          <a:ln w="25400">
            <a:solidFill>
              <a:srgbClr val="1A73E8"/>
            </a:solidFill>
            <a:tailEnd type="triangle" w="med" len="med"/>
          </a:ln>
        </p:spPr>
      </p:cxnSp>
      <p:sp>
        <p:nvSpPr>
          <p:cNvPr id="23" name="Rounded Rectangle 22"/>
          <p:cNvSpPr/>
          <p:nvPr/>
        </p:nvSpPr>
        <p:spPr>
          <a:xfrm>
            <a:off x="3322320" y="2048256"/>
            <a:ext cx="2499360" cy="3529584"/>
          </a:xfrm>
          <a:prstGeom prst="roundRect">
            <a:avLst>
              <a:gd name="adj" fmla="val 4000"/>
            </a:avLst>
          </a:prstGeom>
          <a:solidFill>
            <a:srgbClr val="F8F9FA"/>
          </a:solidFill>
          <a:ln w="9525">
            <a:solidFill>
              <a:srgbClr val="DADCE0"/>
            </a:solidFill>
          </a:ln>
        </p:spPr>
        <p:txBody>
          <a:bodyPr rtlCol="0" anchor="ctr" wrap="square" lIns="73152" rIns="73152"/>
          <a:lstStyle/>
          <a:p>
            <a:pPr algn="ctr"/>
          </a:p>
        </p:txBody>
      </p:sp>
      <p:sp>
        <p:nvSpPr>
          <p:cNvPr id="24" name="Oval 23"/>
          <p:cNvSpPr/>
          <p:nvPr/>
        </p:nvSpPr>
        <p:spPr>
          <a:xfrm>
            <a:off x="3468624" y="2194560"/>
            <a:ext cx="566928" cy="566928"/>
          </a:xfrm>
          <a:prstGeom prst="ellipse">
            <a:avLst/>
          </a:prstGeom>
          <a:solidFill>
            <a:srgbClr val="FFFFFF"/>
          </a:solidFill>
          <a:ln>
            <a:noFill/>
          </a:ln>
        </p:spPr>
        <p:txBody>
          <a:bodyPr rtlCol="0" anchor="ctr" wrap="square" lIns="73152" rIns="73152"/>
          <a:lstStyle/>
          <a:p>
            <a:pPr algn="ctr"/>
          </a:p>
        </p:txBody>
      </p:sp>
      <p:pic>
        <p:nvPicPr>
          <p:cNvPr id="25" name="Picture 24" descr="build.png"/>
          <p:cNvPicPr>
            <a:picLocks noChangeAspect="1"/>
          </p:cNvPicPr>
          <p:nvPr/>
        </p:nvPicPr>
        <p:blipFill>
          <a:blip r:embed="rId4"/>
          <a:stretch>
            <a:fillRect/>
          </a:stretch>
        </p:blipFill>
        <p:spPr>
          <a:xfrm>
            <a:off x="3565002" y="2290938"/>
            <a:ext cx="374172" cy="374172"/>
          </a:xfrm>
          <a:prstGeom prst="rect">
            <a:avLst/>
          </a:prstGeom>
        </p:spPr>
      </p:pic>
      <p:sp>
        <p:nvSpPr>
          <p:cNvPr id="26" name="TextBox 25"/>
          <p:cNvSpPr txBox="1"/>
          <p:nvPr/>
        </p:nvSpPr>
        <p:spPr>
          <a:xfrm>
            <a:off x="4126992" y="2176272"/>
            <a:ext cx="1584960" cy="603504"/>
          </a:xfrm>
          <a:prstGeom prst="rect">
            <a:avLst/>
          </a:prstGeom>
          <a:noFill/>
        </p:spPr>
        <p:txBody>
          <a:bodyPr wrap="square" lIns="36576" tIns="18288" rIns="36576" bIns="18288" anchor="ctr">
            <a:noAutofit/>
          </a:bodyPr>
          <a:lstStyle/>
          <a:p>
            <a:pPr algn="l">
              <a:spcBef>
                <a:spcPts val="0"/>
              </a:spcBef>
              <a:spcAft>
                <a:spcPts val="0"/>
              </a:spcAft>
              <a:buNone/>
            </a:pPr>
            <a:r>
              <a:rPr sz="1050" b="0" lang="ko-KR">
                <a:solidFill>
                  <a:srgbClr val="5F6368"/>
                </a:solidFill>
                <a:latin typeface="Calibri"/>
                <a:ea typeface="Noto Sans KR"/>
                <a:cs typeface="Calibri"/>
              </a:rPr>
              <a:t>최종 프로젝트 ①</a:t>
            </a:r>
          </a:p>
          <a:p>
            <a:pPr algn="l">
              <a:spcBef>
                <a:spcPts val="0"/>
              </a:spcBef>
              <a:spcAft>
                <a:spcPts val="0"/>
              </a:spcAft>
              <a:buNone/>
            </a:pPr>
            <a:r>
              <a:rPr sz="1500" b="1" lang="ko-KR">
                <a:solidFill>
                  <a:srgbClr val="202124"/>
                </a:solidFill>
                <a:latin typeface="Calibri"/>
                <a:ea typeface="Noto Sans KR"/>
                <a:cs typeface="Calibri"/>
              </a:rPr>
              <a:t>2. 자동화</a:t>
            </a:r>
          </a:p>
        </p:txBody>
      </p:sp>
      <p:sp>
        <p:nvSpPr>
          <p:cNvPr id="27" name="TextBox 26"/>
          <p:cNvSpPr txBox="1"/>
          <p:nvPr/>
        </p:nvSpPr>
        <p:spPr>
          <a:xfrm>
            <a:off x="3468624" y="2944368"/>
            <a:ext cx="2225040" cy="1920240"/>
          </a:xfrm>
          <a:prstGeom prst="rect">
            <a:avLst/>
          </a:prstGeom>
          <a:noFill/>
        </p:spPr>
        <p:txBody>
          <a:bodyPr wrap="square" lIns="36576" tIns="18288" rIns="36576" bIns="18288" anchor="t">
            <a:noAutofit/>
          </a:bodyPr>
          <a:lstStyle/>
          <a:p>
            <a:pPr algn="l" marL="146304" indent="-146304">
              <a:spcBef>
                <a:spcPts val="0"/>
              </a:spcBef>
              <a:spcAft>
                <a:spcPts val="800"/>
              </a:spcAft>
              <a:buFont typeface="Arial"/>
              <a:buChar char="•"/>
            </a:pPr>
            <a:r>
              <a:rPr sz="1200" b="0" lang="ko-KR">
                <a:solidFill>
                  <a:srgbClr val="3C4043"/>
                </a:solidFill>
                <a:latin typeface="Calibri"/>
                <a:ea typeface="Noto Sans KR"/>
                <a:cs typeface="Calibri"/>
              </a:rPr>
              <a:t>Terraform으로 전체 인프라 코드화 (재현 · 리뷰 · 롤백)</a:t>
            </a:r>
          </a:p>
          <a:p>
            <a:pPr algn="l" marL="146304" indent="-146304">
              <a:spcBef>
                <a:spcPts val="0"/>
              </a:spcBef>
              <a:spcAft>
                <a:spcPts val="800"/>
              </a:spcAft>
              <a:buFont typeface="Arial"/>
              <a:buChar char="•"/>
            </a:pPr>
            <a:r>
              <a:rPr sz="1200" b="0" lang="ko-KR">
                <a:solidFill>
                  <a:srgbClr val="3C4043"/>
                </a:solidFill>
                <a:latin typeface="Calibri"/>
                <a:ea typeface="Noto Sans KR"/>
                <a:cs typeface="Calibri"/>
              </a:rPr>
              <a:t>Cloud Build: Git push → WAR 빌드 → GCS → 롤링 업데이트</a:t>
            </a:r>
          </a:p>
        </p:txBody>
      </p:sp>
      <p:sp>
        <p:nvSpPr>
          <p:cNvPr id="28" name="TextBox 27"/>
          <p:cNvSpPr txBox="1"/>
          <p:nvPr/>
        </p:nvSpPr>
        <p:spPr>
          <a:xfrm>
            <a:off x="3468624" y="4901184"/>
            <a:ext cx="2225040" cy="585216"/>
          </a:xfrm>
          <a:prstGeom prst="rect">
            <a:avLst/>
          </a:prstGeom>
          <a:noFill/>
        </p:spPr>
        <p:txBody>
          <a:bodyPr wrap="square" lIns="36576" tIns="18288" rIns="36576" bIns="18288" anchor="ctr">
            <a:noAutofit/>
          </a:bodyPr>
          <a:lstStyle/>
          <a:p>
            <a:pPr algn="l">
              <a:spcBef>
                <a:spcPts val="0"/>
              </a:spcBef>
              <a:spcAft>
                <a:spcPts val="0"/>
              </a:spcAft>
              <a:buNone/>
            </a:pPr>
            <a:r>
              <a:rPr sz="1100" b="1" lang="ko-KR">
                <a:solidFill>
                  <a:srgbClr val="1967D2"/>
                </a:solidFill>
                <a:latin typeface="Calibri"/>
                <a:ea typeface="Noto Sans KR"/>
                <a:cs typeface="Calibri"/>
              </a:rPr>
              <a:t>효과  </a:t>
            </a:r>
            <a:r>
              <a:rPr sz="1100" b="0" lang="ko-KR">
                <a:solidFill>
                  <a:srgbClr val="202124"/>
                </a:solidFill>
                <a:latin typeface="Calibri"/>
                <a:ea typeface="Noto Sans KR"/>
                <a:cs typeface="Calibri"/>
              </a:rPr>
              <a:t>누구나 같은 환경을 재현 · 리뷰 · 롤백</a:t>
            </a:r>
          </a:p>
        </p:txBody>
      </p:sp>
      <p:cxnSp>
        <p:nvCxnSpPr>
          <p:cNvPr id="29" name="Connector 28"/>
          <p:cNvCxnSpPr/>
          <p:nvPr/>
        </p:nvCxnSpPr>
        <p:spPr>
          <a:xfrm>
            <a:off x="5849112" y="2478024"/>
            <a:ext cx="164592" cy="0"/>
          </a:xfrm>
          <a:prstGeom prst="line">
            <a:avLst/>
          </a:prstGeom>
          <a:ln w="25400">
            <a:solidFill>
              <a:srgbClr val="1A73E8"/>
            </a:solidFill>
            <a:tailEnd type="triangle" w="med" len="med"/>
          </a:ln>
        </p:spPr>
      </p:cxnSp>
      <p:sp>
        <p:nvSpPr>
          <p:cNvPr id="30" name="Rounded Rectangle 29"/>
          <p:cNvSpPr/>
          <p:nvPr/>
        </p:nvSpPr>
        <p:spPr>
          <a:xfrm>
            <a:off x="6041136" y="2048256"/>
            <a:ext cx="2499360" cy="3529584"/>
          </a:xfrm>
          <a:prstGeom prst="roundRect">
            <a:avLst>
              <a:gd name="adj" fmla="val 4000"/>
            </a:avLst>
          </a:prstGeom>
          <a:solidFill>
            <a:srgbClr val="F8F9FA"/>
          </a:solidFill>
          <a:ln w="9525">
            <a:solidFill>
              <a:srgbClr val="DADCE0"/>
            </a:solidFill>
          </a:ln>
        </p:spPr>
        <p:txBody>
          <a:bodyPr rtlCol="0" anchor="ctr" wrap="square" lIns="73152" rIns="73152"/>
          <a:lstStyle/>
          <a:p>
            <a:pPr algn="ctr"/>
          </a:p>
        </p:txBody>
      </p:sp>
      <p:sp>
        <p:nvSpPr>
          <p:cNvPr id="31" name="Oval 30"/>
          <p:cNvSpPr/>
          <p:nvPr/>
        </p:nvSpPr>
        <p:spPr>
          <a:xfrm>
            <a:off x="6187440" y="2194560"/>
            <a:ext cx="566928" cy="566928"/>
          </a:xfrm>
          <a:prstGeom prst="ellipse">
            <a:avLst/>
          </a:prstGeom>
          <a:solidFill>
            <a:srgbClr val="FFFFFF"/>
          </a:solidFill>
          <a:ln>
            <a:noFill/>
          </a:ln>
        </p:spPr>
        <p:txBody>
          <a:bodyPr rtlCol="0" anchor="ctr" wrap="square" lIns="73152" rIns="73152"/>
          <a:lstStyle/>
          <a:p>
            <a:pPr algn="ctr"/>
          </a:p>
        </p:txBody>
      </p:sp>
      <p:pic>
        <p:nvPicPr>
          <p:cNvPr id="32" name="Picture 31" descr="bigquery.png"/>
          <p:cNvPicPr>
            <a:picLocks noChangeAspect="1"/>
          </p:cNvPicPr>
          <p:nvPr/>
        </p:nvPicPr>
        <p:blipFill>
          <a:blip r:embed="rId5"/>
          <a:stretch>
            <a:fillRect/>
          </a:stretch>
        </p:blipFill>
        <p:spPr>
          <a:xfrm>
            <a:off x="6283818" y="2290938"/>
            <a:ext cx="374172" cy="374172"/>
          </a:xfrm>
          <a:prstGeom prst="rect">
            <a:avLst/>
          </a:prstGeom>
        </p:spPr>
      </p:pic>
      <p:sp>
        <p:nvSpPr>
          <p:cNvPr id="33" name="TextBox 32"/>
          <p:cNvSpPr txBox="1"/>
          <p:nvPr/>
        </p:nvSpPr>
        <p:spPr>
          <a:xfrm>
            <a:off x="6845808" y="2176272"/>
            <a:ext cx="1584960" cy="603504"/>
          </a:xfrm>
          <a:prstGeom prst="rect">
            <a:avLst/>
          </a:prstGeom>
          <a:noFill/>
        </p:spPr>
        <p:txBody>
          <a:bodyPr wrap="square" lIns="36576" tIns="18288" rIns="36576" bIns="18288" anchor="ctr">
            <a:noAutofit/>
          </a:bodyPr>
          <a:lstStyle/>
          <a:p>
            <a:pPr algn="l">
              <a:spcBef>
                <a:spcPts val="0"/>
              </a:spcBef>
              <a:spcAft>
                <a:spcPts val="0"/>
              </a:spcAft>
              <a:buNone/>
            </a:pPr>
            <a:r>
              <a:rPr sz="1050" b="0" lang="ko-KR">
                <a:solidFill>
                  <a:srgbClr val="5F6368"/>
                </a:solidFill>
                <a:latin typeface="Calibri"/>
                <a:ea typeface="Noto Sans KR"/>
                <a:cs typeface="Calibri"/>
              </a:rPr>
              <a:t>최종 프로젝트 ②</a:t>
            </a:r>
          </a:p>
          <a:p>
            <a:pPr algn="l">
              <a:spcBef>
                <a:spcPts val="0"/>
              </a:spcBef>
              <a:spcAft>
                <a:spcPts val="0"/>
              </a:spcAft>
              <a:buNone/>
            </a:pPr>
            <a:r>
              <a:rPr sz="1500" b="1" lang="ko-KR">
                <a:solidFill>
                  <a:srgbClr val="202124"/>
                </a:solidFill>
                <a:latin typeface="Calibri"/>
                <a:ea typeface="Noto Sans KR"/>
                <a:cs typeface="Calibri"/>
              </a:rPr>
              <a:t>3. 확장</a:t>
            </a:r>
          </a:p>
        </p:txBody>
      </p:sp>
      <p:sp>
        <p:nvSpPr>
          <p:cNvPr id="34" name="TextBox 33"/>
          <p:cNvSpPr txBox="1"/>
          <p:nvPr/>
        </p:nvSpPr>
        <p:spPr>
          <a:xfrm>
            <a:off x="6187440" y="2944368"/>
            <a:ext cx="2225040" cy="1920240"/>
          </a:xfrm>
          <a:prstGeom prst="rect">
            <a:avLst/>
          </a:prstGeom>
          <a:noFill/>
        </p:spPr>
        <p:txBody>
          <a:bodyPr wrap="square" lIns="36576" tIns="18288" rIns="36576" bIns="18288" anchor="t">
            <a:noAutofit/>
          </a:bodyPr>
          <a:lstStyle/>
          <a:p>
            <a:pPr algn="l" marL="146304" indent="-146304">
              <a:spcBef>
                <a:spcPts val="0"/>
              </a:spcBef>
              <a:spcAft>
                <a:spcPts val="800"/>
              </a:spcAft>
              <a:buFont typeface="Arial"/>
              <a:buChar char="•"/>
            </a:pPr>
            <a:r>
              <a:rPr sz="1200" b="0" lang="ko-KR">
                <a:solidFill>
                  <a:srgbClr val="3C4043"/>
                </a:solidFill>
                <a:latin typeface="Calibri"/>
                <a:ea typeface="Noto Sans KR"/>
                <a:cs typeface="Calibri"/>
              </a:rPr>
              <a:t>AWS 연계 멀티클라우드 (GCP 10.0.0.0/16 · AWS 10.1.0.0/16 대역 분리)</a:t>
            </a:r>
          </a:p>
          <a:p>
            <a:pPr algn="l" marL="146304" indent="-146304">
              <a:spcBef>
                <a:spcPts val="0"/>
              </a:spcBef>
              <a:spcAft>
                <a:spcPts val="800"/>
              </a:spcAft>
              <a:buFont typeface="Arial"/>
              <a:buChar char="•"/>
            </a:pPr>
            <a:r>
              <a:rPr sz="1200" b="0" lang="ko-KR">
                <a:solidFill>
                  <a:srgbClr val="3C4043"/>
                </a:solidFill>
                <a:latin typeface="Calibri"/>
                <a:ea typeface="Noto Sans KR"/>
                <a:cs typeface="Calibri"/>
              </a:rPr>
              <a:t>BigQuery Billing 대시보드로 월 비용 분석</a:t>
            </a:r>
          </a:p>
        </p:txBody>
      </p:sp>
      <p:sp>
        <p:nvSpPr>
          <p:cNvPr id="35" name="TextBox 34"/>
          <p:cNvSpPr txBox="1"/>
          <p:nvPr/>
        </p:nvSpPr>
        <p:spPr>
          <a:xfrm>
            <a:off x="6187440" y="4901184"/>
            <a:ext cx="2225040" cy="585216"/>
          </a:xfrm>
          <a:prstGeom prst="rect">
            <a:avLst/>
          </a:prstGeom>
          <a:noFill/>
        </p:spPr>
        <p:txBody>
          <a:bodyPr wrap="square" lIns="36576" tIns="18288" rIns="36576" bIns="18288" anchor="ctr">
            <a:noAutofit/>
          </a:bodyPr>
          <a:lstStyle/>
          <a:p>
            <a:pPr algn="l">
              <a:spcBef>
                <a:spcPts val="0"/>
              </a:spcBef>
              <a:spcAft>
                <a:spcPts val="0"/>
              </a:spcAft>
              <a:buNone/>
            </a:pPr>
            <a:r>
              <a:rPr sz="1100" b="1" lang="ko-KR">
                <a:solidFill>
                  <a:srgbClr val="1967D2"/>
                </a:solidFill>
                <a:latin typeface="Calibri"/>
                <a:ea typeface="Noto Sans KR"/>
                <a:cs typeface="Calibri"/>
              </a:rPr>
              <a:t>효과  </a:t>
            </a:r>
            <a:r>
              <a:rPr sz="1100" b="0" lang="ko-KR">
                <a:solidFill>
                  <a:srgbClr val="202124"/>
                </a:solidFill>
                <a:latin typeface="Calibri"/>
                <a:ea typeface="Noto Sans KR"/>
                <a:cs typeface="Calibri"/>
              </a:rPr>
              <a:t>두 클라우드 운영 경험 · 비용 가시화</a:t>
            </a:r>
          </a:p>
        </p:txBody>
      </p:sp>
      <p:sp>
        <p:nvSpPr>
          <p:cNvPr id="36" name="Rounded Rectangle 35"/>
          <p:cNvSpPr/>
          <p:nvPr/>
        </p:nvSpPr>
        <p:spPr>
          <a:xfrm>
            <a:off x="603504" y="5705856"/>
            <a:ext cx="7936992" cy="493776"/>
          </a:xfrm>
          <a:prstGeom prst="roundRect">
            <a:avLst>
              <a:gd name="adj" fmla="val 20000"/>
            </a:avLst>
          </a:prstGeom>
          <a:solidFill>
            <a:srgbClr val="F8F9FA"/>
          </a:solidFill>
          <a:ln w="9525">
            <a:solidFill>
              <a:srgbClr val="DADCE0"/>
            </a:solidFill>
          </a:ln>
        </p:spPr>
        <p:txBody>
          <a:bodyPr rtlCol="0" anchor="ctr" wrap="square" lIns="73152" rIns="73152"/>
          <a:lstStyle/>
          <a:p>
            <a:pPr algn="ctr">
              <a:spcBef>
                <a:spcPts val="0"/>
              </a:spcBef>
              <a:spcAft>
                <a:spcPts val="0"/>
              </a:spcAft>
              <a:buNone/>
            </a:pPr>
            <a:r>
              <a:rPr sz="1100" b="1" lang="ko-KR">
                <a:solidFill>
                  <a:srgbClr val="202124"/>
                </a:solidFill>
                <a:latin typeface="Calibri"/>
                <a:ea typeface="Noto Sans KR"/>
                <a:cs typeface="Calibri"/>
              </a:rPr>
              <a:t>이어갈 설계 원칙  </a:t>
            </a:r>
            <a:r>
              <a:rPr sz="1100" b="0" lang="ko-KR">
                <a:solidFill>
                  <a:srgbClr val="3C4043"/>
                </a:solidFill>
                <a:latin typeface="Calibri"/>
                <a:ea typeface="Noto Sans KR"/>
                <a:cs typeface="Calibri"/>
              </a:rPr>
              <a:t>앱은 그대로 · 계층마다 이중화 · 진입점은 LB 하나 · 운영은 관리형으로 → 코드(IaC)와 멀티클라우드에도 그대로 적용</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프로젝트 회고</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nav-active"/>
          <p:cNvSpPr/>
          <p:nvPr/>
        </p:nvSpPr>
        <p:spPr>
          <a:xfrm>
            <a:off x="5710428"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TextBox 13"/>
          <p:cNvSpPr txBox="1"/>
          <p:nvPr/>
        </p:nvSpPr>
        <p:spPr>
          <a:xfrm>
            <a:off x="678484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역할을 나눠 병렬로 만들며 인터페이스 합의의 중요성을 배웠습니다</a:t>
            </a:r>
          </a:p>
        </p:txBody>
      </p:sp>
      <p:sp>
        <p:nvSpPr>
          <p:cNvPr id="16" name="Rounded Rectangle 15"/>
          <p:cNvSpPr/>
          <p:nvPr/>
        </p:nvSpPr>
        <p:spPr>
          <a:xfrm>
            <a:off x="603504" y="2048256"/>
            <a:ext cx="2499360" cy="2761488"/>
          </a:xfrm>
          <a:prstGeom prst="roundRect">
            <a:avLst>
              <a:gd name="adj" fmla="val 5000"/>
            </a:avLst>
          </a:prstGeom>
          <a:solidFill>
            <a:srgbClr val="E6F4EA"/>
          </a:solidFill>
          <a:ln>
            <a:noFill/>
          </a:ln>
        </p:spPr>
        <p:txBody>
          <a:bodyPr rtlCol="0" anchor="ctr" wrap="square" lIns="73152" rIns="73152"/>
          <a:lstStyle/>
          <a:p>
            <a:pPr algn="ctr"/>
          </a:p>
        </p:txBody>
      </p:sp>
      <p:sp>
        <p:nvSpPr>
          <p:cNvPr id="17" name="TextBox 16"/>
          <p:cNvSpPr txBox="1"/>
          <p:nvPr/>
        </p:nvSpPr>
        <p:spPr>
          <a:xfrm>
            <a:off x="731520" y="2103120"/>
            <a:ext cx="2243328" cy="420624"/>
          </a:xfrm>
          <a:prstGeom prst="rect">
            <a:avLst/>
          </a:prstGeom>
          <a:noFill/>
        </p:spPr>
        <p:txBody>
          <a:bodyPr wrap="square" lIns="36576" tIns="18288" rIns="36576" bIns="18288" anchor="ctr">
            <a:noAutofit/>
          </a:bodyPr>
          <a:lstStyle/>
          <a:p>
            <a:pPr algn="l">
              <a:spcBef>
                <a:spcPts val="0"/>
              </a:spcBef>
              <a:spcAft>
                <a:spcPts val="0"/>
              </a:spcAft>
              <a:buNone/>
            </a:pPr>
            <a:r>
              <a:rPr sz="1600" b="1" lang="ko-KR">
                <a:solidFill>
                  <a:srgbClr val="188038"/>
                </a:solidFill>
                <a:latin typeface="Calibri"/>
                <a:ea typeface="Noto Sans KR"/>
                <a:cs typeface="Calibri"/>
              </a:rPr>
              <a:t>Keep</a:t>
            </a:r>
            <a:r>
              <a:rPr sz="1100" b="0" lang="ko-KR">
                <a:solidFill>
                  <a:srgbClr val="5F6368"/>
                </a:solidFill>
                <a:latin typeface="Calibri"/>
                <a:ea typeface="Noto Sans KR"/>
                <a:cs typeface="Calibri"/>
              </a:rPr>
              <a:t>  잘한 점</a:t>
            </a:r>
          </a:p>
        </p:txBody>
      </p:sp>
      <p:sp>
        <p:nvSpPr>
          <p:cNvPr id="18" name="TextBox 17"/>
          <p:cNvSpPr txBox="1"/>
          <p:nvPr/>
        </p:nvSpPr>
        <p:spPr>
          <a:xfrm>
            <a:off x="731520" y="2560320"/>
            <a:ext cx="2261616" cy="2194560"/>
          </a:xfrm>
          <a:prstGeom prst="rect">
            <a:avLst/>
          </a:prstGeom>
          <a:noFill/>
        </p:spPr>
        <p:txBody>
          <a:bodyPr wrap="square" lIns="36576" tIns="18288" rIns="36576" bIns="18288" anchor="t">
            <a:noAutofit/>
          </a:bodyPr>
          <a:lstStyle/>
          <a:p>
            <a:pPr algn="l" marL="146304" indent="-146304">
              <a:spcBef>
                <a:spcPts val="0"/>
              </a:spcBef>
              <a:spcAft>
                <a:spcPts val="600"/>
              </a:spcAft>
              <a:buFont typeface="Arial"/>
              <a:buChar char="•"/>
            </a:pPr>
            <a:r>
              <a:rPr sz="1100" b="0" lang="ko-KR">
                <a:solidFill>
                  <a:srgbClr val="3C4043"/>
                </a:solidFill>
                <a:latin typeface="Calibri"/>
                <a:ea typeface="Noto Sans KR"/>
                <a:cs typeface="Calibri"/>
              </a:rPr>
              <a:t>계층별 Owner · 인터페이스를 먼저 정해 4명이 병렬 구축</a:t>
            </a:r>
          </a:p>
          <a:p>
            <a:pPr algn="l" marL="146304" indent="-146304">
              <a:spcBef>
                <a:spcPts val="0"/>
              </a:spcBef>
              <a:spcAft>
                <a:spcPts val="600"/>
              </a:spcAft>
              <a:buFont typeface="Arial"/>
              <a:buChar char="•"/>
            </a:pPr>
            <a:r>
              <a:rPr sz="1100" b="0" lang="ko-KR">
                <a:solidFill>
                  <a:srgbClr val="3C4043"/>
                </a:solidFill>
                <a:latin typeface="Calibri"/>
                <a:ea typeface="Noto Sans KR"/>
                <a:cs typeface="Calibri"/>
              </a:rPr>
              <a:t>시나리오 체크리스트로 장애·공격을 직접 재현·검증</a:t>
            </a:r>
          </a:p>
          <a:p>
            <a:pPr algn="l" marL="146304" indent="-146304">
              <a:spcBef>
                <a:spcPts val="0"/>
              </a:spcBef>
              <a:spcAft>
                <a:spcPts val="600"/>
              </a:spcAft>
              <a:buFont typeface="Arial"/>
              <a:buChar char="•"/>
            </a:pPr>
            <a:r>
              <a:rPr sz="1100" b="0" lang="ko-KR">
                <a:solidFill>
                  <a:srgbClr val="3C4043"/>
                </a:solidFill>
                <a:latin typeface="Calibri"/>
                <a:ea typeface="Noto Sans KR"/>
                <a:cs typeface="Calibri"/>
              </a:rPr>
              <a:t>트러블슈팅을 Confluence에 기록해 팀 지식으로 공유</a:t>
            </a:r>
          </a:p>
        </p:txBody>
      </p:sp>
      <p:sp>
        <p:nvSpPr>
          <p:cNvPr id="19" name="Rounded Rectangle 18"/>
          <p:cNvSpPr/>
          <p:nvPr/>
        </p:nvSpPr>
        <p:spPr>
          <a:xfrm>
            <a:off x="3322320" y="2048256"/>
            <a:ext cx="2499360" cy="2761488"/>
          </a:xfrm>
          <a:prstGeom prst="roundRect">
            <a:avLst>
              <a:gd name="adj" fmla="val 5000"/>
            </a:avLst>
          </a:prstGeom>
          <a:solidFill>
            <a:srgbClr val="FCE8E6"/>
          </a:solidFill>
          <a:ln>
            <a:noFill/>
          </a:ln>
        </p:spPr>
        <p:txBody>
          <a:bodyPr rtlCol="0" anchor="ctr" wrap="square" lIns="73152" rIns="73152"/>
          <a:lstStyle/>
          <a:p>
            <a:pPr algn="ctr"/>
          </a:p>
        </p:txBody>
      </p:sp>
      <p:sp>
        <p:nvSpPr>
          <p:cNvPr id="20" name="TextBox 19"/>
          <p:cNvSpPr txBox="1"/>
          <p:nvPr/>
        </p:nvSpPr>
        <p:spPr>
          <a:xfrm>
            <a:off x="3450336" y="2103120"/>
            <a:ext cx="2243328" cy="420624"/>
          </a:xfrm>
          <a:prstGeom prst="rect">
            <a:avLst/>
          </a:prstGeom>
          <a:noFill/>
        </p:spPr>
        <p:txBody>
          <a:bodyPr wrap="square" lIns="36576" tIns="18288" rIns="36576" bIns="18288" anchor="ctr">
            <a:noAutofit/>
          </a:bodyPr>
          <a:lstStyle/>
          <a:p>
            <a:pPr algn="l">
              <a:spcBef>
                <a:spcPts val="0"/>
              </a:spcBef>
              <a:spcAft>
                <a:spcPts val="0"/>
              </a:spcAft>
              <a:buNone/>
            </a:pPr>
            <a:r>
              <a:rPr sz="1600" b="1" lang="ko-KR">
                <a:solidFill>
                  <a:srgbClr val="C5221F"/>
                </a:solidFill>
                <a:latin typeface="Calibri"/>
                <a:ea typeface="Noto Sans KR"/>
                <a:cs typeface="Calibri"/>
              </a:rPr>
              <a:t>Problem</a:t>
            </a:r>
            <a:r>
              <a:rPr sz="1100" b="0" lang="ko-KR">
                <a:solidFill>
                  <a:srgbClr val="5F6368"/>
                </a:solidFill>
                <a:latin typeface="Calibri"/>
                <a:ea typeface="Noto Sans KR"/>
                <a:cs typeface="Calibri"/>
              </a:rPr>
              <a:t>  아쉬운 점</a:t>
            </a:r>
          </a:p>
        </p:txBody>
      </p:sp>
      <p:sp>
        <p:nvSpPr>
          <p:cNvPr id="21" name="TextBox 20"/>
          <p:cNvSpPr txBox="1"/>
          <p:nvPr/>
        </p:nvSpPr>
        <p:spPr>
          <a:xfrm>
            <a:off x="3450336" y="2560320"/>
            <a:ext cx="2261616" cy="2194560"/>
          </a:xfrm>
          <a:prstGeom prst="rect">
            <a:avLst/>
          </a:prstGeom>
          <a:noFill/>
        </p:spPr>
        <p:txBody>
          <a:bodyPr wrap="square" lIns="36576" tIns="18288" rIns="36576" bIns="18288" anchor="t">
            <a:noAutofit/>
          </a:bodyPr>
          <a:lstStyle/>
          <a:p>
            <a:pPr algn="l" marL="146304" indent="-146304">
              <a:spcBef>
                <a:spcPts val="0"/>
              </a:spcBef>
              <a:spcAft>
                <a:spcPts val="600"/>
              </a:spcAft>
              <a:buFont typeface="Arial"/>
              <a:buChar char="•"/>
            </a:pPr>
            <a:r>
              <a:rPr sz="1100" b="0" lang="ko-KR">
                <a:solidFill>
                  <a:srgbClr val="3C4043"/>
                </a:solidFill>
                <a:latin typeface="Calibri"/>
                <a:ea typeface="Noto Sans KR"/>
                <a:cs typeface="Calibri"/>
              </a:rPr>
              <a:t>담당 간 설정 불일치로 통합 시 시행착오 (헬스체크 포트, 서비스 계정 권한)</a:t>
            </a:r>
          </a:p>
          <a:p>
            <a:pPr algn="l" marL="146304" indent="-146304">
              <a:spcBef>
                <a:spcPts val="0"/>
              </a:spcBef>
              <a:spcAft>
                <a:spcPts val="600"/>
              </a:spcAft>
              <a:buFont typeface="Arial"/>
              <a:buChar char="•"/>
            </a:pPr>
            <a:r>
              <a:rPr sz="1100" b="0" lang="ko-KR">
                <a:solidFill>
                  <a:srgbClr val="3C4043"/>
                </a:solidFill>
                <a:latin typeface="Calibri"/>
                <a:ea typeface="Noto Sans KR"/>
                <a:cs typeface="Calibri"/>
              </a:rPr>
              <a:t>콘솔 수작업이 많아 재현 · 롤백이 어려움</a:t>
            </a:r>
          </a:p>
          <a:p>
            <a:pPr algn="l" marL="146304" indent="-146304">
              <a:spcBef>
                <a:spcPts val="0"/>
              </a:spcBef>
              <a:spcAft>
                <a:spcPts val="600"/>
              </a:spcAft>
              <a:buFont typeface="Arial"/>
              <a:buChar char="•"/>
            </a:pPr>
            <a:r>
              <a:rPr sz="1100" b="0" lang="ko-KR">
                <a:solidFill>
                  <a:srgbClr val="3C4043"/>
                </a:solidFill>
                <a:latin typeface="Calibri"/>
                <a:ea typeface="Noto Sans KR"/>
                <a:cs typeface="Calibri"/>
              </a:rPr>
              <a:t>발표 준비가 구축 막바지에 몰림</a:t>
            </a:r>
          </a:p>
        </p:txBody>
      </p:sp>
      <p:sp>
        <p:nvSpPr>
          <p:cNvPr id="22" name="Rounded Rectangle 21"/>
          <p:cNvSpPr/>
          <p:nvPr/>
        </p:nvSpPr>
        <p:spPr>
          <a:xfrm>
            <a:off x="6041136" y="2048256"/>
            <a:ext cx="2499360" cy="2761488"/>
          </a:xfrm>
          <a:prstGeom prst="roundRect">
            <a:avLst>
              <a:gd name="adj" fmla="val 5000"/>
            </a:avLst>
          </a:prstGeom>
          <a:solidFill>
            <a:srgbClr val="E8F0FE"/>
          </a:solidFill>
          <a:ln>
            <a:noFill/>
          </a:ln>
        </p:spPr>
        <p:txBody>
          <a:bodyPr rtlCol="0" anchor="ctr" wrap="square" lIns="73152" rIns="73152"/>
          <a:lstStyle/>
          <a:p>
            <a:pPr algn="ctr"/>
          </a:p>
        </p:txBody>
      </p:sp>
      <p:sp>
        <p:nvSpPr>
          <p:cNvPr id="23" name="TextBox 22"/>
          <p:cNvSpPr txBox="1"/>
          <p:nvPr/>
        </p:nvSpPr>
        <p:spPr>
          <a:xfrm>
            <a:off x="6169152" y="2103120"/>
            <a:ext cx="2243328" cy="420624"/>
          </a:xfrm>
          <a:prstGeom prst="rect">
            <a:avLst/>
          </a:prstGeom>
          <a:noFill/>
        </p:spPr>
        <p:txBody>
          <a:bodyPr wrap="square" lIns="36576" tIns="18288" rIns="36576" bIns="18288" anchor="ctr">
            <a:noAutofit/>
          </a:bodyPr>
          <a:lstStyle/>
          <a:p>
            <a:pPr algn="l">
              <a:spcBef>
                <a:spcPts val="0"/>
              </a:spcBef>
              <a:spcAft>
                <a:spcPts val="0"/>
              </a:spcAft>
              <a:buNone/>
            </a:pPr>
            <a:r>
              <a:rPr sz="1600" b="1" lang="ko-KR">
                <a:solidFill>
                  <a:srgbClr val="1967D2"/>
                </a:solidFill>
                <a:latin typeface="Calibri"/>
                <a:ea typeface="Noto Sans KR"/>
                <a:cs typeface="Calibri"/>
              </a:rPr>
              <a:t>Try</a:t>
            </a:r>
            <a:r>
              <a:rPr sz="1100" b="0" lang="ko-KR">
                <a:solidFill>
                  <a:srgbClr val="5F6368"/>
                </a:solidFill>
                <a:latin typeface="Calibri"/>
                <a:ea typeface="Noto Sans KR"/>
                <a:cs typeface="Calibri"/>
              </a:rPr>
              <a:t>  다음엔</a:t>
            </a:r>
          </a:p>
        </p:txBody>
      </p:sp>
      <p:sp>
        <p:nvSpPr>
          <p:cNvPr id="24" name="TextBox 23"/>
          <p:cNvSpPr txBox="1"/>
          <p:nvPr/>
        </p:nvSpPr>
        <p:spPr>
          <a:xfrm>
            <a:off x="6169152" y="2560320"/>
            <a:ext cx="2261616" cy="2194560"/>
          </a:xfrm>
          <a:prstGeom prst="rect">
            <a:avLst/>
          </a:prstGeom>
          <a:noFill/>
        </p:spPr>
        <p:txBody>
          <a:bodyPr wrap="square" lIns="36576" tIns="18288" rIns="36576" bIns="18288" anchor="t">
            <a:noAutofit/>
          </a:bodyPr>
          <a:lstStyle/>
          <a:p>
            <a:pPr algn="l" marL="146304" indent="-146304">
              <a:spcBef>
                <a:spcPts val="0"/>
              </a:spcBef>
              <a:spcAft>
                <a:spcPts val="600"/>
              </a:spcAft>
              <a:buFont typeface="Arial"/>
              <a:buChar char="•"/>
            </a:pPr>
            <a:r>
              <a:rPr sz="1100" b="0" lang="ko-KR">
                <a:solidFill>
                  <a:srgbClr val="3C4043"/>
                </a:solidFill>
                <a:latin typeface="Calibri"/>
                <a:ea typeface="Noto Sans KR"/>
                <a:cs typeface="Calibri"/>
              </a:rPr>
              <a:t>Terraform으로 설정을 코드로 남기고 리뷰</a:t>
            </a:r>
          </a:p>
          <a:p>
            <a:pPr algn="l" marL="146304" indent="-146304">
              <a:spcBef>
                <a:spcPts val="0"/>
              </a:spcBef>
              <a:spcAft>
                <a:spcPts val="600"/>
              </a:spcAft>
              <a:buFont typeface="Arial"/>
              <a:buChar char="•"/>
            </a:pPr>
            <a:r>
              <a:rPr sz="1100" b="0" lang="ko-KR">
                <a:solidFill>
                  <a:srgbClr val="3C4043"/>
                </a:solidFill>
                <a:latin typeface="Calibri"/>
                <a:ea typeface="Noto Sans KR"/>
                <a:cs typeface="Calibri"/>
              </a:rPr>
              <a:t>통합 테스트를 매일 짧게 반복</a:t>
            </a:r>
          </a:p>
          <a:p>
            <a:pPr algn="l" marL="146304" indent="-146304">
              <a:spcBef>
                <a:spcPts val="0"/>
              </a:spcBef>
              <a:spcAft>
                <a:spcPts val="600"/>
              </a:spcAft>
              <a:buFont typeface="Arial"/>
              <a:buChar char="•"/>
            </a:pPr>
            <a:r>
              <a:rPr sz="1100" b="0" lang="ko-KR">
                <a:solidFill>
                  <a:srgbClr val="3C4043"/>
                </a:solidFill>
                <a:latin typeface="Calibri"/>
                <a:ea typeface="Noto Sans KR"/>
                <a:cs typeface="Calibri"/>
              </a:rPr>
              <a:t>발표 자료를 구축과 병행해 작성</a:t>
            </a:r>
          </a:p>
        </p:txBody>
      </p:sp>
      <p:sp>
        <p:nvSpPr>
          <p:cNvPr id="25" name="TextBox 24"/>
          <p:cNvSpPr txBox="1"/>
          <p:nvPr/>
        </p:nvSpPr>
        <p:spPr>
          <a:xfrm>
            <a:off x="603504" y="4937760"/>
            <a:ext cx="2743200" cy="274320"/>
          </a:xfrm>
          <a:prstGeom prst="rect">
            <a:avLst/>
          </a:prstGeom>
          <a:noFill/>
        </p:spPr>
        <p:txBody>
          <a:bodyPr wrap="square" lIns="36576" tIns="18288" rIns="36576" bIns="18288" anchor="t">
            <a:noAutofit/>
          </a:bodyPr>
          <a:lstStyle/>
          <a:p>
            <a:pPr algn="l">
              <a:spcBef>
                <a:spcPts val="0"/>
              </a:spcBef>
              <a:spcAft>
                <a:spcPts val="0"/>
              </a:spcAft>
              <a:buNone/>
            </a:pPr>
            <a:r>
              <a:rPr sz="1200" b="1" lang="ko-KR">
                <a:solidFill>
                  <a:srgbClr val="202124"/>
                </a:solidFill>
                <a:latin typeface="Calibri"/>
                <a:ea typeface="Noto Sans KR"/>
                <a:cs typeface="Calibri"/>
              </a:rPr>
              <a:t>개인 회고 한 줄</a:t>
            </a:r>
          </a:p>
        </p:txBody>
      </p:sp>
      <p:sp>
        <p:nvSpPr>
          <p:cNvPr id="26" name="Rounded Rectangle 25"/>
          <p:cNvSpPr/>
          <p:nvPr/>
        </p:nvSpPr>
        <p:spPr>
          <a:xfrm>
            <a:off x="603504" y="5248656"/>
            <a:ext cx="1860804" cy="950976"/>
          </a:xfrm>
          <a:prstGeom prst="roundRect">
            <a:avLst>
              <a:gd name="adj" fmla="val 8000"/>
            </a:avLst>
          </a:prstGeom>
          <a:solidFill>
            <a:srgbClr val="FFFFFF"/>
          </a:solidFill>
          <a:ln w="9525">
            <a:solidFill>
              <a:srgbClr val="DADCE0"/>
            </a:solidFill>
          </a:ln>
        </p:spPr>
        <p:txBody>
          <a:bodyPr rtlCol="0" anchor="ctr" wrap="square" lIns="73152" rIns="73152"/>
          <a:lstStyle/>
          <a:p>
            <a:pPr algn="ctr"/>
          </a:p>
        </p:txBody>
      </p:sp>
      <p:sp>
        <p:nvSpPr>
          <p:cNvPr id="27" name="TextBox 26"/>
          <p:cNvSpPr txBox="1"/>
          <p:nvPr/>
        </p:nvSpPr>
        <p:spPr>
          <a:xfrm>
            <a:off x="694944" y="5285232"/>
            <a:ext cx="1677924" cy="877824"/>
          </a:xfrm>
          <a:prstGeom prst="rect">
            <a:avLst/>
          </a:prstGeom>
          <a:noFill/>
        </p:spPr>
        <p:txBody>
          <a:bodyPr wrap="square" lIns="36576" tIns="18288" rIns="36576" bIns="18288" anchor="ctr">
            <a:noAutofit/>
          </a:bodyPr>
          <a:lstStyle/>
          <a:p>
            <a:pPr algn="l">
              <a:spcBef>
                <a:spcPts val="0"/>
              </a:spcBef>
              <a:spcAft>
                <a:spcPts val="0"/>
              </a:spcAft>
              <a:buNone/>
            </a:pPr>
            <a:r>
              <a:rPr sz="1100" b="1" lang="ko-KR">
                <a:solidFill>
                  <a:srgbClr val="202124"/>
                </a:solidFill>
                <a:latin typeface="Calibri"/>
                <a:ea typeface="Noto Sans KR"/>
                <a:cs typeface="Calibri"/>
              </a:rPr>
              <a:t>송인아</a:t>
            </a:r>
          </a:p>
          <a:p>
            <a:pPr algn="l">
              <a:spcBef>
                <a:spcPts val="0"/>
              </a:spcBef>
              <a:spcAft>
                <a:spcPts val="0"/>
              </a:spcAft>
              <a:buNone/>
            </a:pPr>
            <a:r>
              <a:rPr sz="1100" b="1" lang="ko-KR">
                <a:solidFill>
                  <a:srgbClr val="C5221F"/>
                </a:solidFill>
                <a:latin typeface="Calibri"/>
                <a:ea typeface="Noto Sans KR"/>
                <a:cs typeface="Calibri"/>
              </a:rPr>
              <a:t>[한 문장으로 작성]</a:t>
            </a:r>
          </a:p>
        </p:txBody>
      </p:sp>
      <p:sp>
        <p:nvSpPr>
          <p:cNvPr id="28" name="Rounded Rectangle 27"/>
          <p:cNvSpPr/>
          <p:nvPr/>
        </p:nvSpPr>
        <p:spPr>
          <a:xfrm>
            <a:off x="2628900" y="5248656"/>
            <a:ext cx="1860804" cy="950976"/>
          </a:xfrm>
          <a:prstGeom prst="roundRect">
            <a:avLst>
              <a:gd name="adj" fmla="val 8000"/>
            </a:avLst>
          </a:prstGeom>
          <a:solidFill>
            <a:srgbClr val="FFFFFF"/>
          </a:solidFill>
          <a:ln w="9525">
            <a:solidFill>
              <a:srgbClr val="DADCE0"/>
            </a:solidFill>
          </a:ln>
        </p:spPr>
        <p:txBody>
          <a:bodyPr rtlCol="0" anchor="ctr" wrap="square" lIns="73152" rIns="73152"/>
          <a:lstStyle/>
          <a:p>
            <a:pPr algn="ctr"/>
          </a:p>
        </p:txBody>
      </p:sp>
      <p:sp>
        <p:nvSpPr>
          <p:cNvPr id="29" name="TextBox 28"/>
          <p:cNvSpPr txBox="1"/>
          <p:nvPr/>
        </p:nvSpPr>
        <p:spPr>
          <a:xfrm>
            <a:off x="2720340" y="5285232"/>
            <a:ext cx="1677924" cy="877824"/>
          </a:xfrm>
          <a:prstGeom prst="rect">
            <a:avLst/>
          </a:prstGeom>
          <a:noFill/>
        </p:spPr>
        <p:txBody>
          <a:bodyPr wrap="square" lIns="36576" tIns="18288" rIns="36576" bIns="18288" anchor="ctr">
            <a:noAutofit/>
          </a:bodyPr>
          <a:lstStyle/>
          <a:p>
            <a:pPr algn="l">
              <a:spcBef>
                <a:spcPts val="0"/>
              </a:spcBef>
              <a:spcAft>
                <a:spcPts val="0"/>
              </a:spcAft>
              <a:buNone/>
            </a:pPr>
            <a:r>
              <a:rPr sz="1100" b="1" lang="ko-KR">
                <a:solidFill>
                  <a:srgbClr val="202124"/>
                </a:solidFill>
                <a:latin typeface="Calibri"/>
                <a:ea typeface="Noto Sans KR"/>
                <a:cs typeface="Calibri"/>
              </a:rPr>
              <a:t>채정훈</a:t>
            </a:r>
          </a:p>
          <a:p>
            <a:pPr algn="l">
              <a:spcBef>
                <a:spcPts val="0"/>
              </a:spcBef>
              <a:spcAft>
                <a:spcPts val="0"/>
              </a:spcAft>
              <a:buNone/>
            </a:pPr>
            <a:r>
              <a:rPr sz="1100" b="1" lang="ko-KR">
                <a:solidFill>
                  <a:srgbClr val="C5221F"/>
                </a:solidFill>
                <a:latin typeface="Calibri"/>
                <a:ea typeface="Noto Sans KR"/>
                <a:cs typeface="Calibri"/>
              </a:rPr>
              <a:t>[한 문장으로 작성]</a:t>
            </a:r>
          </a:p>
        </p:txBody>
      </p:sp>
      <p:sp>
        <p:nvSpPr>
          <p:cNvPr id="30" name="Rounded Rectangle 29"/>
          <p:cNvSpPr/>
          <p:nvPr/>
        </p:nvSpPr>
        <p:spPr>
          <a:xfrm>
            <a:off x="4654296" y="5248656"/>
            <a:ext cx="1860804" cy="950976"/>
          </a:xfrm>
          <a:prstGeom prst="roundRect">
            <a:avLst>
              <a:gd name="adj" fmla="val 8000"/>
            </a:avLst>
          </a:prstGeom>
          <a:solidFill>
            <a:srgbClr val="FFFFFF"/>
          </a:solidFill>
          <a:ln w="9525">
            <a:solidFill>
              <a:srgbClr val="DADCE0"/>
            </a:solidFill>
          </a:ln>
        </p:spPr>
        <p:txBody>
          <a:bodyPr rtlCol="0" anchor="ctr" wrap="square" lIns="73152" rIns="73152"/>
          <a:lstStyle/>
          <a:p>
            <a:pPr algn="ctr"/>
          </a:p>
        </p:txBody>
      </p:sp>
      <p:sp>
        <p:nvSpPr>
          <p:cNvPr id="31" name="TextBox 30"/>
          <p:cNvSpPr txBox="1"/>
          <p:nvPr/>
        </p:nvSpPr>
        <p:spPr>
          <a:xfrm>
            <a:off x="4745736" y="5285232"/>
            <a:ext cx="1677924" cy="877824"/>
          </a:xfrm>
          <a:prstGeom prst="rect">
            <a:avLst/>
          </a:prstGeom>
          <a:noFill/>
        </p:spPr>
        <p:txBody>
          <a:bodyPr wrap="square" lIns="36576" tIns="18288" rIns="36576" bIns="18288" anchor="ctr">
            <a:noAutofit/>
          </a:bodyPr>
          <a:lstStyle/>
          <a:p>
            <a:pPr algn="l">
              <a:spcBef>
                <a:spcPts val="0"/>
              </a:spcBef>
              <a:spcAft>
                <a:spcPts val="0"/>
              </a:spcAft>
              <a:buNone/>
            </a:pPr>
            <a:r>
              <a:rPr sz="1100" b="1" lang="ko-KR">
                <a:solidFill>
                  <a:srgbClr val="202124"/>
                </a:solidFill>
                <a:latin typeface="Calibri"/>
                <a:ea typeface="Noto Sans KR"/>
                <a:cs typeface="Calibri"/>
              </a:rPr>
              <a:t>김성현</a:t>
            </a:r>
          </a:p>
          <a:p>
            <a:pPr algn="l">
              <a:spcBef>
                <a:spcPts val="0"/>
              </a:spcBef>
              <a:spcAft>
                <a:spcPts val="0"/>
              </a:spcAft>
              <a:buNone/>
            </a:pPr>
            <a:r>
              <a:rPr sz="1100" b="1" lang="ko-KR">
                <a:solidFill>
                  <a:srgbClr val="C5221F"/>
                </a:solidFill>
                <a:latin typeface="Calibri"/>
                <a:ea typeface="Noto Sans KR"/>
                <a:cs typeface="Calibri"/>
              </a:rPr>
              <a:t>[한 문장으로 작성]</a:t>
            </a:r>
          </a:p>
        </p:txBody>
      </p:sp>
      <p:sp>
        <p:nvSpPr>
          <p:cNvPr id="32" name="Rounded Rectangle 31"/>
          <p:cNvSpPr/>
          <p:nvPr/>
        </p:nvSpPr>
        <p:spPr>
          <a:xfrm>
            <a:off x="6679692" y="5248656"/>
            <a:ext cx="1860804" cy="950976"/>
          </a:xfrm>
          <a:prstGeom prst="roundRect">
            <a:avLst>
              <a:gd name="adj" fmla="val 8000"/>
            </a:avLst>
          </a:prstGeom>
          <a:solidFill>
            <a:srgbClr val="FFFFFF"/>
          </a:solidFill>
          <a:ln w="9525">
            <a:solidFill>
              <a:srgbClr val="DADCE0"/>
            </a:solidFill>
          </a:ln>
        </p:spPr>
        <p:txBody>
          <a:bodyPr rtlCol="0" anchor="ctr" wrap="square" lIns="73152" rIns="73152"/>
          <a:lstStyle/>
          <a:p>
            <a:pPr algn="ctr"/>
          </a:p>
        </p:txBody>
      </p:sp>
      <p:sp>
        <p:nvSpPr>
          <p:cNvPr id="33" name="TextBox 32"/>
          <p:cNvSpPr txBox="1"/>
          <p:nvPr/>
        </p:nvSpPr>
        <p:spPr>
          <a:xfrm>
            <a:off x="6771132" y="5285232"/>
            <a:ext cx="1677924" cy="877824"/>
          </a:xfrm>
          <a:prstGeom prst="rect">
            <a:avLst/>
          </a:prstGeom>
          <a:noFill/>
        </p:spPr>
        <p:txBody>
          <a:bodyPr wrap="square" lIns="36576" tIns="18288" rIns="36576" bIns="18288" anchor="ctr">
            <a:noAutofit/>
          </a:bodyPr>
          <a:lstStyle/>
          <a:p>
            <a:pPr algn="l">
              <a:spcBef>
                <a:spcPts val="0"/>
              </a:spcBef>
              <a:spcAft>
                <a:spcPts val="0"/>
              </a:spcAft>
              <a:buNone/>
            </a:pPr>
            <a:r>
              <a:rPr sz="1100" b="1" lang="ko-KR">
                <a:solidFill>
                  <a:srgbClr val="202124"/>
                </a:solidFill>
                <a:latin typeface="Calibri"/>
                <a:ea typeface="Noto Sans KR"/>
                <a:cs typeface="Calibri"/>
              </a:rPr>
              <a:t>김민성</a:t>
            </a:r>
          </a:p>
          <a:p>
            <a:pPr algn="l">
              <a:spcBef>
                <a:spcPts val="0"/>
              </a:spcBef>
              <a:spcAft>
                <a:spcPts val="0"/>
              </a:spcAft>
              <a:buNone/>
            </a:pPr>
            <a:r>
              <a:rPr sz="1100" b="1" lang="ko-KR">
                <a:solidFill>
                  <a:srgbClr val="C5221F"/>
                </a:solidFill>
                <a:latin typeface="Calibri"/>
                <a:ea typeface="Noto Sans KR"/>
                <a:cs typeface="Calibri"/>
              </a:rPr>
              <a:t>[한 문장으로 작성]</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bg>
      <p:bgPr>
        <a:blipFill>
          <a:blip r:embed="rId2">
            <a:alphaModFix/>
          </a:blip>
          <a:stretch>
            <a:fillRect/>
          </a:stretch>
        </a:blipFill>
      </p:bgPr>
    </p:bg>
    <p:spTree>
      <p:nvGrpSpPr>
        <p:cNvPr id="1" name=""/>
        <p:cNvGrpSpPr/>
        <p:nvPr/>
      </p:nvGrpSpPr>
      <p:grpSpPr/>
      <p:sp>
        <p:nvSpPr>
          <p:cNvPr id="532" name="Google Shape;532;p18"/>
          <p:cNvSpPr/>
          <p:nvPr/>
        </p:nvSpPr>
        <p:spPr>
          <a:xfrm>
            <a:off x="2122397" y="2546431"/>
            <a:ext cx="5000263" cy="2797837"/>
          </a:xfrm>
          <a:prstGeom prst="rect">
            <a:avLst/>
          </a:prstGeom>
          <a:solidFill>
            <a:schemeClr val="lt1"/>
          </a:solid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1" sz="1200">
              <a:solidFill>
                <a:schemeClr val="lt1"/>
              </a:solidFill>
              <a:latin typeface="Calibri"/>
              <a:ea typeface="Calibri"/>
              <a:cs typeface="Calibri"/>
              <a:sym typeface="Calibri"/>
            </a:endParaRPr>
          </a:p>
        </p:txBody>
      </p:sp>
      <p:sp>
        <p:nvSpPr>
          <p:cNvPr id="533" name="Google Shape;533;p18"/>
          <p:cNvSpPr/>
          <p:nvPr/>
        </p:nvSpPr>
        <p:spPr>
          <a:xfrm>
            <a:off x="2558550" y="2760925"/>
            <a:ext cx="4026900" cy="999900"/>
          </a:xfrm>
          <a:prstGeom prst="rect">
            <a:avLst/>
          </a:prstGeom>
          <a:noFill/>
          <a:ln>
            <a:noFill/>
          </a:ln>
        </p:spPr>
        <p:txBody>
          <a:bodyPr anchorCtr="0" anchor="ctr" bIns="45700" lIns="91425" spcFirstLastPara="1" rIns="91425" wrap="square" tIns="45700">
            <a:noAutofit/>
          </a:bodyPr>
          <a:lstStyle/>
          <a:p>
            <a:pPr algn="ctr">
              <a:spcBef>
                <a:spcPts val="0"/>
              </a:spcBef>
              <a:spcAft>
                <a:spcPts val="0"/>
              </a:spcAft>
              <a:buNone/>
            </a:pPr>
            <a:r>
              <a:rPr sz="5400" b="0" lang="ko-KR">
                <a:solidFill>
                  <a:srgbClr val="474A5D"/>
                </a:solidFill>
                <a:latin typeface="Calibri"/>
                <a:ea typeface="Noto Sans KR"/>
                <a:cs typeface="Calibri"/>
              </a:rPr>
              <a:t>부록</a:t>
            </a:r>
          </a:p>
        </p:txBody>
      </p:sp>
      <p:cxnSp>
        <p:nvCxnSpPr>
          <p:cNvPr id="534" name="Google Shape;534;p18"/>
          <p:cNvCxnSpPr/>
          <p:nvPr/>
        </p:nvCxnSpPr>
        <p:spPr>
          <a:xfrm>
            <a:off x="2944139" y="4192929"/>
            <a:ext cx="3255600" cy="0"/>
          </a:xfrm>
          <a:prstGeom prst="straightConnector1">
            <a:avLst/>
          </a:prstGeom>
          <a:noFill/>
          <a:ln cap="flat" cmpd="sng" w="19050">
            <a:solidFill>
              <a:srgbClr val="757993">
                <a:alpha val="38824"/>
              </a:srgbClr>
            </a:solidFill>
            <a:prstDash val="dot"/>
            <a:miter lim="8000"/>
            <a:headEnd len="sm" w="sm" type="none"/>
            <a:tailEnd len="sm" w="sm" type="none"/>
          </a:ln>
        </p:spPr>
      </p:cxnSp>
      <p:sp>
        <p:nvSpPr>
          <p:cNvPr id="535" name="TextBox 534"/>
          <p:cNvSpPr txBox="1"/>
          <p:nvPr/>
        </p:nvSpPr>
        <p:spPr>
          <a:xfrm>
            <a:off x="2286000" y="4315968"/>
            <a:ext cx="4572000" cy="457200"/>
          </a:xfrm>
          <a:prstGeom prst="rect">
            <a:avLst/>
          </a:prstGeom>
          <a:noFill/>
        </p:spPr>
        <p:txBody>
          <a:bodyPr wrap="square" lIns="36576" tIns="18288" rIns="36576" bIns="18288" anchor="t">
            <a:noAutofit/>
          </a:bodyPr>
          <a:lstStyle/>
          <a:p>
            <a:pPr algn="ctr">
              <a:spcBef>
                <a:spcPts val="0"/>
              </a:spcBef>
              <a:spcAft>
                <a:spcPts val="0"/>
              </a:spcAft>
              <a:buNone/>
            </a:pPr>
            <a:r>
              <a:rPr sz="1300" b="0" lang="ko-KR">
                <a:solidFill>
                  <a:srgbClr val="5F6368"/>
                </a:solidFill>
                <a:latin typeface="Calibri"/>
                <a:ea typeface="Noto Sans KR"/>
                <a:cs typeface="Calibri"/>
              </a:rPr>
              <a:t>Q&amp;A 참고 자료  ·  구성 스펙 · 예상 질문 · 트러블슈팅</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부록 ① 구성 스펙</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nav-active"/>
          <p:cNvSpPr/>
          <p:nvPr/>
        </p:nvSpPr>
        <p:spPr>
          <a:xfrm>
            <a:off x="6935724"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주요 리소스의 사양과 설정값</a:t>
            </a:r>
          </a:p>
        </p:txBody>
      </p:sp>
      <p:graphicFrame>
        <p:nvGraphicFramePr>
          <p:cNvPr id="16" name="Table 15"/>
          <p:cNvGraphicFramePr>
            <a:graphicFrameLocks noGrp="1"/>
          </p:cNvGraphicFramePr>
          <p:nvPr/>
        </p:nvGraphicFramePr>
        <p:xfrm>
          <a:off x="603504" y="2048256"/>
          <a:ext cx="7936992" cy="3997755"/>
        </p:xfrm>
        <a:graphic>
          <a:graphicData uri="http://schemas.openxmlformats.org/drawingml/2006/table">
            <a:tbl>
              <a:tblPr firstRow="0" bandRow="0">
                <a:tableStyleId>{2D5ABB26-0587-4C30-8999-92F81FD0307C}</a:tableStyleId>
              </a:tblPr>
              <a:tblGrid>
                <a:gridCol w="1280160"/>
                <a:gridCol w="4754880"/>
                <a:gridCol w="1901952"/>
              </a:tblGrid>
              <a:tr h="310896">
                <a:tc>
                  <a:txBody>
                    <a:bodyPr wrap="square"/>
                    <a:lstStyle/>
                    <a:p>
                      <a:pPr algn="l">
                        <a:spcBef>
                          <a:spcPts val="0"/>
                        </a:spcBef>
                        <a:spcAft>
                          <a:spcPts val="0"/>
                        </a:spcAft>
                        <a:buNone/>
                      </a:pPr>
                      <a:r>
                        <a:rPr sz="1150" b="1" lang="ko-KR">
                          <a:solidFill>
                            <a:srgbClr val="202124"/>
                          </a:solidFill>
                          <a:latin typeface="Calibri"/>
                          <a:ea typeface="Noto Sans KR"/>
                          <a:cs typeface="Calibri"/>
                        </a:rPr>
                        <a:t>리소스</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150" b="1" lang="ko-KR">
                          <a:solidFill>
                            <a:srgbClr val="202124"/>
                          </a:solidFill>
                          <a:latin typeface="Calibri"/>
                          <a:ea typeface="Noto Sans KR"/>
                          <a:cs typeface="Calibri"/>
                        </a:rPr>
                        <a:t>사양 · 설정</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150" b="1" lang="ko-KR">
                          <a:solidFill>
                            <a:srgbClr val="202124"/>
                          </a:solidFill>
                          <a:latin typeface="Calibri"/>
                          <a:ea typeface="Noto Sans KR"/>
                          <a:cs typeface="Calibri"/>
                        </a:rPr>
                        <a:t>비고</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r>
              <a:tr h="409651">
                <a:tc>
                  <a:txBody>
                    <a:bodyPr wrap="square"/>
                    <a:lstStyle/>
                    <a:p>
                      <a:pPr algn="l">
                        <a:spcBef>
                          <a:spcPts val="0"/>
                        </a:spcBef>
                        <a:spcAft>
                          <a:spcPts val="0"/>
                        </a:spcAft>
                        <a:buNone/>
                      </a:pPr>
                      <a:r>
                        <a:rPr sz="1050" b="1" lang="ko-KR">
                          <a:solidFill>
                            <a:srgbClr val="3C4043"/>
                          </a:solidFill>
                          <a:latin typeface="Calibri"/>
                          <a:ea typeface="Noto Sans KR"/>
                          <a:cs typeface="Calibri"/>
                        </a:rPr>
                        <a:t>VPC · 서브넷</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npc-vpc (커스텀, 리전 동적 라우팅) · web 10.0.10.0/24 · was 10.0.20.0/24 · psc 10.0.32.0/20 · mgmt 10.0.90.0/28</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비공개 Google 액세스</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09651">
                <a:tc>
                  <a:txBody>
                    <a:bodyPr wrap="square"/>
                    <a:lstStyle/>
                    <a:p>
                      <a:pPr algn="l">
                        <a:spcBef>
                          <a:spcPts val="0"/>
                        </a:spcBef>
                        <a:spcAft>
                          <a:spcPts val="0"/>
                        </a:spcAft>
                        <a:buNone/>
                      </a:pPr>
                      <a:r>
                        <a:rPr sz="1050" b="1" lang="ko-KR">
                          <a:solidFill>
                            <a:srgbClr val="3C4043"/>
                          </a:solidFill>
                          <a:latin typeface="Calibri"/>
                          <a:ea typeface="Noto Sans KR"/>
                          <a:cs typeface="Calibri"/>
                        </a:rPr>
                        <a:t>WEB MIG</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Apache 2.4 · </a:t>
                      </a:r>
                      <a:r>
                        <a:rPr sz="1050" b="1" lang="ko-KR">
                          <a:solidFill>
                            <a:srgbClr val="C5221F"/>
                          </a:solidFill>
                          <a:latin typeface="Calibri"/>
                          <a:ea typeface="Noto Sans KR"/>
                          <a:cs typeface="Calibri"/>
                        </a:rPr>
                        <a:t>[머신 타입 · 디스크]</a:t>
                      </a:r>
                      <a:r>
                        <a:rPr sz="1050" b="0" lang="ko-KR">
                          <a:solidFill>
                            <a:srgbClr val="3C4043"/>
                          </a:solidFill>
                          <a:latin typeface="Calibri"/>
                          <a:ea typeface="Noto Sans KR"/>
                          <a:cs typeface="Calibri"/>
                        </a:rPr>
                        <a:t> · 2~6대 · 3개 존</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1" lang="ko-KR">
                          <a:solidFill>
                            <a:srgbClr val="C5221F"/>
                          </a:solidFill>
                          <a:latin typeface="Calibri"/>
                          <a:ea typeface="Noto Sans KR"/>
                          <a:cs typeface="Calibri"/>
                        </a:rPr>
                        <a:t>[템플릿명]</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09651">
                <a:tc>
                  <a:txBody>
                    <a:bodyPr wrap="square"/>
                    <a:lstStyle/>
                    <a:p>
                      <a:pPr algn="l">
                        <a:spcBef>
                          <a:spcPts val="0"/>
                        </a:spcBef>
                        <a:spcAft>
                          <a:spcPts val="0"/>
                        </a:spcAft>
                        <a:buNone/>
                      </a:pPr>
                      <a:r>
                        <a:rPr sz="1050" b="1" lang="ko-KR">
                          <a:solidFill>
                            <a:srgbClr val="3C4043"/>
                          </a:solidFill>
                          <a:latin typeface="Calibri"/>
                          <a:ea typeface="Noto Sans KR"/>
                          <a:cs typeface="Calibri"/>
                        </a:rPr>
                        <a:t>WAS MIG</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e2-medium · Rocky Linux 9 · Tomcat 9 + OpenJDK 17 · 2~6대 · 3개 존 BALANCED</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npc-was-temp-v3 · npc-golden-was-v3</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09651">
                <a:tc>
                  <a:txBody>
                    <a:bodyPr wrap="square"/>
                    <a:lstStyle/>
                    <a:p>
                      <a:pPr algn="l">
                        <a:spcBef>
                          <a:spcPts val="0"/>
                        </a:spcBef>
                        <a:spcAft>
                          <a:spcPts val="0"/>
                        </a:spcAft>
                        <a:buNone/>
                      </a:pPr>
                      <a:r>
                        <a:rPr sz="1050" b="1" lang="ko-KR">
                          <a:solidFill>
                            <a:srgbClr val="3C4043"/>
                          </a:solidFill>
                          <a:latin typeface="Calibri"/>
                          <a:ea typeface="Noto Sans KR"/>
                          <a:cs typeface="Calibri"/>
                        </a:rPr>
                        <a:t>외부 LB</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Global 외부 Application LB · HTTPS 443 (관리형 인증서) · HTTP 80 → 301</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Premium 네트워크 티어</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09651">
                <a:tc>
                  <a:txBody>
                    <a:bodyPr wrap="square"/>
                    <a:lstStyle/>
                    <a:p>
                      <a:pPr algn="l">
                        <a:spcBef>
                          <a:spcPts val="0"/>
                        </a:spcBef>
                        <a:spcAft>
                          <a:spcPts val="0"/>
                        </a:spcAft>
                        <a:buNone/>
                      </a:pPr>
                      <a:r>
                        <a:rPr sz="1050" b="1" lang="ko-KR">
                          <a:solidFill>
                            <a:srgbClr val="3C4043"/>
                          </a:solidFill>
                          <a:latin typeface="Calibri"/>
                          <a:ea typeface="Noto Sans KR"/>
                          <a:cs typeface="Calibri"/>
                        </a:rPr>
                        <a:t>내부 LB</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리전 내부 패스스루 NLB · TCP 8080 · 10.0.20.100</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헬스체크 npc-hc-was-app</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09651">
                <a:tc>
                  <a:txBody>
                    <a:bodyPr wrap="square"/>
                    <a:lstStyle/>
                    <a:p>
                      <a:pPr algn="l">
                        <a:spcBef>
                          <a:spcPts val="0"/>
                        </a:spcBef>
                        <a:spcAft>
                          <a:spcPts val="0"/>
                        </a:spcAft>
                        <a:buNone/>
                      </a:pPr>
                      <a:r>
                        <a:rPr sz="1050" b="1" lang="ko-KR">
                          <a:solidFill>
                            <a:srgbClr val="3C4043"/>
                          </a:solidFill>
                          <a:latin typeface="Calibri"/>
                          <a:ea typeface="Noto Sans KR"/>
                          <a:cs typeface="Calibri"/>
                        </a:rPr>
                        <a:t>Cloud SQL</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MySQL 8.4 · HA(REGIONAL) · PSC 10.0.32.2 · 자동 백업 · PITR · </a:t>
                      </a:r>
                      <a:r>
                        <a:rPr sz="1050" b="1" lang="ko-KR">
                          <a:solidFill>
                            <a:srgbClr val="C5221F"/>
                          </a:solidFill>
                          <a:latin typeface="Calibri"/>
                          <a:ea typeface="Noto Sans KR"/>
                          <a:cs typeface="Calibri"/>
                        </a:rPr>
                        <a:t>[머신 타입 · 스토리지]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npc-sql-gcp-kr</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09651">
                <a:tc>
                  <a:txBody>
                    <a:bodyPr wrap="square"/>
                    <a:lstStyle/>
                    <a:p>
                      <a:pPr algn="l">
                        <a:spcBef>
                          <a:spcPts val="0"/>
                        </a:spcBef>
                        <a:spcAft>
                          <a:spcPts val="0"/>
                        </a:spcAft>
                        <a:buNone/>
                      </a:pPr>
                      <a:r>
                        <a:rPr sz="1050" b="1" lang="ko-KR">
                          <a:solidFill>
                            <a:srgbClr val="3C4043"/>
                          </a:solidFill>
                          <a:latin typeface="Calibri"/>
                          <a:ea typeface="Noto Sans KR"/>
                          <a:cs typeface="Calibri"/>
                        </a:rPr>
                        <a:t>Cloud Armor</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OWASP CRS 4.22 (9종) → 403 · IP당 300회/분 초과 → 429 · 60초 차단</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npc-armor-web · Preview → Enforce</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09651">
                <a:tc>
                  <a:txBody>
                    <a:bodyPr wrap="square"/>
                    <a:lstStyle/>
                    <a:p>
                      <a:pPr algn="l">
                        <a:spcBef>
                          <a:spcPts val="0"/>
                        </a:spcBef>
                        <a:spcAft>
                          <a:spcPts val="0"/>
                        </a:spcAft>
                        <a:buNone/>
                      </a:pPr>
                      <a:r>
                        <a:rPr sz="1050" b="1" lang="ko-KR">
                          <a:solidFill>
                            <a:srgbClr val="3C4043"/>
                          </a:solidFill>
                          <a:latin typeface="Calibri"/>
                          <a:ea typeface="Noto Sans KR"/>
                          <a:cs typeface="Calibri"/>
                        </a:rPr>
                        <a:t>모니터링</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Uptime Check 1분 · 알림 정책 4종 → Slack #alert · Ops Agent (Tomcat 로그 · JVM)</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0" lang="ko-KR">
                          <a:solidFill>
                            <a:srgbClr val="3C4043"/>
                          </a:solidFill>
                          <a:latin typeface="Calibri"/>
                          <a:ea typeface="Noto Sans KR"/>
                          <a:cs typeface="Calibri"/>
                        </a:rPr>
                        <a:t>WAS 로그 기반 알림 2종</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09651">
                <a:tc>
                  <a:txBody>
                    <a:bodyPr wrap="square"/>
                    <a:lstStyle/>
                    <a:p>
                      <a:pPr algn="l">
                        <a:spcBef>
                          <a:spcPts val="0"/>
                        </a:spcBef>
                        <a:spcAft>
                          <a:spcPts val="0"/>
                        </a:spcAft>
                        <a:buNone/>
                      </a:pPr>
                      <a:r>
                        <a:rPr sz="1050" b="1" lang="ko-KR">
                          <a:solidFill>
                            <a:srgbClr val="3C4043"/>
                          </a:solidFill>
                          <a:latin typeface="Calibri"/>
                          <a:ea typeface="Noto Sans KR"/>
                          <a:cs typeface="Calibri"/>
                        </a:rPr>
                        <a:t>월 예상 비용</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1" lang="ko-KR">
                          <a:solidFill>
                            <a:srgbClr val="C5221F"/>
                          </a:solidFill>
                          <a:latin typeface="Calibri"/>
                          <a:ea typeface="Noto Sans KR"/>
                          <a:cs typeface="Calibri"/>
                        </a:rPr>
                        <a:t>[Billing 리포트 기준 금액 입력]</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050" b="1" lang="ko-KR">
                          <a:solidFill>
                            <a:srgbClr val="C5221F"/>
                          </a:solidFill>
                          <a:latin typeface="Calibri"/>
                          <a:ea typeface="Noto Sans KR"/>
                          <a:cs typeface="Calibri"/>
                        </a:rPr>
                        <a:t>[가장 큰 비용 항목]</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부록 ② 예상 질문</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nav-active"/>
          <p:cNvSpPr/>
          <p:nvPr/>
        </p:nvSpPr>
        <p:spPr>
          <a:xfrm>
            <a:off x="6935724"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예상 질문과 답변 요지</a:t>
            </a:r>
          </a:p>
        </p:txBody>
      </p:sp>
      <p:graphicFrame>
        <p:nvGraphicFramePr>
          <p:cNvPr id="16" name="Table 15"/>
          <p:cNvGraphicFramePr>
            <a:graphicFrameLocks noGrp="1"/>
          </p:cNvGraphicFramePr>
          <p:nvPr/>
        </p:nvGraphicFramePr>
        <p:xfrm>
          <a:off x="603504" y="2048256"/>
          <a:ext cx="7936992" cy="4224528"/>
        </p:xfrm>
        <a:graphic>
          <a:graphicData uri="http://schemas.openxmlformats.org/drawingml/2006/table">
            <a:tbl>
              <a:tblPr firstRow="0" bandRow="0">
                <a:tableStyleId>{2D5ABB26-0587-4C30-8999-92F81FD0307C}</a:tableStyleId>
              </a:tblPr>
              <a:tblGrid>
                <a:gridCol w="2468880"/>
                <a:gridCol w="5468112"/>
              </a:tblGrid>
              <a:tr h="310896">
                <a:tc>
                  <a:txBody>
                    <a:bodyPr wrap="square"/>
                    <a:lstStyle/>
                    <a:p>
                      <a:pPr algn="l">
                        <a:spcBef>
                          <a:spcPts val="0"/>
                        </a:spcBef>
                        <a:spcAft>
                          <a:spcPts val="0"/>
                        </a:spcAft>
                        <a:buNone/>
                      </a:pPr>
                      <a:r>
                        <a:rPr sz="1150" b="1" lang="ko-KR">
                          <a:solidFill>
                            <a:srgbClr val="202124"/>
                          </a:solidFill>
                          <a:latin typeface="Calibri"/>
                          <a:ea typeface="Noto Sans KR"/>
                          <a:cs typeface="Calibri"/>
                        </a:rPr>
                        <a:t>질문</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150" b="1" lang="ko-KR">
                          <a:solidFill>
                            <a:srgbClr val="202124"/>
                          </a:solidFill>
                          <a:latin typeface="Calibri"/>
                          <a:ea typeface="Noto Sans KR"/>
                          <a:cs typeface="Calibri"/>
                        </a:rPr>
                        <a:t>답변 요지</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r>
              <a:tr h="489204">
                <a:tc>
                  <a:txBody>
                    <a:bodyPr wrap="square"/>
                    <a:lstStyle/>
                    <a:p>
                      <a:pPr algn="l">
                        <a:spcBef>
                          <a:spcPts val="0"/>
                        </a:spcBef>
                        <a:spcAft>
                          <a:spcPts val="0"/>
                        </a:spcAft>
                        <a:buNone/>
                      </a:pPr>
                      <a:r>
                        <a:rPr sz="1100" b="1" lang="ko-KR">
                          <a:solidFill>
                            <a:srgbClr val="3C4043"/>
                          </a:solidFill>
                          <a:latin typeface="Calibri"/>
                          <a:ea typeface="Noto Sans KR"/>
                          <a:cs typeface="Calibri"/>
                        </a:rPr>
                        <a:t>왜 3개 존인가?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존을 늘려도 VM 비용은 같고, 2개 존이 동시에 멈춰도 서비스 유지 (BALANCED 분산)</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89204">
                <a:tc>
                  <a:txBody>
                    <a:bodyPr wrap="square"/>
                    <a:lstStyle/>
                    <a:p>
                      <a:pPr algn="l">
                        <a:spcBef>
                          <a:spcPts val="0"/>
                        </a:spcBef>
                        <a:spcAft>
                          <a:spcPts val="0"/>
                        </a:spcAft>
                        <a:buNone/>
                      </a:pPr>
                      <a:r>
                        <a:rPr sz="1100" b="1" lang="ko-KR">
                          <a:solidFill>
                            <a:srgbClr val="3C4043"/>
                          </a:solidFill>
                          <a:latin typeface="Calibri"/>
                          <a:ea typeface="Noto Sans KR"/>
                          <a:cs typeface="Calibri"/>
                        </a:rPr>
                        <a:t>오토힐링과 오토스케일의 차이는?</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오토스케일은 부하에 따라 대수 조절, 오토힐링은 헬스체크 실패 VM을 같은 템플릿으로 재생성</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89204">
                <a:tc>
                  <a:txBody>
                    <a:bodyPr wrap="square"/>
                    <a:lstStyle/>
                    <a:p>
                      <a:pPr algn="l">
                        <a:spcBef>
                          <a:spcPts val="0"/>
                        </a:spcBef>
                        <a:spcAft>
                          <a:spcPts val="0"/>
                        </a:spcAft>
                        <a:buNone/>
                      </a:pPr>
                      <a:r>
                        <a:rPr sz="1100" b="1" lang="ko-KR">
                          <a:solidFill>
                            <a:srgbClr val="3C4043"/>
                          </a:solidFill>
                          <a:latin typeface="Calibri"/>
                          <a:ea typeface="Noto Sans KR"/>
                          <a:cs typeface="Calibri"/>
                        </a:rPr>
                        <a:t>2대 → 6대가 되면 존마다 2대씩?</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균등 분산이 원칙이며, 존 자원이 부족하면 다른 존에 먼저 생성될 수 있음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89204">
                <a:tc>
                  <a:txBody>
                    <a:bodyPr wrap="square"/>
                    <a:lstStyle/>
                    <a:p>
                      <a:pPr algn="l">
                        <a:spcBef>
                          <a:spcPts val="0"/>
                        </a:spcBef>
                        <a:spcAft>
                          <a:spcPts val="0"/>
                        </a:spcAft>
                        <a:buNone/>
                      </a:pPr>
                      <a:r>
                        <a:rPr sz="1100" b="1" lang="ko-KR">
                          <a:solidFill>
                            <a:srgbClr val="3C4043"/>
                          </a:solidFill>
                          <a:latin typeface="Calibri"/>
                          <a:ea typeface="Noto Sans KR"/>
                          <a:cs typeface="Calibri"/>
                        </a:rPr>
                        <a:t>왜 내부 LB가 필요한가?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WEB이 WAS 개별 IP를 몰라도 되고, 장애 WAS 자동 제외 · 증설 시 설정 변경 없음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89204">
                <a:tc>
                  <a:txBody>
                    <a:bodyPr wrap="square"/>
                    <a:lstStyle/>
                    <a:p>
                      <a:pPr algn="l">
                        <a:spcBef>
                          <a:spcPts val="0"/>
                        </a:spcBef>
                        <a:spcAft>
                          <a:spcPts val="0"/>
                        </a:spcAft>
                        <a:buNone/>
                      </a:pPr>
                      <a:r>
                        <a:rPr sz="1100" b="1" lang="ko-KR">
                          <a:solidFill>
                            <a:srgbClr val="3C4043"/>
                          </a:solidFill>
                          <a:latin typeface="Calibri"/>
                          <a:ea typeface="Noto Sans KR"/>
                          <a:cs typeface="Calibri"/>
                        </a:rPr>
                        <a:t>SSL 인증서는 어디에 있나?</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외부 LB의 대상 HTTPS 프록시에 Google 관리형 인증서 연결, DNS는 도메인 → LB IP만 담당</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89204">
                <a:tc>
                  <a:txBody>
                    <a:bodyPr wrap="square"/>
                    <a:lstStyle/>
                    <a:p>
                      <a:pPr algn="l">
                        <a:spcBef>
                          <a:spcPts val="0"/>
                        </a:spcBef>
                        <a:spcAft>
                          <a:spcPts val="0"/>
                        </a:spcAft>
                        <a:buNone/>
                      </a:pPr>
                      <a:r>
                        <a:rPr sz="1100" b="1" lang="ko-KR">
                          <a:solidFill>
                            <a:srgbClr val="3C4043"/>
                          </a:solidFill>
                          <a:latin typeface="Calibri"/>
                          <a:ea typeface="Noto Sans KR"/>
                          <a:cs typeface="Calibri"/>
                        </a:rPr>
                        <a:t>왜 Cloud SQL인가?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백업 · 패치 · HA를 관리형으로 맡겨 운영 부담 감소, HA는 존 장애 대응 (리전 장애는 별도 DR)</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89204">
                <a:tc>
                  <a:txBody>
                    <a:bodyPr wrap="square"/>
                    <a:lstStyle/>
                    <a:p>
                      <a:pPr algn="l">
                        <a:spcBef>
                          <a:spcPts val="0"/>
                        </a:spcBef>
                        <a:spcAft>
                          <a:spcPts val="0"/>
                        </a:spcAft>
                        <a:buNone/>
                      </a:pPr>
                      <a:r>
                        <a:rPr sz="1100" b="1" lang="ko-KR">
                          <a:solidFill>
                            <a:srgbClr val="3C4043"/>
                          </a:solidFill>
                          <a:latin typeface="Calibri"/>
                          <a:ea typeface="Noto Sans KR"/>
                          <a:cs typeface="Calibri"/>
                        </a:rPr>
                        <a:t>리전 전체 장애 시에는?</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이번 범위 밖. 백업 기반 다른 리전 복구 또는 교차 리전 복제본으로 확장 필요</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489204">
                <a:tc>
                  <a:txBody>
                    <a:bodyPr wrap="square"/>
                    <a:lstStyle/>
                    <a:p>
                      <a:pPr algn="l">
                        <a:spcBef>
                          <a:spcPts val="0"/>
                        </a:spcBef>
                        <a:spcAft>
                          <a:spcPts val="0"/>
                        </a:spcAft>
                        <a:buNone/>
                      </a:pPr>
                      <a:r>
                        <a:rPr sz="1100" b="1" lang="ko-KR">
                          <a:solidFill>
                            <a:srgbClr val="3C4043"/>
                          </a:solidFill>
                          <a:latin typeface="Calibri"/>
                          <a:ea typeface="Noto Sans KR"/>
                          <a:cs typeface="Calibri"/>
                        </a:rPr>
                        <a:t>HA가 있는데 백업이 왜 필요한가?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HA는 장애 전환용이고 잘못된 삭제는 복제본에도 전파됨 → PITR로 시점 복구</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a:xfrm>
            <a:off x="1024128" y="374904"/>
            <a:ext cx="5257800" cy="301752"/>
          </a:xfrm>
        </p:spPr>
        <p:txBody>
          <a:bodyPr/>
          <a:lstStyle/>
          <a:p>
            <a:pPr algn="l">
              <a:spcBef>
                <a:spcPts val="0"/>
              </a:spcBef>
              <a:spcAft>
                <a:spcPts val="0"/>
              </a:spcAft>
              <a:buNone/>
            </a:pPr>
            <a:r>
              <a:rPr sz="1600" b="0" lang="ko-KR">
                <a:solidFill>
                  <a:srgbClr val="3C4043"/>
                </a:solidFill>
                <a:latin typeface="Calibri"/>
                <a:ea typeface="Noto Sans KR"/>
                <a:cs typeface="Calibri"/>
              </a:rPr>
              <a:t>부록 ③ 트러블슈팅</a:t>
            </a:r>
          </a:p>
        </p:txBody>
      </p:sp>
      <p:sp>
        <p:nvSpPr>
          <p:cNvPr id="3" name="nav-band"/>
          <p:cNvSpPr/>
          <p:nvPr/>
        </p:nvSpPr>
        <p:spPr>
          <a:xfrm>
            <a:off x="585216" y="822960"/>
            <a:ext cx="8238744" cy="338328"/>
          </a:xfrm>
          <a:prstGeom prst="rect">
            <a:avLst/>
          </a:prstGeom>
          <a:solidFill>
            <a:srgbClr val="FFFFFF"/>
          </a:solidFill>
          <a:ln>
            <a:noFill/>
          </a:ln>
        </p:spPr>
        <p:txBody>
          <a:bodyPr rtlCol="0" anchor="ctr" wrap="square" lIns="73152" rIns="73152"/>
          <a:lstStyle/>
          <a:p>
            <a:pPr algn="ctr"/>
          </a:p>
        </p:txBody>
      </p:sp>
      <p:sp>
        <p:nvSpPr>
          <p:cNvPr id="4" name="TextBox 3"/>
          <p:cNvSpPr txBox="1"/>
          <p:nvPr/>
        </p:nvSpPr>
        <p:spPr>
          <a:xfrm>
            <a:off x="658368"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배경·설계</a:t>
            </a:r>
          </a:p>
        </p:txBody>
      </p:sp>
      <p:cxnSp>
        <p:nvCxnSpPr>
          <p:cNvPr id="5" name="Connector 4"/>
          <p:cNvCxnSpPr/>
          <p:nvPr/>
        </p:nvCxnSpPr>
        <p:spPr>
          <a:xfrm>
            <a:off x="1883664" y="905256"/>
            <a:ext cx="0" cy="164592"/>
          </a:xfrm>
          <a:prstGeom prst="line">
            <a:avLst/>
          </a:prstGeom>
          <a:ln w="9525">
            <a:solidFill>
              <a:srgbClr val="4084F4"/>
            </a:solidFill>
          </a:ln>
        </p:spPr>
      </p:cxnSp>
      <p:sp>
        <p:nvSpPr>
          <p:cNvPr id="6" name="TextBox 5"/>
          <p:cNvSpPr txBox="1"/>
          <p:nvPr/>
        </p:nvSpPr>
        <p:spPr>
          <a:xfrm>
            <a:off x="1883664"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서비스 구축</a:t>
            </a:r>
          </a:p>
        </p:txBody>
      </p:sp>
      <p:cxnSp>
        <p:nvCxnSpPr>
          <p:cNvPr id="7" name="Connector 6"/>
          <p:cNvCxnSpPr/>
          <p:nvPr/>
        </p:nvCxnSpPr>
        <p:spPr>
          <a:xfrm>
            <a:off x="3108960" y="905256"/>
            <a:ext cx="0" cy="164592"/>
          </a:xfrm>
          <a:prstGeom prst="line">
            <a:avLst/>
          </a:prstGeom>
          <a:ln w="9525">
            <a:solidFill>
              <a:srgbClr val="4084F4"/>
            </a:solidFill>
          </a:ln>
        </p:spPr>
      </p:cxnSp>
      <p:sp>
        <p:nvSpPr>
          <p:cNvPr id="8" name="TextBox 7"/>
          <p:cNvSpPr txBox="1"/>
          <p:nvPr/>
        </p:nvSpPr>
        <p:spPr>
          <a:xfrm>
            <a:off x="3108960"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보안·운영</a:t>
            </a:r>
          </a:p>
        </p:txBody>
      </p:sp>
      <p:cxnSp>
        <p:nvCxnSpPr>
          <p:cNvPr id="9" name="Connector 8"/>
          <p:cNvCxnSpPr/>
          <p:nvPr/>
        </p:nvCxnSpPr>
        <p:spPr>
          <a:xfrm>
            <a:off x="4334256" y="905256"/>
            <a:ext cx="0" cy="164592"/>
          </a:xfrm>
          <a:prstGeom prst="line">
            <a:avLst/>
          </a:prstGeom>
          <a:ln w="9525">
            <a:solidFill>
              <a:srgbClr val="4084F4"/>
            </a:solidFill>
          </a:ln>
        </p:spPr>
      </p:cxnSp>
      <p:sp>
        <p:nvSpPr>
          <p:cNvPr id="10" name="TextBox 9"/>
          <p:cNvSpPr txBox="1"/>
          <p:nvPr/>
        </p:nvSpPr>
        <p:spPr>
          <a:xfrm>
            <a:off x="4334256"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검증·시연</a:t>
            </a:r>
          </a:p>
        </p:txBody>
      </p:sp>
      <p:cxnSp>
        <p:nvCxnSpPr>
          <p:cNvPr id="11" name="Connector 10"/>
          <p:cNvCxnSpPr/>
          <p:nvPr/>
        </p:nvCxnSpPr>
        <p:spPr>
          <a:xfrm>
            <a:off x="5559552" y="905256"/>
            <a:ext cx="0" cy="164592"/>
          </a:xfrm>
          <a:prstGeom prst="line">
            <a:avLst/>
          </a:prstGeom>
          <a:ln w="9525">
            <a:solidFill>
              <a:srgbClr val="4084F4"/>
            </a:solidFill>
          </a:ln>
        </p:spPr>
      </p:cxnSp>
      <p:sp>
        <p:nvSpPr>
          <p:cNvPr id="12" name="TextBox 11"/>
          <p:cNvSpPr txBox="1"/>
          <p:nvPr/>
        </p:nvSpPr>
        <p:spPr>
          <a:xfrm>
            <a:off x="5559552" y="859536"/>
            <a:ext cx="1225296" cy="265176"/>
          </a:xfrm>
          <a:prstGeom prst="rect">
            <a:avLst/>
          </a:prstGeom>
          <a:noFill/>
        </p:spPr>
        <p:txBody>
          <a:bodyPr wrap="square" lIns="18288" tIns="0" rIns="18288" bIns="0" anchor="ctr">
            <a:noAutofit/>
          </a:bodyPr>
          <a:lstStyle/>
          <a:p>
            <a:pPr algn="ctr">
              <a:spcBef>
                <a:spcPts val="0"/>
              </a:spcBef>
              <a:spcAft>
                <a:spcPts val="0"/>
              </a:spcAft>
              <a:buNone/>
            </a:pPr>
            <a:r>
              <a:rPr sz="1000" b="1" lang="ko-KR">
                <a:solidFill>
                  <a:srgbClr val="474A5D"/>
                </a:solidFill>
                <a:latin typeface="Calibri"/>
                <a:ea typeface="Noto Sans KR"/>
                <a:cs typeface="Calibri"/>
              </a:rPr>
              <a:t>계획·회고</a:t>
            </a:r>
          </a:p>
        </p:txBody>
      </p:sp>
      <p:cxnSp>
        <p:nvCxnSpPr>
          <p:cNvPr id="13" name="Connector 12"/>
          <p:cNvCxnSpPr/>
          <p:nvPr/>
        </p:nvCxnSpPr>
        <p:spPr>
          <a:xfrm>
            <a:off x="6784848" y="905256"/>
            <a:ext cx="0" cy="164592"/>
          </a:xfrm>
          <a:prstGeom prst="line">
            <a:avLst/>
          </a:prstGeom>
          <a:ln w="9525">
            <a:solidFill>
              <a:srgbClr val="4084F4"/>
            </a:solidFill>
          </a:ln>
        </p:spPr>
      </p:cxnSp>
      <p:sp>
        <p:nvSpPr>
          <p:cNvPr id="14" name="nav-active"/>
          <p:cNvSpPr/>
          <p:nvPr/>
        </p:nvSpPr>
        <p:spPr>
          <a:xfrm>
            <a:off x="6935724" y="873252"/>
            <a:ext cx="923544" cy="237744"/>
          </a:xfrm>
          <a:prstGeom prst="roundRect">
            <a:avLst>
              <a:gd name="adj" fmla="val 50000"/>
            </a:avLst>
          </a:prstGeom>
          <a:solidFill>
            <a:srgbClr val="4084F4"/>
          </a:solidFill>
          <a:ln>
            <a:noFill/>
          </a:ln>
        </p:spPr>
        <p:txBody>
          <a:bodyPr rtlCol="0" anchor="ctr" wrap="square" lIns="18288" tIns="0" rIns="18288" bIns="0"/>
          <a:lstStyle/>
          <a:p>
            <a:pPr algn="ctr">
              <a:spcBef>
                <a:spcPts val="0"/>
              </a:spcBef>
              <a:spcAft>
                <a:spcPts val="0"/>
              </a:spcAft>
              <a:buNone/>
            </a:pPr>
            <a:r>
              <a:rPr sz="1100" b="1" lang="ko-KR">
                <a:solidFill>
                  <a:srgbClr val="FFFFFF"/>
                </a:solidFill>
                <a:latin typeface="Calibri"/>
                <a:ea typeface="Noto Sans KR"/>
                <a:cs typeface="Calibri"/>
              </a:rPr>
              <a:t>Q&amp;A</a:t>
            </a:r>
          </a:p>
        </p:txBody>
      </p:sp>
      <p:sp>
        <p:nvSpPr>
          <p:cNvPr id="15" name="headline"/>
          <p:cNvSpPr txBox="1"/>
          <p:nvPr/>
        </p:nvSpPr>
        <p:spPr>
          <a:xfrm>
            <a:off x="548640" y="1280160"/>
            <a:ext cx="8092440" cy="512064"/>
          </a:xfrm>
          <a:prstGeom prst="rect">
            <a:avLst/>
          </a:prstGeom>
          <a:noFill/>
        </p:spPr>
        <p:txBody>
          <a:bodyPr wrap="square" lIns="54864" tIns="18288" rIns="54864" bIns="18288" anchor="ctr">
            <a:noAutofit/>
          </a:bodyPr>
          <a:lstStyle/>
          <a:p>
            <a:pPr algn="l">
              <a:spcBef>
                <a:spcPts val="0"/>
              </a:spcBef>
              <a:spcAft>
                <a:spcPts val="0"/>
              </a:spcAft>
              <a:buNone/>
            </a:pPr>
            <a:r>
              <a:rPr sz="1800" b="1" lang="ko-KR">
                <a:solidFill>
                  <a:srgbClr val="202124"/>
                </a:solidFill>
                <a:latin typeface="Calibri"/>
                <a:ea typeface="Noto Sans KR"/>
                <a:cs typeface="Calibri"/>
              </a:rPr>
              <a:t>구축 중 겪은 주요 이슈와 해결</a:t>
            </a:r>
          </a:p>
        </p:txBody>
      </p:sp>
      <p:graphicFrame>
        <p:nvGraphicFramePr>
          <p:cNvPr id="16" name="Table 15"/>
          <p:cNvGraphicFramePr>
            <a:graphicFrameLocks noGrp="1"/>
          </p:cNvGraphicFramePr>
          <p:nvPr/>
        </p:nvGraphicFramePr>
        <p:xfrm>
          <a:off x="603504" y="2048256"/>
          <a:ext cx="7936992" cy="3712464"/>
        </p:xfrm>
        <a:graphic>
          <a:graphicData uri="http://schemas.openxmlformats.org/drawingml/2006/table">
            <a:tbl>
              <a:tblPr firstRow="0" bandRow="0">
                <a:tableStyleId>{2D5ABB26-0587-4C30-8999-92F81FD0307C}</a:tableStyleId>
              </a:tblPr>
              <a:tblGrid>
                <a:gridCol w="2148840"/>
                <a:gridCol w="2971800"/>
                <a:gridCol w="2816352"/>
              </a:tblGrid>
              <a:tr h="310896">
                <a:tc>
                  <a:txBody>
                    <a:bodyPr wrap="square"/>
                    <a:lstStyle/>
                    <a:p>
                      <a:pPr algn="l">
                        <a:spcBef>
                          <a:spcPts val="0"/>
                        </a:spcBef>
                        <a:spcAft>
                          <a:spcPts val="0"/>
                        </a:spcAft>
                        <a:buNone/>
                      </a:pPr>
                      <a:r>
                        <a:rPr sz="1150" b="1" lang="ko-KR">
                          <a:solidFill>
                            <a:srgbClr val="202124"/>
                          </a:solidFill>
                          <a:latin typeface="Calibri"/>
                          <a:ea typeface="Noto Sans KR"/>
                          <a:cs typeface="Calibri"/>
                        </a:rPr>
                        <a:t>이슈</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150" b="1" lang="ko-KR">
                          <a:solidFill>
                            <a:srgbClr val="202124"/>
                          </a:solidFill>
                          <a:latin typeface="Calibri"/>
                          <a:ea typeface="Noto Sans KR"/>
                          <a:cs typeface="Calibri"/>
                        </a:rPr>
                        <a:t>원인</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c>
                  <a:txBody>
                    <a:bodyPr wrap="square"/>
                    <a:lstStyle/>
                    <a:p>
                      <a:pPr algn="l">
                        <a:spcBef>
                          <a:spcPts val="0"/>
                        </a:spcBef>
                        <a:spcAft>
                          <a:spcPts val="0"/>
                        </a:spcAft>
                        <a:buNone/>
                      </a:pPr>
                      <a:r>
                        <a:rPr sz="1150" b="1" lang="ko-KR">
                          <a:solidFill>
                            <a:srgbClr val="202124"/>
                          </a:solidFill>
                          <a:latin typeface="Calibri"/>
                          <a:ea typeface="Noto Sans KR"/>
                          <a:cs typeface="Calibri"/>
                        </a:rPr>
                        <a:t>해결</a:t>
                      </a:r>
                    </a:p>
                  </a:txBody>
                  <a:tcPr marL="64008" marT="27432" marR="64008" marB="27432" anchor="ctr">
                    <a:lnL w="0">
                      <a:noFill/>
                    </a:lnL>
                    <a:lnR w="0">
                      <a:noFill/>
                    </a:lnR>
                    <a:lnT w="0">
                      <a:noFill/>
                    </a:lnT>
                    <a:lnB w="15875" cap="flat" cmpd="sng" algn="ctr">
                      <a:solidFill>
                        <a:srgbClr val="5F6368"/>
                      </a:solidFill>
                      <a:prstDash val="solid"/>
                      <a:round/>
                      <a:headEnd type="none" w="med" len="med"/>
                      <a:tailEnd type="none" w="med" len="med"/>
                    </a:lnB>
                    <a:noFill/>
                  </a:tcPr>
                </a:tc>
              </a:tr>
              <a:tr h="566928">
                <a:tc>
                  <a:txBody>
                    <a:bodyPr wrap="square"/>
                    <a:lstStyle/>
                    <a:p>
                      <a:pPr algn="l">
                        <a:spcBef>
                          <a:spcPts val="0"/>
                        </a:spcBef>
                        <a:spcAft>
                          <a:spcPts val="0"/>
                        </a:spcAft>
                        <a:buNone/>
                      </a:pPr>
                      <a:r>
                        <a:rPr sz="1100" b="1" lang="ko-KR">
                          <a:solidFill>
                            <a:srgbClr val="3C4043"/>
                          </a:solidFill>
                          <a:latin typeface="Calibri"/>
                          <a:ea typeface="Noto Sans KR"/>
                          <a:cs typeface="Calibri"/>
                        </a:rPr>
                        <a:t>WAS 헬스체크 전부 비정상</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헬스체크 포트를 80으로 설정 (WAS는 8080)</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8080으로 수정 → 2대 HEALTHY</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566928">
                <a:tc>
                  <a:txBody>
                    <a:bodyPr wrap="square"/>
                    <a:lstStyle/>
                    <a:p>
                      <a:pPr algn="l">
                        <a:spcBef>
                          <a:spcPts val="0"/>
                        </a:spcBef>
                        <a:spcAft>
                          <a:spcPts val="0"/>
                        </a:spcAft>
                        <a:buNone/>
                      </a:pPr>
                      <a:r>
                        <a:rPr sz="1100" b="1" lang="ko-KR">
                          <a:solidFill>
                            <a:srgbClr val="3C4043"/>
                          </a:solidFill>
                          <a:latin typeface="Calibri"/>
                          <a:ea typeface="Noto Sans KR"/>
                          <a:cs typeface="Calibri"/>
                        </a:rPr>
                        <a:t>Secret Manager 403</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VM 서비스 계정에 Secret Accessor 권한 없음</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권한 있는 npc-sa-was로 교체 (scope cloud-platform)</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566928">
                <a:tc>
                  <a:txBody>
                    <a:bodyPr wrap="square"/>
                    <a:lstStyle/>
                    <a:p>
                      <a:pPr algn="l">
                        <a:spcBef>
                          <a:spcPts val="0"/>
                        </a:spcBef>
                        <a:spcAft>
                          <a:spcPts val="0"/>
                        </a:spcAft>
                        <a:buNone/>
                      </a:pPr>
                      <a:r>
                        <a:rPr sz="1100" b="1" lang="ko-KR">
                          <a:solidFill>
                            <a:srgbClr val="3C4043"/>
                          </a:solidFill>
                          <a:latin typeface="Calibri"/>
                          <a:ea typeface="Noto Sans KR"/>
                          <a:cs typeface="Calibri"/>
                        </a:rPr>
                        <a:t>Tomcat 로그 미수집</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Ops Agent 설정 파일이 비어 기본 수집만 동작</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tomcat receiver 추가 → 골든 이미지 v3에 반영</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566928">
                <a:tc>
                  <a:txBody>
                    <a:bodyPr wrap="square"/>
                    <a:lstStyle/>
                    <a:p>
                      <a:pPr algn="l">
                        <a:spcBef>
                          <a:spcPts val="0"/>
                        </a:spcBef>
                        <a:spcAft>
                          <a:spcPts val="0"/>
                        </a:spcAft>
                        <a:buNone/>
                      </a:pPr>
                      <a:r>
                        <a:rPr sz="1100" b="1" lang="ko-KR">
                          <a:solidFill>
                            <a:srgbClr val="3C4043"/>
                          </a:solidFill>
                          <a:latin typeface="Calibri"/>
                          <a:ea typeface="Noto Sans KR"/>
                          <a:cs typeface="Calibri"/>
                        </a:rPr>
                        <a:t>접근 로그에 LB IP만 기록</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AccessLogValve 요청 속성 옵션 누락</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RemoteIpValve + requestAttributesEnabled로 실제 IP 기록</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566928">
                <a:tc>
                  <a:txBody>
                    <a:bodyPr wrap="square"/>
                    <a:lstStyle/>
                    <a:p>
                      <a:pPr algn="l">
                        <a:spcBef>
                          <a:spcPts val="0"/>
                        </a:spcBef>
                        <a:spcAft>
                          <a:spcPts val="0"/>
                        </a:spcAft>
                        <a:buNone/>
                      </a:pPr>
                      <a:r>
                        <a:rPr sz="1100" b="1" lang="ko-KR">
                          <a:solidFill>
                            <a:srgbClr val="3C4043"/>
                          </a:solidFill>
                          <a:latin typeface="Calibri"/>
                          <a:ea typeface="Noto Sans KR"/>
                          <a:cs typeface="Calibri"/>
                        </a:rPr>
                        <a:t>롤링 업데이트 maxSurge=1 거부</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리전 MIG는 0 또는 존 수(3) 이상만 허용</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--max-surge=3 --max-unavailable=0으로 실행</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r h="566928">
                <a:tc>
                  <a:txBody>
                    <a:bodyPr wrap="square"/>
                    <a:lstStyle/>
                    <a:p>
                      <a:pPr algn="l">
                        <a:spcBef>
                          <a:spcPts val="0"/>
                        </a:spcBef>
                        <a:spcAft>
                          <a:spcPts val="0"/>
                        </a:spcAft>
                        <a:buNone/>
                      </a:pPr>
                      <a:r>
                        <a:rPr sz="1100" b="1" lang="ko-KR">
                          <a:solidFill>
                            <a:srgbClr val="3C4043"/>
                          </a:solidFill>
                          <a:latin typeface="Calibri"/>
                          <a:ea typeface="Noto Sans KR"/>
                          <a:cs typeface="Calibri"/>
                        </a:rPr>
                        <a:t>시작 스크립트 미실행</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VM 생성 시 startup-script 메타데이터 누락</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c>
                  <a:txBody>
                    <a:bodyPr wrap="square"/>
                    <a:lstStyle/>
                    <a:p>
                      <a:pPr algn="l">
                        <a:spcBef>
                          <a:spcPts val="0"/>
                        </a:spcBef>
                        <a:spcAft>
                          <a:spcPts val="0"/>
                        </a:spcAft>
                        <a:buNone/>
                      </a:pPr>
                      <a:r>
                        <a:rPr sz="1100" b="0" lang="ko-KR">
                          <a:solidFill>
                            <a:srgbClr val="3C4043"/>
                          </a:solidFill>
                          <a:latin typeface="Calibri"/>
                          <a:ea typeface="Noto Sans KR"/>
                          <a:cs typeface="Calibri"/>
                        </a:rPr>
                        <a:t>startup-script-url로 GCS 경로 등록</a:t>
                      </a:r>
                    </a:p>
                  </a:txBody>
                  <a:tcPr marL="64008" marT="27432" marR="64008" marB="27432" anchor="ctr">
                    <a:lnL w="0">
                      <a:noFill/>
                    </a:lnL>
                    <a:lnR w="0">
                      <a:noFill/>
                    </a:lnR>
                    <a:lnT w="0">
                      <a:noFill/>
                    </a:lnT>
                    <a:lnB w="9525" cap="flat" cmpd="sng" algn="ctr">
                      <a:solidFill>
                        <a:srgbClr val="DADCE0"/>
                      </a:solidFill>
                      <a:prstDash val="solid"/>
                      <a:round/>
                      <a:headEnd type="none" w="med" len="med"/>
                      <a:tailEnd type="none" w="med" len="med"/>
                    </a:lnB>
                    <a:noFill/>
                  </a:tcPr>
                </a:tc>
              </a:tr>
            </a:tbl>
          </a:graphicData>
        </a:graphic>
      </p:graphicFrame>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테마">
  <a:themeElements>
    <a:clrScheme name="Office 테마">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2018-08-29T18:01:22Z</dcterms:created>
  <dc:creator>Daeun Kim</dc:creator>
</cp:coreProperties>
</file>